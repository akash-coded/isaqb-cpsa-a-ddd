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4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19.png"/><Relationship Id="rId10" Type="http://schemas.openxmlformats.org/officeDocument/2006/relationships/image" Target="../media/image20.png"/><Relationship Id="rId11" Type="http://schemas.openxmlformats.org/officeDocument/2006/relationships/image" Target="../media/image2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9.png"/><Relationship Id="rId7" Type="http://schemas.openxmlformats.org/officeDocument/2006/relationships/image" Target="../media/image26.png"/><Relationship Id="rId8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Relationship Id="rId7" Type="http://schemas.openxmlformats.org/officeDocument/2006/relationships/image" Target="../media/image32.png"/><Relationship Id="rId8" Type="http://schemas.openxmlformats.org/officeDocument/2006/relationships/image" Target="../media/image33.png"/><Relationship Id="rId9" Type="http://schemas.openxmlformats.org/officeDocument/2006/relationships/image" Target="../media/image34.png"/><Relationship Id="rId10" Type="http://schemas.openxmlformats.org/officeDocument/2006/relationships/image" Target="../media/image35.png"/><Relationship Id="rId11" Type="http://schemas.openxmlformats.org/officeDocument/2006/relationships/image" Target="../media/image36.png"/><Relationship Id="rId12" Type="http://schemas.openxmlformats.org/officeDocument/2006/relationships/image" Target="../media/image37.png"/><Relationship Id="rId13" Type="http://schemas.openxmlformats.org/officeDocument/2006/relationships/image" Target="../media/image38.png"/><Relationship Id="rId14" Type="http://schemas.openxmlformats.org/officeDocument/2006/relationships/image" Target="../media/image39.png"/><Relationship Id="rId15" Type="http://schemas.openxmlformats.org/officeDocument/2006/relationships/image" Target="../media/image4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Relationship Id="rId6" Type="http://schemas.openxmlformats.org/officeDocument/2006/relationships/image" Target="../media/image45.png"/><Relationship Id="rId7" Type="http://schemas.openxmlformats.org/officeDocument/2006/relationships/image" Target="../media/image46.png"/><Relationship Id="rId8" Type="http://schemas.openxmlformats.org/officeDocument/2006/relationships/image" Target="../media/image47.png"/><Relationship Id="rId9" Type="http://schemas.openxmlformats.org/officeDocument/2006/relationships/image" Target="../media/image39.png"/><Relationship Id="rId10" Type="http://schemas.openxmlformats.org/officeDocument/2006/relationships/image" Target="../media/image29.png"/><Relationship Id="rId11" Type="http://schemas.openxmlformats.org/officeDocument/2006/relationships/image" Target="../media/image48.png"/><Relationship Id="rId12" Type="http://schemas.openxmlformats.org/officeDocument/2006/relationships/image" Target="../media/image49.png"/><Relationship Id="rId13" Type="http://schemas.openxmlformats.org/officeDocument/2006/relationships/image" Target="../media/image50.png"/><Relationship Id="rId14" Type="http://schemas.openxmlformats.org/officeDocument/2006/relationships/image" Target="../media/image51.png"/><Relationship Id="rId15" Type="http://schemas.openxmlformats.org/officeDocument/2006/relationships/image" Target="../media/image5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Relationship Id="rId3" Type="http://schemas.openxmlformats.org/officeDocument/2006/relationships/image" Target="../media/image54.png"/><Relationship Id="rId4" Type="http://schemas.openxmlformats.org/officeDocument/2006/relationships/image" Target="../media/image55.png"/><Relationship Id="rId5" Type="http://schemas.openxmlformats.org/officeDocument/2006/relationships/image" Target="../media/image56.png"/><Relationship Id="rId6" Type="http://schemas.openxmlformats.org/officeDocument/2006/relationships/image" Target="../media/image57.png"/><Relationship Id="rId7" Type="http://schemas.openxmlformats.org/officeDocument/2006/relationships/image" Target="../media/image46.png"/><Relationship Id="rId8" Type="http://schemas.openxmlformats.org/officeDocument/2006/relationships/image" Target="../media/image58.png"/><Relationship Id="rId9" Type="http://schemas.openxmlformats.org/officeDocument/2006/relationships/image" Target="../media/image48.png"/><Relationship Id="rId10" Type="http://schemas.openxmlformats.org/officeDocument/2006/relationships/image" Target="../media/image59.png"/><Relationship Id="rId11" Type="http://schemas.openxmlformats.org/officeDocument/2006/relationships/image" Target="../media/image39.png"/><Relationship Id="rId12" Type="http://schemas.openxmlformats.org/officeDocument/2006/relationships/image" Target="../media/image29.png"/><Relationship Id="rId13" Type="http://schemas.openxmlformats.org/officeDocument/2006/relationships/image" Target="../media/image60.png"/><Relationship Id="rId14" Type="http://schemas.openxmlformats.org/officeDocument/2006/relationships/image" Target="../media/image49.png"/><Relationship Id="rId15" Type="http://schemas.openxmlformats.org/officeDocument/2006/relationships/image" Target="../media/image52.png"/><Relationship Id="rId16" Type="http://schemas.openxmlformats.org/officeDocument/2006/relationships/image" Target="../media/image50.png"/><Relationship Id="rId17" Type="http://schemas.openxmlformats.org/officeDocument/2006/relationships/image" Target="../media/image61.png"/><Relationship Id="rId18" Type="http://schemas.openxmlformats.org/officeDocument/2006/relationships/image" Target="../media/image6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png"/><Relationship Id="rId3" Type="http://schemas.openxmlformats.org/officeDocument/2006/relationships/image" Target="../media/image53.png"/><Relationship Id="rId4" Type="http://schemas.openxmlformats.org/officeDocument/2006/relationships/image" Target="../media/image33.png"/><Relationship Id="rId5" Type="http://schemas.openxmlformats.org/officeDocument/2006/relationships/image" Target="../media/image64.png"/><Relationship Id="rId6" Type="http://schemas.openxmlformats.org/officeDocument/2006/relationships/image" Target="../media/image65.png"/><Relationship Id="rId7" Type="http://schemas.openxmlformats.org/officeDocument/2006/relationships/image" Target="../media/image66.png"/><Relationship Id="rId8" Type="http://schemas.openxmlformats.org/officeDocument/2006/relationships/image" Target="../media/image67.png"/><Relationship Id="rId9" Type="http://schemas.openxmlformats.org/officeDocument/2006/relationships/image" Target="../media/image68.png"/><Relationship Id="rId10" Type="http://schemas.openxmlformats.org/officeDocument/2006/relationships/image" Target="../media/image6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png"/><Relationship Id="rId3" Type="http://schemas.openxmlformats.org/officeDocument/2006/relationships/image" Target="../media/image44.png"/><Relationship Id="rId4" Type="http://schemas.openxmlformats.org/officeDocument/2006/relationships/image" Target="../media/image71.png"/><Relationship Id="rId5" Type="http://schemas.openxmlformats.org/officeDocument/2006/relationships/image" Target="../media/image7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3.png"/><Relationship Id="rId3" Type="http://schemas.openxmlformats.org/officeDocument/2006/relationships/image" Target="../media/image74.png"/><Relationship Id="rId4" Type="http://schemas.openxmlformats.org/officeDocument/2006/relationships/image" Target="../media/image75.png"/><Relationship Id="rId5" Type="http://schemas.openxmlformats.org/officeDocument/2006/relationships/image" Target="../media/image76.png"/><Relationship Id="rId6" Type="http://schemas.openxmlformats.org/officeDocument/2006/relationships/image" Target="../media/image77.png"/><Relationship Id="rId7" Type="http://schemas.openxmlformats.org/officeDocument/2006/relationships/image" Target="../media/image78.png"/><Relationship Id="rId8" Type="http://schemas.openxmlformats.org/officeDocument/2006/relationships/image" Target="../media/image79.png"/><Relationship Id="rId9" Type="http://schemas.openxmlformats.org/officeDocument/2006/relationships/image" Target="../media/image80.png"/><Relationship Id="rId10" Type="http://schemas.openxmlformats.org/officeDocument/2006/relationships/image" Target="../media/image31.png"/><Relationship Id="rId11" Type="http://schemas.openxmlformats.org/officeDocument/2006/relationships/image" Target="../media/image18.png"/><Relationship Id="rId12" Type="http://schemas.openxmlformats.org/officeDocument/2006/relationships/image" Target="../media/image81.png"/><Relationship Id="rId13" Type="http://schemas.openxmlformats.org/officeDocument/2006/relationships/image" Target="../media/image82.png"/><Relationship Id="rId14" Type="http://schemas.openxmlformats.org/officeDocument/2006/relationships/image" Target="../media/image83.png"/><Relationship Id="rId15" Type="http://schemas.openxmlformats.org/officeDocument/2006/relationships/image" Target="../media/image84.png"/><Relationship Id="rId16" Type="http://schemas.openxmlformats.org/officeDocument/2006/relationships/image" Target="../media/image85.png"/><Relationship Id="rId17" Type="http://schemas.openxmlformats.org/officeDocument/2006/relationships/image" Target="../media/image38.png"/><Relationship Id="rId18" Type="http://schemas.openxmlformats.org/officeDocument/2006/relationships/image" Target="../media/image49.png"/><Relationship Id="rId19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6.png"/><Relationship Id="rId3" Type="http://schemas.openxmlformats.org/officeDocument/2006/relationships/image" Target="../media/image2.png"/><Relationship Id="rId4" Type="http://schemas.openxmlformats.org/officeDocument/2006/relationships/image" Target="../media/image87.png"/><Relationship Id="rId5" Type="http://schemas.openxmlformats.org/officeDocument/2006/relationships/image" Target="../media/image88.png"/><Relationship Id="rId6" Type="http://schemas.openxmlformats.org/officeDocument/2006/relationships/image" Target="../media/image89.png"/><Relationship Id="rId7" Type="http://schemas.openxmlformats.org/officeDocument/2006/relationships/image" Target="../media/image44.png"/><Relationship Id="rId8" Type="http://schemas.openxmlformats.org/officeDocument/2006/relationships/image" Target="../media/image18.png"/><Relationship Id="rId9" Type="http://schemas.openxmlformats.org/officeDocument/2006/relationships/image" Target="../media/image90.png"/><Relationship Id="rId10" Type="http://schemas.openxmlformats.org/officeDocument/2006/relationships/image" Target="../media/image82.png"/><Relationship Id="rId11" Type="http://schemas.openxmlformats.org/officeDocument/2006/relationships/image" Target="../media/image83.png"/><Relationship Id="rId12" Type="http://schemas.openxmlformats.org/officeDocument/2006/relationships/image" Target="../media/image84.png"/><Relationship Id="rId13" Type="http://schemas.openxmlformats.org/officeDocument/2006/relationships/image" Target="../media/image26.png"/><Relationship Id="rId14" Type="http://schemas.openxmlformats.org/officeDocument/2006/relationships/image" Target="../media/image91.png"/><Relationship Id="rId15" Type="http://schemas.openxmlformats.org/officeDocument/2006/relationships/image" Target="../media/image67.png"/><Relationship Id="rId16" Type="http://schemas.openxmlformats.org/officeDocument/2006/relationships/image" Target="../media/image9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8.png"/><Relationship Id="rId3" Type="http://schemas.openxmlformats.org/officeDocument/2006/relationships/image" Target="../media/image93.png"/><Relationship Id="rId4" Type="http://schemas.openxmlformats.org/officeDocument/2006/relationships/image" Target="../media/image94.png"/><Relationship Id="rId5" Type="http://schemas.openxmlformats.org/officeDocument/2006/relationships/image" Target="../media/image95.png"/><Relationship Id="rId6" Type="http://schemas.openxmlformats.org/officeDocument/2006/relationships/image" Target="../media/image96.png"/><Relationship Id="rId7" Type="http://schemas.openxmlformats.org/officeDocument/2006/relationships/image" Target="../media/image97.png"/><Relationship Id="rId8" Type="http://schemas.openxmlformats.org/officeDocument/2006/relationships/image" Target="../media/image98.png"/><Relationship Id="rId9" Type="http://schemas.openxmlformats.org/officeDocument/2006/relationships/image" Target="../media/image99.png"/><Relationship Id="rId10" Type="http://schemas.openxmlformats.org/officeDocument/2006/relationships/image" Target="../media/image100.png"/><Relationship Id="rId11" Type="http://schemas.openxmlformats.org/officeDocument/2006/relationships/image" Target="../media/image101.png"/><Relationship Id="rId12" Type="http://schemas.openxmlformats.org/officeDocument/2006/relationships/image" Target="../media/image102.png"/><Relationship Id="rId13" Type="http://schemas.openxmlformats.org/officeDocument/2006/relationships/image" Target="../media/image103.png"/><Relationship Id="rId14" Type="http://schemas.openxmlformats.org/officeDocument/2006/relationships/image" Target="../media/image104.png"/><Relationship Id="rId15" Type="http://schemas.openxmlformats.org/officeDocument/2006/relationships/image" Target="../media/image10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6.png"/><Relationship Id="rId3" Type="http://schemas.openxmlformats.org/officeDocument/2006/relationships/image" Target="../media/image107.png"/><Relationship Id="rId4" Type="http://schemas.openxmlformats.org/officeDocument/2006/relationships/image" Target="../media/image108.png"/><Relationship Id="rId5" Type="http://schemas.openxmlformats.org/officeDocument/2006/relationships/image" Target="../media/image109.png"/><Relationship Id="rId6" Type="http://schemas.openxmlformats.org/officeDocument/2006/relationships/image" Target="../media/image1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1.png"/><Relationship Id="rId3" Type="http://schemas.openxmlformats.org/officeDocument/2006/relationships/image" Target="../media/image112.png"/><Relationship Id="rId4" Type="http://schemas.openxmlformats.org/officeDocument/2006/relationships/image" Target="../media/image113.png"/><Relationship Id="rId5" Type="http://schemas.openxmlformats.org/officeDocument/2006/relationships/image" Target="../media/image54.png"/><Relationship Id="rId6" Type="http://schemas.openxmlformats.org/officeDocument/2006/relationships/image" Target="../media/image114.png"/><Relationship Id="rId7" Type="http://schemas.openxmlformats.org/officeDocument/2006/relationships/image" Target="../media/image115.png"/><Relationship Id="rId8" Type="http://schemas.openxmlformats.org/officeDocument/2006/relationships/image" Target="../media/image116.png"/><Relationship Id="rId9" Type="http://schemas.openxmlformats.org/officeDocument/2006/relationships/image" Target="../media/image11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18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9.png"/><Relationship Id="rId3" Type="http://schemas.openxmlformats.org/officeDocument/2006/relationships/image" Target="../media/image118.png"/><Relationship Id="rId4" Type="http://schemas.openxmlformats.org/officeDocument/2006/relationships/image" Target="../media/image120.png"/><Relationship Id="rId5" Type="http://schemas.openxmlformats.org/officeDocument/2006/relationships/image" Target="../media/image19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12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3.png"/><Relationship Id="rId4" Type="http://schemas.openxmlformats.org/officeDocument/2006/relationships/image" Target="../media/image24.png"/><Relationship Id="rId5" Type="http://schemas.openxmlformats.org/officeDocument/2006/relationships/image" Target="../media/image85.png"/><Relationship Id="rId6" Type="http://schemas.openxmlformats.org/officeDocument/2006/relationships/image" Target="../media/image9.png"/><Relationship Id="rId7" Type="http://schemas.openxmlformats.org/officeDocument/2006/relationships/image" Target="../media/image26.png"/><Relationship Id="rId8" Type="http://schemas.openxmlformats.org/officeDocument/2006/relationships/image" Target="../media/image1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2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27.png"/><Relationship Id="rId7" Type="http://schemas.openxmlformats.org/officeDocument/2006/relationships/image" Target="../media/image33.png"/><Relationship Id="rId8" Type="http://schemas.openxmlformats.org/officeDocument/2006/relationships/image" Target="../media/image3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3.png"/><Relationship Id="rId3" Type="http://schemas.openxmlformats.org/officeDocument/2006/relationships/image" Target="../media/image124.png"/><Relationship Id="rId4" Type="http://schemas.openxmlformats.org/officeDocument/2006/relationships/image" Target="../media/image125.png"/><Relationship Id="rId5" Type="http://schemas.openxmlformats.org/officeDocument/2006/relationships/image" Target="../media/image78.png"/><Relationship Id="rId6" Type="http://schemas.openxmlformats.org/officeDocument/2006/relationships/image" Target="../media/image33.png"/><Relationship Id="rId7" Type="http://schemas.openxmlformats.org/officeDocument/2006/relationships/image" Target="../media/image126.png"/><Relationship Id="rId8" Type="http://schemas.openxmlformats.org/officeDocument/2006/relationships/image" Target="../media/image22.png"/><Relationship Id="rId9" Type="http://schemas.openxmlformats.org/officeDocument/2006/relationships/image" Target="../media/image127.png"/><Relationship Id="rId10" Type="http://schemas.openxmlformats.org/officeDocument/2006/relationships/image" Target="../media/image128.png"/><Relationship Id="rId11" Type="http://schemas.openxmlformats.org/officeDocument/2006/relationships/image" Target="../media/image129.png"/><Relationship Id="rId12" Type="http://schemas.openxmlformats.org/officeDocument/2006/relationships/image" Target="../media/image130.png"/><Relationship Id="rId13" Type="http://schemas.openxmlformats.org/officeDocument/2006/relationships/image" Target="../media/image13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2.png"/><Relationship Id="rId3" Type="http://schemas.openxmlformats.org/officeDocument/2006/relationships/image" Target="../media/image133.png"/><Relationship Id="rId4" Type="http://schemas.openxmlformats.org/officeDocument/2006/relationships/image" Target="../media/image54.png"/><Relationship Id="rId5" Type="http://schemas.openxmlformats.org/officeDocument/2006/relationships/image" Target="../media/image46.png"/><Relationship Id="rId6" Type="http://schemas.openxmlformats.org/officeDocument/2006/relationships/image" Target="../media/image78.png"/><Relationship Id="rId7" Type="http://schemas.openxmlformats.org/officeDocument/2006/relationships/image" Target="../media/image134.png"/><Relationship Id="rId8" Type="http://schemas.openxmlformats.org/officeDocument/2006/relationships/image" Target="../media/image50.png"/><Relationship Id="rId9" Type="http://schemas.openxmlformats.org/officeDocument/2006/relationships/image" Target="../media/image135.png"/><Relationship Id="rId10" Type="http://schemas.openxmlformats.org/officeDocument/2006/relationships/image" Target="../media/image33.png"/><Relationship Id="rId11" Type="http://schemas.openxmlformats.org/officeDocument/2006/relationships/image" Target="../media/image136.png"/><Relationship Id="rId12" Type="http://schemas.openxmlformats.org/officeDocument/2006/relationships/image" Target="../media/image137.png"/><Relationship Id="rId13" Type="http://schemas.openxmlformats.org/officeDocument/2006/relationships/image" Target="../media/image6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8.png"/><Relationship Id="rId3" Type="http://schemas.openxmlformats.org/officeDocument/2006/relationships/image" Target="../media/image24.png"/><Relationship Id="rId4" Type="http://schemas.openxmlformats.org/officeDocument/2006/relationships/image" Target="../media/image139.png"/><Relationship Id="rId5" Type="http://schemas.openxmlformats.org/officeDocument/2006/relationships/image" Target="../media/image140.png"/><Relationship Id="rId6" Type="http://schemas.openxmlformats.org/officeDocument/2006/relationships/image" Target="../media/image10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png"/><Relationship Id="rId3" Type="http://schemas.openxmlformats.org/officeDocument/2006/relationships/image" Target="../media/image141.png"/><Relationship Id="rId4" Type="http://schemas.openxmlformats.org/officeDocument/2006/relationships/image" Target="../media/image91.png"/><Relationship Id="rId5" Type="http://schemas.openxmlformats.org/officeDocument/2006/relationships/image" Target="../media/image142.png"/><Relationship Id="rId6" Type="http://schemas.openxmlformats.org/officeDocument/2006/relationships/image" Target="../media/image71.png"/><Relationship Id="rId7" Type="http://schemas.openxmlformats.org/officeDocument/2006/relationships/image" Target="../media/image87.png"/><Relationship Id="rId8" Type="http://schemas.openxmlformats.org/officeDocument/2006/relationships/image" Target="../media/image143.png"/><Relationship Id="rId9" Type="http://schemas.openxmlformats.org/officeDocument/2006/relationships/image" Target="../media/image144.png"/><Relationship Id="rId10" Type="http://schemas.openxmlformats.org/officeDocument/2006/relationships/image" Target="../media/image72.png"/><Relationship Id="rId11" Type="http://schemas.openxmlformats.org/officeDocument/2006/relationships/image" Target="../media/image145.png"/><Relationship Id="rId12" Type="http://schemas.openxmlformats.org/officeDocument/2006/relationships/image" Target="../media/image146.png"/><Relationship Id="rId13" Type="http://schemas.openxmlformats.org/officeDocument/2006/relationships/image" Target="../media/image89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6.png"/><Relationship Id="rId3" Type="http://schemas.openxmlformats.org/officeDocument/2006/relationships/image" Target="../media/image3.png"/><Relationship Id="rId4" Type="http://schemas.openxmlformats.org/officeDocument/2006/relationships/image" Target="../media/image89.png"/><Relationship Id="rId5" Type="http://schemas.openxmlformats.org/officeDocument/2006/relationships/image" Target="../media/image147.png"/><Relationship Id="rId6" Type="http://schemas.openxmlformats.org/officeDocument/2006/relationships/image" Target="../media/image78.png"/><Relationship Id="rId7" Type="http://schemas.openxmlformats.org/officeDocument/2006/relationships/image" Target="../media/image4.png"/><Relationship Id="rId8" Type="http://schemas.openxmlformats.org/officeDocument/2006/relationships/image" Target="../media/image120.png"/><Relationship Id="rId9" Type="http://schemas.openxmlformats.org/officeDocument/2006/relationships/image" Target="../media/image18.png"/><Relationship Id="rId10" Type="http://schemas.openxmlformats.org/officeDocument/2006/relationships/image" Target="../media/image81.png"/><Relationship Id="rId11" Type="http://schemas.openxmlformats.org/officeDocument/2006/relationships/image" Target="../media/image82.png"/><Relationship Id="rId12" Type="http://schemas.openxmlformats.org/officeDocument/2006/relationships/image" Target="../media/image83.png"/><Relationship Id="rId13" Type="http://schemas.openxmlformats.org/officeDocument/2006/relationships/image" Target="../media/image84.png"/><Relationship Id="rId14" Type="http://schemas.openxmlformats.org/officeDocument/2006/relationships/image" Target="../media/image26.png"/><Relationship Id="rId15" Type="http://schemas.openxmlformats.org/officeDocument/2006/relationships/image" Target="../media/image91.png"/><Relationship Id="rId16" Type="http://schemas.openxmlformats.org/officeDocument/2006/relationships/image" Target="../media/image67.png"/><Relationship Id="rId17" Type="http://schemas.openxmlformats.org/officeDocument/2006/relationships/image" Target="../media/image1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8.png"/><Relationship Id="rId3" Type="http://schemas.openxmlformats.org/officeDocument/2006/relationships/image" Target="../media/image3.png"/><Relationship Id="rId4" Type="http://schemas.openxmlformats.org/officeDocument/2006/relationships/image" Target="../media/image87.png"/><Relationship Id="rId5" Type="http://schemas.openxmlformats.org/officeDocument/2006/relationships/image" Target="../media/image68.png"/><Relationship Id="rId6" Type="http://schemas.openxmlformats.org/officeDocument/2006/relationships/image" Target="../media/image88.png"/><Relationship Id="rId7" Type="http://schemas.openxmlformats.org/officeDocument/2006/relationships/image" Target="../media/image18.png"/><Relationship Id="rId8" Type="http://schemas.openxmlformats.org/officeDocument/2006/relationships/image" Target="../media/image81.png"/><Relationship Id="rId9" Type="http://schemas.openxmlformats.org/officeDocument/2006/relationships/image" Target="../media/image82.png"/><Relationship Id="rId10" Type="http://schemas.openxmlformats.org/officeDocument/2006/relationships/image" Target="../media/image83.png"/><Relationship Id="rId11" Type="http://schemas.openxmlformats.org/officeDocument/2006/relationships/image" Target="../media/image84.png"/><Relationship Id="rId12" Type="http://schemas.openxmlformats.org/officeDocument/2006/relationships/image" Target="../media/image26.png"/><Relationship Id="rId13" Type="http://schemas.openxmlformats.org/officeDocument/2006/relationships/image" Target="../media/image91.png"/><Relationship Id="rId14" Type="http://schemas.openxmlformats.org/officeDocument/2006/relationships/image" Target="../media/image67.png"/><Relationship Id="rId15" Type="http://schemas.openxmlformats.org/officeDocument/2006/relationships/image" Target="../media/image9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8.png"/><Relationship Id="rId3" Type="http://schemas.openxmlformats.org/officeDocument/2006/relationships/image" Target="../media/image95.png"/><Relationship Id="rId4" Type="http://schemas.openxmlformats.org/officeDocument/2006/relationships/image" Target="../media/image94.png"/><Relationship Id="rId5" Type="http://schemas.openxmlformats.org/officeDocument/2006/relationships/image" Target="../media/image149.png"/><Relationship Id="rId6" Type="http://schemas.openxmlformats.org/officeDocument/2006/relationships/image" Target="../media/image150.png"/><Relationship Id="rId7" Type="http://schemas.openxmlformats.org/officeDocument/2006/relationships/image" Target="../media/image151.png"/><Relationship Id="rId8" Type="http://schemas.openxmlformats.org/officeDocument/2006/relationships/image" Target="../media/image103.png"/><Relationship Id="rId9" Type="http://schemas.openxmlformats.org/officeDocument/2006/relationships/image" Target="../media/image152.png"/><Relationship Id="rId10" Type="http://schemas.openxmlformats.org/officeDocument/2006/relationships/image" Target="../media/image153.png"/><Relationship Id="rId11" Type="http://schemas.openxmlformats.org/officeDocument/2006/relationships/image" Target="../media/image15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9.png"/><Relationship Id="rId3" Type="http://schemas.openxmlformats.org/officeDocument/2006/relationships/image" Target="../media/image107.png"/><Relationship Id="rId4" Type="http://schemas.openxmlformats.org/officeDocument/2006/relationships/image" Target="../media/image108.png"/><Relationship Id="rId5" Type="http://schemas.openxmlformats.org/officeDocument/2006/relationships/image" Target="../media/image110.png"/><Relationship Id="rId6" Type="http://schemas.openxmlformats.org/officeDocument/2006/relationships/image" Target="../media/image155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1.png"/><Relationship Id="rId3" Type="http://schemas.openxmlformats.org/officeDocument/2006/relationships/image" Target="../media/image112.png"/><Relationship Id="rId4" Type="http://schemas.openxmlformats.org/officeDocument/2006/relationships/image" Target="../media/image113.png"/><Relationship Id="rId5" Type="http://schemas.openxmlformats.org/officeDocument/2006/relationships/image" Target="../media/image54.png"/><Relationship Id="rId6" Type="http://schemas.openxmlformats.org/officeDocument/2006/relationships/image" Target="../media/image114.png"/><Relationship Id="rId7" Type="http://schemas.openxmlformats.org/officeDocument/2006/relationships/image" Target="../media/image115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6.png"/><Relationship Id="rId3" Type="http://schemas.openxmlformats.org/officeDocument/2006/relationships/image" Target="../media/image10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57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8.png"/><Relationship Id="rId3" Type="http://schemas.openxmlformats.org/officeDocument/2006/relationships/image" Target="../media/image159.png"/><Relationship Id="rId4" Type="http://schemas.openxmlformats.org/officeDocument/2006/relationships/image" Target="../media/image160.png"/><Relationship Id="rId5" Type="http://schemas.openxmlformats.org/officeDocument/2006/relationships/image" Target="../media/image161.png"/><Relationship Id="rId6" Type="http://schemas.openxmlformats.org/officeDocument/2006/relationships/image" Target="../media/image162.png"/><Relationship Id="rId7" Type="http://schemas.openxmlformats.org/officeDocument/2006/relationships/image" Target="../media/image163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4.png"/><Relationship Id="rId3" Type="http://schemas.openxmlformats.org/officeDocument/2006/relationships/image" Target="../media/image4.png"/><Relationship Id="rId4" Type="http://schemas.openxmlformats.org/officeDocument/2006/relationships/image" Target="../media/image84.png"/><Relationship Id="rId5" Type="http://schemas.openxmlformats.org/officeDocument/2006/relationships/image" Target="../media/image165.png"/><Relationship Id="rId6" Type="http://schemas.openxmlformats.org/officeDocument/2006/relationships/image" Target="../media/image166.png"/><Relationship Id="rId7" Type="http://schemas.openxmlformats.org/officeDocument/2006/relationships/image" Target="../media/image14.png"/><Relationship Id="rId8" Type="http://schemas.openxmlformats.org/officeDocument/2006/relationships/image" Target="../media/image18.png"/><Relationship Id="rId9" Type="http://schemas.openxmlformats.org/officeDocument/2006/relationships/image" Target="../media/image167.png"/><Relationship Id="rId10" Type="http://schemas.openxmlformats.org/officeDocument/2006/relationships/image" Target="../media/image24.png"/><Relationship Id="rId11" Type="http://schemas.openxmlformats.org/officeDocument/2006/relationships/image" Target="../media/image28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8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3.png"/><Relationship Id="rId7" Type="http://schemas.openxmlformats.org/officeDocument/2006/relationships/image" Target="../media/image169.png"/><Relationship Id="rId8" Type="http://schemas.openxmlformats.org/officeDocument/2006/relationships/image" Target="../media/image39.png"/><Relationship Id="rId9" Type="http://schemas.openxmlformats.org/officeDocument/2006/relationships/image" Target="../media/image29.png"/><Relationship Id="rId10" Type="http://schemas.openxmlformats.org/officeDocument/2006/relationships/image" Target="../media/image59.png"/><Relationship Id="rId11" Type="http://schemas.openxmlformats.org/officeDocument/2006/relationships/image" Target="../media/image60.png"/><Relationship Id="rId12" Type="http://schemas.openxmlformats.org/officeDocument/2006/relationships/image" Target="../media/image31.png"/><Relationship Id="rId13" Type="http://schemas.openxmlformats.org/officeDocument/2006/relationships/image" Target="../media/image50.png"/><Relationship Id="rId14" Type="http://schemas.openxmlformats.org/officeDocument/2006/relationships/image" Target="../media/image28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0.png"/><Relationship Id="rId3" Type="http://schemas.openxmlformats.org/officeDocument/2006/relationships/image" Target="../media/image82.png"/><Relationship Id="rId4" Type="http://schemas.openxmlformats.org/officeDocument/2006/relationships/image" Target="../media/image83.png"/><Relationship Id="rId5" Type="http://schemas.openxmlformats.org/officeDocument/2006/relationships/image" Target="../media/image84.png"/><Relationship Id="rId6" Type="http://schemas.openxmlformats.org/officeDocument/2006/relationships/image" Target="../media/image63.png"/><Relationship Id="rId7" Type="http://schemas.openxmlformats.org/officeDocument/2006/relationships/image" Target="../media/image165.png"/><Relationship Id="rId8" Type="http://schemas.openxmlformats.org/officeDocument/2006/relationships/image" Target="../media/image166.png"/><Relationship Id="rId9" Type="http://schemas.openxmlformats.org/officeDocument/2006/relationships/image" Target="../media/image14.png"/><Relationship Id="rId10" Type="http://schemas.openxmlformats.org/officeDocument/2006/relationships/image" Target="../media/image107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169.png"/><Relationship Id="rId7" Type="http://schemas.openxmlformats.org/officeDocument/2006/relationships/image" Target="../media/image71.png"/><Relationship Id="rId8" Type="http://schemas.openxmlformats.org/officeDocument/2006/relationships/image" Target="../media/image29.png"/><Relationship Id="rId9" Type="http://schemas.openxmlformats.org/officeDocument/2006/relationships/image" Target="../media/image39.png"/><Relationship Id="rId10" Type="http://schemas.openxmlformats.org/officeDocument/2006/relationships/image" Target="../media/image72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1.png"/><Relationship Id="rId3" Type="http://schemas.openxmlformats.org/officeDocument/2006/relationships/image" Target="../media/image4.png"/><Relationship Id="rId4" Type="http://schemas.openxmlformats.org/officeDocument/2006/relationships/image" Target="../media/image24.png"/><Relationship Id="rId5" Type="http://schemas.openxmlformats.org/officeDocument/2006/relationships/image" Target="../media/image5.png"/><Relationship Id="rId6" Type="http://schemas.openxmlformats.org/officeDocument/2006/relationships/image" Target="../media/image172.png"/><Relationship Id="rId7" Type="http://schemas.openxmlformats.org/officeDocument/2006/relationships/image" Target="../media/image173.png"/><Relationship Id="rId8" Type="http://schemas.openxmlformats.org/officeDocument/2006/relationships/image" Target="../media/image111.png"/><Relationship Id="rId9" Type="http://schemas.openxmlformats.org/officeDocument/2006/relationships/image" Target="../media/image174.png"/><Relationship Id="rId10" Type="http://schemas.openxmlformats.org/officeDocument/2006/relationships/image" Target="../media/image175.png"/><Relationship Id="rId11" Type="http://schemas.openxmlformats.org/officeDocument/2006/relationships/image" Target="../media/image17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03399">
                  <a:alpha val="85000"/>
                </a:srgbClr>
              </a:gs>
              <a:gs pos="100000">
                <a:srgbClr val="003399">
                  <a:alpha val="85000"/>
                </a:srgbClr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19169" y="1533525"/>
            <a:ext cx="9753356" cy="14668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lnSpc>
                <a:spcPts val="4940"/>
              </a:lnSpc>
              <a:spcBef>
                <a:spcPts val="0"/>
              </a:spcBef>
              <a:spcAft>
                <a:spcPts val="1300"/>
              </a:spcAft>
            </a:pPr>
            <a:r>
              <a:rPr sz="3827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The CPSA® Advanced Level Module DDD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19609" y="3181350"/>
            <a:ext cx="952476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19169" y="3505199"/>
            <a:ext cx="9753356" cy="4286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2600"/>
              </a:spcAft>
            </a:pPr>
            <a:r>
              <a:rPr sz="2152" b="1">
                <a:solidFill>
                  <a:srgbClr val="E0E0E0"/>
                </a:solidFill>
                <a:latin typeface="Source Sans Pro"/>
                <a:rFonts ascii="Source Sans Pro" hAnsi="Source Sans Pro" eastAsia="Source Sans Pro" cs="Source Sans Pro"/>
              </a:rPr>
              <a:t>Day 1: Foundations - Domain, Model &amp; Ubiquitous Language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19169" y="4314825"/>
            <a:ext cx="9753356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650"/>
              </a:spcAft>
            </a:pPr>
            <a:r>
              <a:rPr sz="1196" b="0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iSAQB® Training Course in Domain-Driven Design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19169" y="4838699"/>
            <a:ext cx="9753356" cy="485775"/>
          </a:xfrm>
          <a:prstGeom prst="roundRect">
            <a:avLst>
              <a:gd name="adj" fmla="val 117647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19169" y="4838699"/>
            <a:ext cx="9753356" cy="4857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195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22 December 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71925" y="6257925"/>
            <a:ext cx="2257368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VOLKSWAGEN GROUP INDIA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5725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33" y="190499"/>
            <a:ext cx="10858228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Overview of Day 1 Learning Goals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6733" y="1143000"/>
            <a:ext cx="10858228" cy="1038224"/>
          </a:xfrm>
          <a:prstGeom prst="roundRect">
            <a:avLst>
              <a:gd name="adj" fmla="val 14678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 Same Side Corner Rectangle 4"/>
          <p:cNvSpPr/>
          <p:nvPr/>
        </p:nvSpPr>
        <p:spPr>
          <a:xfrm rot="16200000">
            <a:off x="213661" y="1596072"/>
            <a:ext cx="103822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4832" y="1143000"/>
            <a:ext cx="761980" cy="1038224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832" y="1143000"/>
            <a:ext cx="761980" cy="10382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LG 1-1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04932" y="1333500"/>
            <a:ext cx="9581910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Domain Connections 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704932" y="1372842"/>
            <a:ext cx="266693" cy="22611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704932" y="1724024"/>
            <a:ext cx="958191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Explain connections between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domains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,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software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, and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models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67073" y="1714500"/>
            <a:ext cx="828654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971925" y="1714500"/>
            <a:ext cx="828654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29194" y="1714500"/>
            <a:ext cx="714357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66733" y="2419349"/>
            <a:ext cx="10858228" cy="1038224"/>
          </a:xfrm>
          <a:prstGeom prst="roundRect">
            <a:avLst>
              <a:gd name="adj" fmla="val 14678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 Same Side Corner Rectangle 14"/>
          <p:cNvSpPr/>
          <p:nvPr/>
        </p:nvSpPr>
        <p:spPr>
          <a:xfrm rot="16200000">
            <a:off x="213661" y="2872421"/>
            <a:ext cx="103822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04832" y="2419349"/>
            <a:ext cx="761980" cy="1038224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832" y="2419349"/>
            <a:ext cx="761980" cy="10382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LG 1-2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04932" y="2609850"/>
            <a:ext cx="9581910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Ubiquitous Language 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704932" y="2649192"/>
            <a:ext cx="266693" cy="22611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704932" y="3000375"/>
            <a:ext cx="958191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Understand role of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ubiquitous language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in domain modeling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19369" y="2990849"/>
            <a:ext cx="1790655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66733" y="3695699"/>
            <a:ext cx="10858228" cy="1038224"/>
          </a:xfrm>
          <a:prstGeom prst="roundRect">
            <a:avLst>
              <a:gd name="adj" fmla="val 14678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 Same Side Corner Rectangle 22"/>
          <p:cNvSpPr/>
          <p:nvPr/>
        </p:nvSpPr>
        <p:spPr>
          <a:xfrm rot="16200000">
            <a:off x="213661" y="4148771"/>
            <a:ext cx="103822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04832" y="3695699"/>
            <a:ext cx="761980" cy="1038224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4832" y="3695699"/>
            <a:ext cx="761980" cy="10382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LG 1-3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04932" y="3886200"/>
            <a:ext cx="9581910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DDD Building Blocks 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704932" y="3925542"/>
            <a:ext cx="266693" cy="226115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704932" y="4276725"/>
            <a:ext cx="958191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Explain DDD building blocks (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Entities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,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Value Objects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,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Aggregates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019449" y="4267199"/>
            <a:ext cx="742931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848103" y="4267199"/>
            <a:ext cx="1219169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152996" y="4267199"/>
            <a:ext cx="1019149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66733" y="4972050"/>
            <a:ext cx="10858228" cy="1038224"/>
          </a:xfrm>
          <a:prstGeom prst="roundRect">
            <a:avLst>
              <a:gd name="adj" fmla="val 14678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 Same Side Corner Rectangle 32"/>
          <p:cNvSpPr/>
          <p:nvPr/>
        </p:nvSpPr>
        <p:spPr>
          <a:xfrm rot="16200000">
            <a:off x="213661" y="5425122"/>
            <a:ext cx="103822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04832" y="4972050"/>
            <a:ext cx="761980" cy="1038224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4832" y="4972050"/>
            <a:ext cx="761980" cy="10382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LG 1-4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704932" y="5162550"/>
            <a:ext cx="9581910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Block Connections 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1704932" y="5185948"/>
            <a:ext cx="266693" cy="258003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704932" y="5553074"/>
            <a:ext cx="958191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Explain connections between building blocks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6733" y="6543675"/>
            <a:ext cx="3590835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The CPSA® Advanced Level Module DDD – iSAQB® Training Course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77098" y="6543675"/>
            <a:ext cx="2447863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Volkswagen Group India | 22 December 2025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5725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33" y="190499"/>
            <a:ext cx="10858228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LG 1-1: Building Intuition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733" y="1143000"/>
            <a:ext cx="5286242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674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674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Communication Breakdown 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1191357"/>
            <a:ext cx="304792" cy="24618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66733" y="1866899"/>
            <a:ext cx="5286242" cy="4562475"/>
          </a:xfrm>
          <a:prstGeom prst="roundRect">
            <a:avLst>
              <a:gd name="adj" fmla="val 334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-1548464" y="4082096"/>
            <a:ext cx="45624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2951" y="2105024"/>
            <a:ext cx="4771905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When Teams Don't Understand Each Other 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42951" y="2163831"/>
            <a:ext cx="266693" cy="168136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42951" y="2586037"/>
            <a:ext cx="228594" cy="1428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14417" y="2543175"/>
            <a:ext cx="284790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Misinterpretation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of requirements 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14417" y="2533649"/>
            <a:ext cx="1543011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42951" y="2995612"/>
            <a:ext cx="228594" cy="14287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314417" y="2952750"/>
            <a:ext cx="270503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Delays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due to clarification cycles 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14417" y="2943225"/>
            <a:ext cx="657208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42951" y="3405187"/>
            <a:ext cx="228594" cy="14287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314417" y="3362324"/>
            <a:ext cx="348606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Technical debt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from poor design decisions 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14417" y="3352800"/>
            <a:ext cx="1304892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42951" y="3814762"/>
            <a:ext cx="228594" cy="14287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314417" y="3771900"/>
            <a:ext cx="412422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Frustration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between business and technical teams 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14417" y="3762374"/>
            <a:ext cx="1019149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8719" y="1143000"/>
            <a:ext cx="5286242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674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674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Automotive Impact 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238719" y="1208942"/>
            <a:ext cx="304792" cy="211015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6238719" y="1866899"/>
            <a:ext cx="5286242" cy="2000250"/>
          </a:xfrm>
          <a:prstGeom prst="roundRect">
            <a:avLst>
              <a:gd name="adj" fmla="val 7619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 Same Side Corner Rectangle 24"/>
          <p:cNvSpPr/>
          <p:nvPr/>
        </p:nvSpPr>
        <p:spPr>
          <a:xfrm rot="16200000">
            <a:off x="5304634" y="2800984"/>
            <a:ext cx="20002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14937" y="2105024"/>
            <a:ext cx="4771905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Real-World Consequences 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514937" y="2120347"/>
            <a:ext cx="266693" cy="255104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514937" y="2560320"/>
            <a:ext cx="228594" cy="194309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886402" y="2543175"/>
            <a:ext cx="394325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Safety issues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from misunderstood requirements 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86402" y="2533649"/>
            <a:ext cx="1171545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514937" y="2969895"/>
            <a:ext cx="228594" cy="194309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886402" y="2952750"/>
            <a:ext cx="307649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Costly recalls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due to software defects 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86402" y="2943225"/>
            <a:ext cx="1190595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514937" y="3379470"/>
            <a:ext cx="228594" cy="194309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886402" y="3362324"/>
            <a:ext cx="340986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Delayed releases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for new vehicle features 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886402" y="3352800"/>
            <a:ext cx="1485862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238719" y="4105274"/>
            <a:ext cx="5286242" cy="2324100"/>
          </a:xfrm>
          <a:prstGeom prst="roundRect">
            <a:avLst>
              <a:gd name="adj" fmla="val 6557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8686582" y="4444603"/>
            <a:ext cx="380990" cy="178593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476838" y="4867274"/>
            <a:ext cx="4810004" cy="96202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lnSpc>
                <a:spcPts val="2145"/>
              </a:lnSpc>
              <a:spcBef>
                <a:spcPts val="0"/>
              </a:spcBef>
              <a:spcAft>
                <a:spcPts val="975"/>
              </a:spcAft>
            </a:pPr>
            <a:r>
              <a:rPr sz="1435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"The most disastrous thing that can happen to a software project is to have the wrong people making the key decisions."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86442" y="5972175"/>
            <a:ext cx="319079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- Eric Evans, Author of Domain-Driven Design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715125"/>
            <a:ext cx="12191695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6733" y="6858000"/>
            <a:ext cx="3590835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The CPSA® Advanced Level Module DDD – iSAQB® Training Course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77098" y="6858000"/>
            <a:ext cx="2447863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Volkswagen Group India | 22 December 2025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5725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33" y="190499"/>
            <a:ext cx="10858228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LG 1-1: Context - Automotive Software Complexity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733" y="1143000"/>
            <a:ext cx="6343491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674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674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Software Complexity Metrics 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1197219"/>
            <a:ext cx="304792" cy="23446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66733" y="1866899"/>
            <a:ext cx="3076498" cy="1247775"/>
          </a:xfrm>
          <a:prstGeom prst="roundRect">
            <a:avLst>
              <a:gd name="adj" fmla="val 12213"/>
            </a:avLst>
          </a:prstGeom>
          <a:solidFill>
            <a:srgbClr val="F5F7FA"/>
          </a:solidFill>
          <a:ln w="33020"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7228" y="2057400"/>
            <a:ext cx="2695507" cy="4952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650"/>
              </a:spcAft>
            </a:pPr>
            <a:r>
              <a:rPr sz="2511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100M+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7228" y="2647949"/>
            <a:ext cx="2695507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Lines of Code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33726" y="1866899"/>
            <a:ext cx="3076498" cy="1247775"/>
          </a:xfrm>
          <a:prstGeom prst="roundRect">
            <a:avLst>
              <a:gd name="adj" fmla="val 12213"/>
            </a:avLst>
          </a:prstGeom>
          <a:solidFill>
            <a:srgbClr val="F5F7FA"/>
          </a:solidFill>
          <a:ln w="33020"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24221" y="2057400"/>
            <a:ext cx="2695507" cy="4952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650"/>
              </a:spcAft>
            </a:pPr>
            <a:r>
              <a:rPr sz="2511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150+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24221" y="2647949"/>
            <a:ext cx="2695507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ECUs in Premium Vehicles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6733" y="3590924"/>
            <a:ext cx="6343491" cy="4324349"/>
          </a:xfrm>
          <a:prstGeom prst="roundRect">
            <a:avLst>
              <a:gd name="adj" fmla="val 3524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 Same Side Corner Rectangle 12"/>
          <p:cNvSpPr/>
          <p:nvPr/>
        </p:nvSpPr>
        <p:spPr>
          <a:xfrm rot="16200000">
            <a:off x="-1429401" y="5687058"/>
            <a:ext cx="43243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2951" y="3829050"/>
            <a:ext cx="5829154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Multiple Domains 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42951" y="3868392"/>
            <a:ext cx="266693" cy="22611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42951" y="4284345"/>
            <a:ext cx="228594" cy="19430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314417" y="4267199"/>
            <a:ext cx="457188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Powertrain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- Engine, transmission, battery management 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14417" y="4257675"/>
            <a:ext cx="1019149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942951" y="4682490"/>
            <a:ext cx="228594" cy="21717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314417" y="4676775"/>
            <a:ext cx="379085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Infotainment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- Media, navigation, connectivity 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14417" y="4667249"/>
            <a:ext cx="1190595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942951" y="5092065"/>
            <a:ext cx="228594" cy="21717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314417" y="5086350"/>
            <a:ext cx="346701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Safety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- ADAS, airbags, collision avoidance 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314417" y="5076825"/>
            <a:ext cx="628634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942951" y="5530215"/>
            <a:ext cx="228594" cy="16002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314417" y="5495924"/>
            <a:ext cx="395277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Connectivity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- OTA updates, V2X communication 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314417" y="5486400"/>
            <a:ext cx="1152496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95967" y="1143000"/>
            <a:ext cx="4228994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674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674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Domain Distribution 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7295967" y="1197219"/>
            <a:ext cx="304792" cy="234461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7295967" y="1866899"/>
            <a:ext cx="4228994" cy="3686175"/>
          </a:xfrm>
          <a:prstGeom prst="roundRect">
            <a:avLst>
              <a:gd name="adj" fmla="val 4134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34086" y="2105024"/>
            <a:ext cx="3752756" cy="5905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1300"/>
              </a:spcAft>
            </a:pP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Software Code Distribution Across Domains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34086" y="2914650"/>
            <a:ext cx="1333466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Infotainment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10424" y="2886075"/>
            <a:ext cx="1562060" cy="285750"/>
          </a:xfrm>
          <a:prstGeom prst="roundRect">
            <a:avLst>
              <a:gd name="adj" fmla="val 100000"/>
            </a:avLst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010424" y="2886075"/>
            <a:ext cx="1323941" cy="285750"/>
          </a:xfrm>
          <a:prstGeom prst="roundRect">
            <a:avLst>
              <a:gd name="adj" fmla="val 10000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715357" y="2914650"/>
            <a:ext cx="571485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25%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34086" y="3333749"/>
            <a:ext cx="1333466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Powertrain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010424" y="3314700"/>
            <a:ext cx="1562060" cy="285750"/>
          </a:xfrm>
          <a:prstGeom prst="roundRect">
            <a:avLst>
              <a:gd name="adj" fmla="val 100000"/>
            </a:avLst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010424" y="3314700"/>
            <a:ext cx="1095347" cy="285750"/>
          </a:xfrm>
          <a:prstGeom prst="roundRect">
            <a:avLst>
              <a:gd name="adj" fmla="val 10000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715357" y="3333749"/>
            <a:ext cx="571485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20%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34086" y="3771900"/>
            <a:ext cx="1333466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Safety Systems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010424" y="3743325"/>
            <a:ext cx="1562060" cy="285750"/>
          </a:xfrm>
          <a:prstGeom prst="roundRect">
            <a:avLst>
              <a:gd name="adj" fmla="val 100000"/>
            </a:avLst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9010424" y="3743325"/>
            <a:ext cx="933426" cy="285750"/>
          </a:xfrm>
          <a:prstGeom prst="roundRect">
            <a:avLst>
              <a:gd name="adj" fmla="val 10000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715357" y="3771900"/>
            <a:ext cx="571485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18%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34086" y="4190999"/>
            <a:ext cx="1333466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Connectivity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010424" y="4171950"/>
            <a:ext cx="1562060" cy="285750"/>
          </a:xfrm>
          <a:prstGeom prst="roundRect">
            <a:avLst>
              <a:gd name="adj" fmla="val 100000"/>
            </a:avLst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9010424" y="4171950"/>
            <a:ext cx="781030" cy="285750"/>
          </a:xfrm>
          <a:prstGeom prst="roundRect">
            <a:avLst>
              <a:gd name="adj" fmla="val 10000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715357" y="4190999"/>
            <a:ext cx="571485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15%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534086" y="4629150"/>
            <a:ext cx="1333466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Body Control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010424" y="4600575"/>
            <a:ext cx="1562060" cy="285750"/>
          </a:xfrm>
          <a:prstGeom prst="roundRect">
            <a:avLst>
              <a:gd name="adj" fmla="val 100000"/>
            </a:avLst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9010424" y="4600575"/>
            <a:ext cx="628634" cy="285750"/>
          </a:xfrm>
          <a:prstGeom prst="roundRect">
            <a:avLst>
              <a:gd name="adj" fmla="val 10000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715357" y="4629150"/>
            <a:ext cx="571485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12%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534086" y="5048250"/>
            <a:ext cx="1333466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Other Systems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010424" y="5029200"/>
            <a:ext cx="1562060" cy="285750"/>
          </a:xfrm>
          <a:prstGeom prst="roundRect">
            <a:avLst>
              <a:gd name="adj" fmla="val 100000"/>
            </a:avLst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9010424" y="5029200"/>
            <a:ext cx="542911" cy="285750"/>
          </a:xfrm>
          <a:prstGeom prst="roundRect">
            <a:avLst>
              <a:gd name="adj" fmla="val 10000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715357" y="5048250"/>
            <a:ext cx="571485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10%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295967" y="5791200"/>
            <a:ext cx="4228994" cy="2124075"/>
          </a:xfrm>
          <a:prstGeom prst="roundRect">
            <a:avLst>
              <a:gd name="adj" fmla="val 7174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 Same Side Corner Rectangle 56"/>
          <p:cNvSpPr/>
          <p:nvPr/>
        </p:nvSpPr>
        <p:spPr>
          <a:xfrm rot="16200000">
            <a:off x="6299970" y="6787197"/>
            <a:ext cx="21240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572185" y="6029325"/>
            <a:ext cx="3714657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Cross-Team Challenges </a:t>
            </a:r>
          </a:p>
        </p:txBody>
      </p:sp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7572185" y="6099727"/>
            <a:ext cx="266693" cy="144945"/>
          </a:xfrm>
          <a:prstGeom prst="rect">
            <a:avLst/>
          </a:prstGeom>
        </p:spPr>
      </p:pic>
      <p:pic>
        <p:nvPicPr>
          <p:cNvPr id="60" name="Picture 59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7572185" y="6498907"/>
            <a:ext cx="228594" cy="165734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7943651" y="6467474"/>
            <a:ext cx="3343191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Integration complexity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between domains 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943651" y="6457950"/>
            <a:ext cx="1971625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7572185" y="7160894"/>
            <a:ext cx="228594" cy="194309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7943651" y="7143750"/>
            <a:ext cx="3343191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Communication barriers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between specialized teams 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943651" y="7134225"/>
            <a:ext cx="2104972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0" y="8201025"/>
            <a:ext cx="12191695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66733" y="8343900"/>
            <a:ext cx="3590835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The CPSA® Advanced Level Module DDD – iSAQB® Training Course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077098" y="8343900"/>
            <a:ext cx="2447863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Volkswagen Group India | 22 December 2025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5725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33" y="190499"/>
            <a:ext cx="10858228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LG 1-1: Purpose - Why Understanding Connections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733" y="1143000"/>
            <a:ext cx="5286242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674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674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Key Benefits 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1185496"/>
            <a:ext cx="304792" cy="25790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66733" y="1866899"/>
            <a:ext cx="5286242" cy="2524125"/>
          </a:xfrm>
          <a:prstGeom prst="roundRect">
            <a:avLst>
              <a:gd name="adj" fmla="val 6037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-529289" y="3062921"/>
            <a:ext cx="25241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2951" y="2105024"/>
            <a:ext cx="4771905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Software Quality 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42951" y="2140640"/>
            <a:ext cx="266693" cy="214519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42951" y="2560320"/>
            <a:ext cx="228594" cy="19430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14417" y="2543175"/>
            <a:ext cx="287647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Accurate requirements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translation 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14417" y="2533649"/>
            <a:ext cx="1971625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42951" y="2969895"/>
            <a:ext cx="228594" cy="19430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314417" y="2952750"/>
            <a:ext cx="331461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Reduced rework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and maintenance costs 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14417" y="2943225"/>
            <a:ext cx="1438239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42951" y="3379470"/>
            <a:ext cx="228594" cy="19430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314417" y="3362324"/>
            <a:ext cx="418137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Better testability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through clear domain boundaries 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14417" y="3352800"/>
            <a:ext cx="1485862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66733" y="4629150"/>
            <a:ext cx="5286242" cy="2114550"/>
          </a:xfrm>
          <a:prstGeom prst="roundRect">
            <a:avLst>
              <a:gd name="adj" fmla="val 7207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 Same Side Corner Rectangle 19"/>
          <p:cNvSpPr/>
          <p:nvPr/>
        </p:nvSpPr>
        <p:spPr>
          <a:xfrm rot="16200000">
            <a:off x="-324502" y="5620385"/>
            <a:ext cx="21145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2951" y="4867274"/>
            <a:ext cx="4771905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Development Efficiency 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942951" y="4925460"/>
            <a:ext cx="266693" cy="188429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42951" y="5322570"/>
            <a:ext cx="228594" cy="194309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314417" y="5305425"/>
            <a:ext cx="416232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Faster decision making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with shared understanding 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14417" y="5295899"/>
            <a:ext cx="1990675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42951" y="5732144"/>
            <a:ext cx="228594" cy="19430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314417" y="5715000"/>
            <a:ext cx="299077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Reduced ambiguity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in requirements 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14417" y="5705475"/>
            <a:ext cx="1695407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38719" y="1143000"/>
            <a:ext cx="5286242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674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674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Automotive Impact 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238719" y="1208942"/>
            <a:ext cx="304792" cy="211015"/>
          </a:xfrm>
          <a:prstGeom prst="rect">
            <a:avLst/>
          </a:prstGeom>
        </p:spPr>
      </p:pic>
      <p:sp>
        <p:nvSpPr>
          <p:cNvPr id="31" name="Rounded Rectangle 30"/>
          <p:cNvSpPr/>
          <p:nvPr/>
        </p:nvSpPr>
        <p:spPr>
          <a:xfrm>
            <a:off x="6238719" y="1866899"/>
            <a:ext cx="5286242" cy="2000250"/>
          </a:xfrm>
          <a:prstGeom prst="roundRect">
            <a:avLst>
              <a:gd name="adj" fmla="val 7619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 Same Side Corner Rectangle 31"/>
          <p:cNvSpPr/>
          <p:nvPr/>
        </p:nvSpPr>
        <p:spPr>
          <a:xfrm rot="16200000">
            <a:off x="5304634" y="2800984"/>
            <a:ext cx="20002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14937" y="2105024"/>
            <a:ext cx="4771905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System Integration 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514937" y="2133392"/>
            <a:ext cx="266693" cy="229014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514937" y="2560320"/>
            <a:ext cx="228594" cy="194309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886402" y="2543175"/>
            <a:ext cx="367655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Clear interfaces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between vehicle subsystems 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886402" y="2533649"/>
            <a:ext cx="1381090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514937" y="2969895"/>
            <a:ext cx="228594" cy="194309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886402" y="2952750"/>
            <a:ext cx="417184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Reduced integration complexity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between domains 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886402" y="2943225"/>
            <a:ext cx="2714557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514937" y="3379470"/>
            <a:ext cx="228594" cy="194309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6886402" y="3362324"/>
            <a:ext cx="353368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Simplified maintenance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of vehicle systems 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886402" y="3352800"/>
            <a:ext cx="2057348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238719" y="4105274"/>
            <a:ext cx="5286242" cy="2638425"/>
          </a:xfrm>
          <a:prstGeom prst="roundRect">
            <a:avLst>
              <a:gd name="adj" fmla="val 5776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8686582" y="4444603"/>
            <a:ext cx="380990" cy="178593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6476838" y="4867274"/>
            <a:ext cx="4810004" cy="12763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lnSpc>
                <a:spcPts val="2145"/>
              </a:lnSpc>
              <a:spcBef>
                <a:spcPts val="0"/>
              </a:spcBef>
              <a:spcAft>
                <a:spcPts val="975"/>
              </a:spcAft>
            </a:pPr>
            <a:r>
              <a:rPr sz="1435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"When the domain model is precise and well-understood by both developers and domain experts, the software becomes an extension of the business thinking."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86442" y="6286500"/>
            <a:ext cx="319079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- Eric Evans, Author of Domain-Driven Design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7029450"/>
            <a:ext cx="12191695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6733" y="7172325"/>
            <a:ext cx="3590835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The CPSA® Advanced Level Module DDD – iSAQB® Training Course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77098" y="7172325"/>
            <a:ext cx="2447863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Volkswagen Group India | 22 December 2025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5725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33" y="190499"/>
            <a:ext cx="10858228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LG 1-1: Key Terminologies - Domain, Model, Software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6733" y="1143000"/>
            <a:ext cx="10858228" cy="1733550"/>
          </a:xfrm>
          <a:prstGeom prst="roundRect">
            <a:avLst>
              <a:gd name="adj" fmla="val 8791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 Same Side Corner Rectangle 4"/>
          <p:cNvSpPr/>
          <p:nvPr/>
        </p:nvSpPr>
        <p:spPr>
          <a:xfrm rot="16200000">
            <a:off x="-134002" y="1943735"/>
            <a:ext cx="17335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4832" y="1143000"/>
            <a:ext cx="761980" cy="173355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95327" y="1849040"/>
            <a:ext cx="380990" cy="3214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704932" y="1333500"/>
            <a:ext cx="3638459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674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Domain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04932" y="1771650"/>
            <a:ext cx="3638459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975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Sphere of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knowledge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,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activity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, or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influence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in which software operates 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05012" y="1762125"/>
            <a:ext cx="1019149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600359" y="1762125"/>
            <a:ext cx="723881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704932" y="2028825"/>
            <a:ext cx="876278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33906" y="1333500"/>
            <a:ext cx="555293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Automotive Examples 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5733906" y="1386840"/>
            <a:ext cx="228594" cy="16002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5733906" y="1709457"/>
            <a:ext cx="190495" cy="16248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019649" y="1695449"/>
            <a:ext cx="457188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Powertrain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- Engine, transmission, battery management 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19649" y="1685925"/>
            <a:ext cx="1019149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5733906" y="2063002"/>
            <a:ext cx="190495" cy="17929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019649" y="2057400"/>
            <a:ext cx="379085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Infotainment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- Media, navigation, connectivity 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19649" y="2047874"/>
            <a:ext cx="1190595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5733906" y="2424952"/>
            <a:ext cx="190495" cy="17929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019649" y="2419349"/>
            <a:ext cx="346701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Safety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- ADAS, airbags, collision avoidance 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19649" y="2409825"/>
            <a:ext cx="628634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66733" y="3114675"/>
            <a:ext cx="10858228" cy="1733550"/>
          </a:xfrm>
          <a:prstGeom prst="roundRect">
            <a:avLst>
              <a:gd name="adj" fmla="val 8791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 Same Side Corner Rectangle 24"/>
          <p:cNvSpPr/>
          <p:nvPr/>
        </p:nvSpPr>
        <p:spPr>
          <a:xfrm rot="16200000">
            <a:off x="-134002" y="3915410"/>
            <a:ext cx="17335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04832" y="3114675"/>
            <a:ext cx="761980" cy="173355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895327" y="3802856"/>
            <a:ext cx="380990" cy="357187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704932" y="3305174"/>
            <a:ext cx="3638459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674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Model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04932" y="3743325"/>
            <a:ext cx="3638459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975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Abstraction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of domain concepts that captures essential structure and behavior 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704932" y="3733799"/>
            <a:ext cx="1057248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33906" y="3305174"/>
            <a:ext cx="555293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Model Examples 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5733906" y="3349942"/>
            <a:ext cx="228594" cy="177164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5733906" y="3681132"/>
            <a:ext cx="190495" cy="162485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019649" y="3667124"/>
            <a:ext cx="430519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Entity Model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- Vehicle with unique VIN and attributes 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019649" y="3657600"/>
            <a:ext cx="1142971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5733906" y="4051486"/>
            <a:ext cx="190495" cy="145676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6019649" y="4029075"/>
            <a:ext cx="393372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Value Object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- Speed, Temperature, Coordinates 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019649" y="4019549"/>
            <a:ext cx="1142971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5733906" y="4393826"/>
            <a:ext cx="190495" cy="18489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6019649" y="4391025"/>
            <a:ext cx="366703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Aggregate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- Vehicle with related components 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019649" y="4381499"/>
            <a:ext cx="933426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66733" y="5086350"/>
            <a:ext cx="10858228" cy="1733550"/>
          </a:xfrm>
          <a:prstGeom prst="roundRect">
            <a:avLst>
              <a:gd name="adj" fmla="val 8791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 Same Side Corner Rectangle 42"/>
          <p:cNvSpPr/>
          <p:nvPr/>
        </p:nvSpPr>
        <p:spPr>
          <a:xfrm rot="16200000">
            <a:off x="-134002" y="5887085"/>
            <a:ext cx="17335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04832" y="5086350"/>
            <a:ext cx="761980" cy="173355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895327" y="5851921"/>
            <a:ext cx="380990" cy="202406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704932" y="5276850"/>
            <a:ext cx="3638459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674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Software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704932" y="5715000"/>
            <a:ext cx="3638459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975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Implementation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that serves the domain and reflects the model 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704932" y="5705475"/>
            <a:ext cx="1438239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733906" y="5276850"/>
            <a:ext cx="555293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Software Examples </a:t>
            </a:r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5733906" y="5321617"/>
            <a:ext cx="228594" cy="177164"/>
          </a:xfrm>
          <a:prstGeom prst="rect">
            <a:avLst/>
          </a:prstGeom>
        </p:spPr>
      </p:pic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14">
            <a:alphaModFix amt="100000"/>
          </a:blip>
          <a:stretch>
            <a:fillRect/>
          </a:stretch>
        </p:blipFill>
        <p:spPr>
          <a:xfrm>
            <a:off x="5733906" y="5655608"/>
            <a:ext cx="190495" cy="156882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6019649" y="5638799"/>
            <a:ext cx="462903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Powertrain Control Module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- Manages engine operations 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019649" y="5629275"/>
            <a:ext cx="2324041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15">
            <a:alphaModFix amt="100000"/>
          </a:blip>
          <a:stretch>
            <a:fillRect/>
          </a:stretch>
        </p:blipFill>
        <p:spPr>
          <a:xfrm>
            <a:off x="5733906" y="6025963"/>
            <a:ext cx="190495" cy="140073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6019649" y="6000750"/>
            <a:ext cx="437186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Infotainment System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- Handles media and navigation 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019649" y="5991225"/>
            <a:ext cx="1819229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5733906" y="6368302"/>
            <a:ext cx="190495" cy="179294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6019649" y="6362700"/>
            <a:ext cx="339081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Safety Controller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- Processes sensor data 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019649" y="6353174"/>
            <a:ext cx="1504912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0" y="7105650"/>
            <a:ext cx="12191695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66733" y="7248525"/>
            <a:ext cx="3590835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The CPSA® Advanced Level Module DDD – iSAQB® Training Course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077098" y="7248525"/>
            <a:ext cx="2447863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Volkswagen Group India | 22 December 2025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5725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33" y="190499"/>
            <a:ext cx="10858228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LG 1-1: Concepts - How Domains Relate to Models and Software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428714" y="1428750"/>
            <a:ext cx="2095447" cy="1143000"/>
          </a:xfrm>
          <a:prstGeom prst="roundRect">
            <a:avLst>
              <a:gd name="adj" fmla="val 13333"/>
            </a:avLst>
          </a:prstGeom>
          <a:solidFill>
            <a:srgbClr val="F5F7FA"/>
          </a:solidFill>
          <a:ln w="16510"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2304992" y="1664904"/>
            <a:ext cx="342891" cy="28969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095447" y="2076449"/>
            <a:ext cx="771505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Domain</a:t>
            </a:r>
          </a:p>
        </p:txBody>
      </p:sp>
      <p:sp>
        <p:nvSpPr>
          <p:cNvPr id="7" name="Rectangle 6"/>
          <p:cNvSpPr/>
          <p:nvPr/>
        </p:nvSpPr>
        <p:spPr>
          <a:xfrm>
            <a:off x="3714657" y="1990724"/>
            <a:ext cx="1142971" cy="1905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48123" y="1428750"/>
            <a:ext cx="2095447" cy="1143000"/>
          </a:xfrm>
          <a:prstGeom prst="roundRect">
            <a:avLst>
              <a:gd name="adj" fmla="val 13333"/>
            </a:avLst>
          </a:prstGeom>
          <a:solidFill>
            <a:srgbClr val="F5F7FA"/>
          </a:solidFill>
          <a:ln w="16510"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5924401" y="1650124"/>
            <a:ext cx="342891" cy="31925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791055" y="2076449"/>
            <a:ext cx="600059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Model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34066" y="1990724"/>
            <a:ext cx="1142971" cy="1905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667533" y="1428750"/>
            <a:ext cx="2095447" cy="1143000"/>
          </a:xfrm>
          <a:prstGeom prst="roundRect">
            <a:avLst>
              <a:gd name="adj" fmla="val 13333"/>
            </a:avLst>
          </a:prstGeom>
          <a:solidFill>
            <a:srgbClr val="F5F7FA"/>
          </a:solidFill>
          <a:ln w="16510"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543811" y="1718112"/>
            <a:ext cx="342891" cy="18327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277118" y="2076449"/>
            <a:ext cx="885802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Software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6733" y="3047999"/>
            <a:ext cx="3495587" cy="3067050"/>
          </a:xfrm>
          <a:prstGeom prst="roundRect">
            <a:avLst>
              <a:gd name="adj" fmla="val 4968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 Same Side Corner Rectangle 15"/>
          <p:cNvSpPr/>
          <p:nvPr/>
        </p:nvSpPr>
        <p:spPr>
          <a:xfrm rot="16200000">
            <a:off x="-800752" y="4515484"/>
            <a:ext cx="30670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5327" y="3238500"/>
            <a:ext cx="307649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Domain → Model 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95327" y="3288982"/>
            <a:ext cx="228594" cy="165734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95327" y="3690097"/>
            <a:ext cx="190495" cy="10645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181070" y="3648074"/>
            <a:ext cx="265740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Abstraction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of domain concepts 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81070" y="3638550"/>
            <a:ext cx="1057248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895327" y="4043082"/>
            <a:ext cx="190495" cy="16248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181070" y="4029075"/>
            <a:ext cx="270503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Simplification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of complex reality 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81070" y="4019549"/>
            <a:ext cx="1257268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895327" y="4429685"/>
            <a:ext cx="190495" cy="151279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181070" y="4410074"/>
            <a:ext cx="221926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Focus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on essential aspects 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81070" y="4400550"/>
            <a:ext cx="590535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352816" y="3047999"/>
            <a:ext cx="3495587" cy="3067050"/>
          </a:xfrm>
          <a:prstGeom prst="roundRect">
            <a:avLst>
              <a:gd name="adj" fmla="val 4968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 Same Side Corner Rectangle 28"/>
          <p:cNvSpPr/>
          <p:nvPr/>
        </p:nvSpPr>
        <p:spPr>
          <a:xfrm rot="16200000">
            <a:off x="2885331" y="4515484"/>
            <a:ext cx="30670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81410" y="3238500"/>
            <a:ext cx="307649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Model → Software 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4581410" y="3288982"/>
            <a:ext cx="228594" cy="165734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4581410" y="3664883"/>
            <a:ext cx="190495" cy="156882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4867153" y="3648074"/>
            <a:ext cx="2790755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Implementation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of model concepts 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867153" y="3638550"/>
            <a:ext cx="1438239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4581410" y="4309782"/>
            <a:ext cx="190495" cy="162485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4867153" y="4295774"/>
            <a:ext cx="257168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Translation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to executable code 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867153" y="4286250"/>
            <a:ext cx="1038199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4581410" y="4696385"/>
            <a:ext cx="190495" cy="151279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4867153" y="4676775"/>
            <a:ext cx="278123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Structure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following model design 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867153" y="4667249"/>
            <a:ext cx="885802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029374" y="3047999"/>
            <a:ext cx="3495587" cy="3067050"/>
          </a:xfrm>
          <a:prstGeom prst="roundRect">
            <a:avLst>
              <a:gd name="adj" fmla="val 4968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 Same Side Corner Rectangle 41"/>
          <p:cNvSpPr/>
          <p:nvPr/>
        </p:nvSpPr>
        <p:spPr>
          <a:xfrm rot="16200000">
            <a:off x="6561889" y="4515484"/>
            <a:ext cx="30670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57968" y="3238500"/>
            <a:ext cx="307649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Continuous Alignment </a:t>
            </a:r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8257968" y="3263265"/>
            <a:ext cx="228594" cy="217170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8257968" y="3653677"/>
            <a:ext cx="190495" cy="179294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8543711" y="3648074"/>
            <a:ext cx="2790755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Feedback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from software refines model 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543711" y="3638550"/>
            <a:ext cx="895327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14">
            <a:alphaModFix amt="100000"/>
          </a:blip>
          <a:stretch>
            <a:fillRect/>
          </a:stretch>
        </p:blipFill>
        <p:spPr>
          <a:xfrm>
            <a:off x="8257968" y="4301377"/>
            <a:ext cx="190495" cy="179294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8543711" y="4295774"/>
            <a:ext cx="2790755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Iteration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improves understanding 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543711" y="4286250"/>
            <a:ext cx="819129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15">
            <a:alphaModFix amt="100000"/>
          </a:blip>
          <a:stretch>
            <a:fillRect/>
          </a:stretch>
        </p:blipFill>
        <p:spPr>
          <a:xfrm>
            <a:off x="8257968" y="4951879"/>
            <a:ext cx="190495" cy="173691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8543711" y="4943475"/>
            <a:ext cx="275265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Validation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against domain reality 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543711" y="4933950"/>
            <a:ext cx="942951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66733" y="6543675"/>
            <a:ext cx="3590835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The CPSA® Advanced Level Module DDD – iSAQB® Training Course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077098" y="6543675"/>
            <a:ext cx="2447863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Volkswagen Group India | 22 December 2025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3350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33" y="190499"/>
            <a:ext cx="10858228" cy="9524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LG 1-1: Walkthrough - From Business Need to Software Implementation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6733" y="1619250"/>
            <a:ext cx="2609784" cy="3028950"/>
          </a:xfrm>
          <a:prstGeom prst="roundRect">
            <a:avLst>
              <a:gd name="adj" fmla="val 5839"/>
            </a:avLst>
          </a:prstGeom>
          <a:solidFill>
            <a:srgbClr val="F5F7FA"/>
          </a:solidFill>
          <a:ln w="33020"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57228" y="1514475"/>
            <a:ext cx="285742" cy="285750"/>
          </a:xfrm>
          <a:prstGeom prst="roundRect">
            <a:avLst>
              <a:gd name="adj" fmla="val 5000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7228" y="1514475"/>
            <a:ext cx="285742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7228" y="1943100"/>
            <a:ext cx="222879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650"/>
              </a:spcBef>
              <a:spcAft>
                <a:spcPts val="975"/>
              </a:spcAft>
            </a:pP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Business Need 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57228" y="1987867"/>
            <a:ext cx="228594" cy="177164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57228" y="2366682"/>
            <a:ext cx="190495" cy="16248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42971" y="2352675"/>
            <a:ext cx="1943051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Identify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domain problem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2971" y="2343150"/>
            <a:ext cx="1333466" cy="542925"/>
          </a:xfrm>
          <a:prstGeom prst="roundRect">
            <a:avLst>
              <a:gd name="adj" fmla="val 14035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57228" y="3042397"/>
            <a:ext cx="190495" cy="10645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42971" y="3000375"/>
            <a:ext cx="1943051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Consult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domain experts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2971" y="2990849"/>
            <a:ext cx="1333466" cy="542925"/>
          </a:xfrm>
          <a:prstGeom prst="roundRect">
            <a:avLst>
              <a:gd name="adj" fmla="val 14035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57228" y="3662082"/>
            <a:ext cx="190495" cy="16248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142971" y="3648074"/>
            <a:ext cx="177160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Define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requirements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695407" y="3638550"/>
            <a:ext cx="1219169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419389" y="1619250"/>
            <a:ext cx="2609784" cy="3028950"/>
          </a:xfrm>
          <a:prstGeom prst="roundRect">
            <a:avLst>
              <a:gd name="adj" fmla="val 5839"/>
            </a:avLst>
          </a:prstGeom>
          <a:solidFill>
            <a:srgbClr val="F5F7FA"/>
          </a:solidFill>
          <a:ln w="33020"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609884" y="1514475"/>
            <a:ext cx="285742" cy="285750"/>
          </a:xfrm>
          <a:prstGeom prst="roundRect">
            <a:avLst>
              <a:gd name="adj" fmla="val 5000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09884" y="1514475"/>
            <a:ext cx="285742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09884" y="1943100"/>
            <a:ext cx="222879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650"/>
              </a:spcBef>
              <a:spcAft>
                <a:spcPts val="975"/>
              </a:spcAft>
            </a:pP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Domain Modeling 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3609884" y="1967864"/>
            <a:ext cx="228594" cy="21717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3609884" y="2366682"/>
            <a:ext cx="190495" cy="16248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3895627" y="2352675"/>
            <a:ext cx="175255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Extract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key concepts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76638" y="2343150"/>
            <a:ext cx="1162020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3609884" y="2747682"/>
            <a:ext cx="190495" cy="16248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3895627" y="2733674"/>
            <a:ext cx="1943051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Create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ubiquitous language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895627" y="2724150"/>
            <a:ext cx="1495387" cy="542925"/>
          </a:xfrm>
          <a:prstGeom prst="roundRect">
            <a:avLst>
              <a:gd name="adj" fmla="val 14035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3609884" y="3400985"/>
            <a:ext cx="190495" cy="151279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3895627" y="3381375"/>
            <a:ext cx="187637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Design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domain model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467113" y="3371850"/>
            <a:ext cx="1304892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172045" y="1619250"/>
            <a:ext cx="2609784" cy="3028950"/>
          </a:xfrm>
          <a:prstGeom prst="roundRect">
            <a:avLst>
              <a:gd name="adj" fmla="val 5839"/>
            </a:avLst>
          </a:prstGeom>
          <a:solidFill>
            <a:srgbClr val="F5F7FA"/>
          </a:solidFill>
          <a:ln w="33020"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362540" y="1514475"/>
            <a:ext cx="285742" cy="285750"/>
          </a:xfrm>
          <a:prstGeom prst="roundRect">
            <a:avLst>
              <a:gd name="adj" fmla="val 5000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62540" y="1514475"/>
            <a:ext cx="285742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62540" y="1943100"/>
            <a:ext cx="222879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650"/>
              </a:spcBef>
              <a:spcAft>
                <a:spcPts val="975"/>
              </a:spcAft>
            </a:pP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Implementation 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6362540" y="2013585"/>
            <a:ext cx="228594" cy="125729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6362540" y="2369483"/>
            <a:ext cx="190495" cy="156882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6648283" y="2352675"/>
            <a:ext cx="1943051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Translate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model to code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648283" y="2343150"/>
            <a:ext cx="1562060" cy="542925"/>
          </a:xfrm>
          <a:prstGeom prst="roundRect">
            <a:avLst>
              <a:gd name="adj" fmla="val 14035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6362540" y="3014382"/>
            <a:ext cx="190495" cy="162485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6648283" y="3000375"/>
            <a:ext cx="187637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Apply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design patterns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134046" y="2990849"/>
            <a:ext cx="1381090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6362540" y="3385577"/>
            <a:ext cx="190495" cy="182095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6648283" y="3381375"/>
            <a:ext cx="1943051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Implement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business logic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648283" y="3371850"/>
            <a:ext cx="1685882" cy="542925"/>
          </a:xfrm>
          <a:prstGeom prst="roundRect">
            <a:avLst>
              <a:gd name="adj" fmla="val 14035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8915177" y="1619250"/>
            <a:ext cx="2609784" cy="3028950"/>
          </a:xfrm>
          <a:prstGeom prst="roundRect">
            <a:avLst>
              <a:gd name="adj" fmla="val 5839"/>
            </a:avLst>
          </a:prstGeom>
          <a:solidFill>
            <a:srgbClr val="F5F7FA"/>
          </a:solidFill>
          <a:ln w="33020"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9105672" y="1514475"/>
            <a:ext cx="285742" cy="285750"/>
          </a:xfrm>
          <a:prstGeom prst="roundRect">
            <a:avLst>
              <a:gd name="adj" fmla="val 5000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105672" y="1514475"/>
            <a:ext cx="285742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05672" y="1943100"/>
            <a:ext cx="222879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650"/>
              </a:spcBef>
              <a:spcAft>
                <a:spcPts val="975"/>
              </a:spcAft>
            </a:pP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Validation </a:t>
            </a:r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14">
            <a:alphaModFix amt="100000"/>
          </a:blip>
          <a:stretch>
            <a:fillRect/>
          </a:stretch>
        </p:blipFill>
        <p:spPr>
          <a:xfrm>
            <a:off x="9105672" y="1967864"/>
            <a:ext cx="228594" cy="217170"/>
          </a:xfrm>
          <a:prstGeom prst="rect">
            <a:avLst/>
          </a:prstGeom>
        </p:spPr>
      </p:pic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15">
            <a:alphaModFix amt="100000"/>
          </a:blip>
          <a:stretch>
            <a:fillRect/>
          </a:stretch>
        </p:blipFill>
        <p:spPr>
          <a:xfrm>
            <a:off x="9105672" y="2361079"/>
            <a:ext cx="190495" cy="173691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9391415" y="2352675"/>
            <a:ext cx="1943051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Test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against requirements 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391415" y="2343150"/>
            <a:ext cx="447663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16">
            <a:alphaModFix amt="100000"/>
          </a:blip>
          <a:stretch>
            <a:fillRect/>
          </a:stretch>
        </p:blipFill>
        <p:spPr>
          <a:xfrm>
            <a:off x="9105672" y="3005977"/>
            <a:ext cx="190495" cy="179294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9391415" y="3000375"/>
            <a:ext cx="1943051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Refine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model as needed 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391415" y="2990849"/>
            <a:ext cx="638159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17">
            <a:alphaModFix amt="100000"/>
          </a:blip>
          <a:stretch>
            <a:fillRect/>
          </a:stretch>
        </p:blipFill>
        <p:spPr>
          <a:xfrm>
            <a:off x="9105672" y="3662082"/>
            <a:ext cx="190495" cy="162485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9391415" y="3648074"/>
            <a:ext cx="171445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Deploy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and monitor 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391415" y="3638550"/>
            <a:ext cx="685782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666733" y="4838699"/>
            <a:ext cx="10858228" cy="1276350"/>
          </a:xfrm>
          <a:prstGeom prst="roundRect">
            <a:avLst>
              <a:gd name="adj" fmla="val 1194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 Same Side Corner Rectangle 60"/>
          <p:cNvSpPr/>
          <p:nvPr/>
        </p:nvSpPr>
        <p:spPr>
          <a:xfrm rot="16200000">
            <a:off x="94598" y="5410834"/>
            <a:ext cx="12763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895327" y="5238749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image.png"/>
          <p:cNvPicPr>
            <a:picLocks noChangeAspect="1"/>
          </p:cNvPicPr>
          <p:nvPr/>
        </p:nvPicPr>
        <p:blipFill>
          <a:blip r:embed="rId18">
            <a:alphaModFix amt="100000"/>
          </a:blip>
          <a:stretch>
            <a:fillRect/>
          </a:stretch>
        </p:blipFill>
        <p:spPr>
          <a:xfrm>
            <a:off x="1000099" y="5382660"/>
            <a:ext cx="266693" cy="188429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1562060" y="5029200"/>
            <a:ext cx="977240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Automotive Example: EV Battery Management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562060" y="5391150"/>
            <a:ext cx="9772405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Business Need: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Optimize battery life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→ Model: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Battery, ChargeLevel, Temperature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→ Implementation: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BatteryManagementService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→ Validation: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Range testing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2800279" y="5381624"/>
            <a:ext cx="1781130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5429114" y="5381624"/>
            <a:ext cx="2952676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1562060" y="5648325"/>
            <a:ext cx="2390715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5105272" y="5648325"/>
            <a:ext cx="1228694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66733" y="6543675"/>
            <a:ext cx="3590835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The CPSA® Advanced Level Module DDD – iSAQB® Training Course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077098" y="6543675"/>
            <a:ext cx="2447863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Volkswagen Group India | 22 December 2025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24774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33" y="190499"/>
            <a:ext cx="10858228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LG 1-1: Analogies - Blueprints and Maps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33466" y="952499"/>
            <a:ext cx="4619509" cy="5838824"/>
          </a:xfrm>
          <a:prstGeom prst="roundRect">
            <a:avLst>
              <a:gd name="adj" fmla="val 3298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 Same Side Corner Rectangle 4"/>
          <p:cNvSpPr/>
          <p:nvPr/>
        </p:nvSpPr>
        <p:spPr>
          <a:xfrm rot="16200000">
            <a:off x="-1519906" y="3805871"/>
            <a:ext cx="583882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609684" y="1190625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743031" y="1359144"/>
            <a:ext cx="304792" cy="23446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324041" y="1304925"/>
            <a:ext cx="2095447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Building Blueprint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609684" y="1978342"/>
            <a:ext cx="228594" cy="17716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981150" y="1952624"/>
            <a:ext cx="3733706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Real-world building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- Physical structure with purpose 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81150" y="1943100"/>
            <a:ext cx="1723981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609684" y="2654617"/>
            <a:ext cx="228594" cy="17716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981150" y="2628900"/>
            <a:ext cx="3733706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Blueprint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- Abstract representation of building design 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981150" y="2619374"/>
            <a:ext cx="885802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1609684" y="3326606"/>
            <a:ext cx="228594" cy="185737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981150" y="3305174"/>
            <a:ext cx="3733706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Construction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- Physical implementation following blueprint 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981150" y="3295650"/>
            <a:ext cx="1171545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609684" y="4171950"/>
            <a:ext cx="4105172" cy="2381250"/>
          </a:xfrm>
          <a:prstGeom prst="roundRect">
            <a:avLst>
              <a:gd name="adj" fmla="val 6400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52556" y="4314825"/>
            <a:ext cx="381942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DDD Connection 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1752556" y="4339590"/>
            <a:ext cx="228594" cy="217170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6238719" y="952499"/>
            <a:ext cx="4619509" cy="5838824"/>
          </a:xfrm>
          <a:prstGeom prst="roundRect">
            <a:avLst>
              <a:gd name="adj" fmla="val 3298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3385347" y="3805871"/>
            <a:ext cx="583882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514937" y="1190625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648283" y="1359144"/>
            <a:ext cx="304792" cy="234461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229294" y="1304925"/>
            <a:ext cx="1781130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Navigation Map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6514937" y="1969770"/>
            <a:ext cx="228594" cy="19430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886402" y="1952624"/>
            <a:ext cx="3733706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Physical territory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- Actual landscape with roads 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86402" y="1943100"/>
            <a:ext cx="1523961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514937" y="2654617"/>
            <a:ext cx="228594" cy="177164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886402" y="2628900"/>
            <a:ext cx="351463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Map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- Simplified representation of territory 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86402" y="2619374"/>
            <a:ext cx="466713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6514937" y="3059906"/>
            <a:ext cx="228594" cy="185737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886402" y="3038475"/>
            <a:ext cx="3733706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GPS navigation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- Digital implementation of map 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86402" y="3028950"/>
            <a:ext cx="1352516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514937" y="3905249"/>
            <a:ext cx="4105172" cy="2381250"/>
          </a:xfrm>
          <a:prstGeom prst="roundRect">
            <a:avLst>
              <a:gd name="adj" fmla="val 6400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57808" y="4048124"/>
            <a:ext cx="381942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DDD Connection 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657808" y="4072890"/>
            <a:ext cx="228594" cy="217170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666733" y="7077075"/>
            <a:ext cx="10858228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333466" y="7219950"/>
            <a:ext cx="3590835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The CPSA® Advanced Level Module DDD – iSAQB® Training Course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0364" y="7219950"/>
            <a:ext cx="2447863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Volkswagen Group India | 22 December 2025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5725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33" y="190499"/>
            <a:ext cx="10858228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LG 1-1: Connected Examples - Vehicle Control Systems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6733" y="1143000"/>
            <a:ext cx="10858228" cy="2085975"/>
          </a:xfrm>
          <a:prstGeom prst="roundRect">
            <a:avLst>
              <a:gd name="adj" fmla="val 7305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 Same Side Corner Rectangle 4"/>
          <p:cNvSpPr/>
          <p:nvPr/>
        </p:nvSpPr>
        <p:spPr>
          <a:xfrm rot="16200000">
            <a:off x="-310214" y="2119947"/>
            <a:ext cx="20859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42951" y="1381124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076298" y="1537921"/>
            <a:ext cx="304792" cy="25790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752556" y="1381124"/>
            <a:ext cx="9534286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Powertrain Control System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52556" y="1866899"/>
            <a:ext cx="2838379" cy="1123949"/>
          </a:xfrm>
          <a:prstGeom prst="roundRect">
            <a:avLst>
              <a:gd name="adj" fmla="val 13559"/>
            </a:avLst>
          </a:prstGeom>
          <a:solidFill>
            <a:srgbClr val="FFFFFF"/>
          </a:solidFill>
          <a:ln w="825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04952" y="2019299"/>
            <a:ext cx="253358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520"/>
              </a:spcAft>
            </a:pP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Domain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04952" y="2362199"/>
            <a:ext cx="2533586" cy="4762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Engine, transmission, fuel efficiency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4733806" y="2346007"/>
            <a:ext cx="228594" cy="165734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105272" y="1866899"/>
            <a:ext cx="2838379" cy="1123949"/>
          </a:xfrm>
          <a:prstGeom prst="roundRect">
            <a:avLst>
              <a:gd name="adj" fmla="val 13559"/>
            </a:avLst>
          </a:prstGeom>
          <a:solidFill>
            <a:srgbClr val="FFFFFF"/>
          </a:solidFill>
          <a:ln w="825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57668" y="2019299"/>
            <a:ext cx="253358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520"/>
              </a:spcAft>
            </a:pP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57668" y="2362199"/>
            <a:ext cx="2533586" cy="4762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Engine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,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GearRatio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,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TorqueCurve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48183" y="2343150"/>
            <a:ext cx="676258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10164" y="2343150"/>
            <a:ext cx="923901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933926" y="2581275"/>
            <a:ext cx="1162020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076998" y="2346007"/>
            <a:ext cx="228594" cy="165734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8448463" y="1866899"/>
            <a:ext cx="2838379" cy="1123949"/>
          </a:xfrm>
          <a:prstGeom prst="roundRect">
            <a:avLst>
              <a:gd name="adj" fmla="val 13559"/>
            </a:avLst>
          </a:prstGeom>
          <a:solidFill>
            <a:srgbClr val="FFFFFF"/>
          </a:solidFill>
          <a:ln w="825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00859" y="2019299"/>
            <a:ext cx="253358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520"/>
              </a:spcAft>
            </a:pP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Software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00859" y="2362199"/>
            <a:ext cx="2533586" cy="4762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Powertrain Control Module (PCM)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6733" y="3467100"/>
            <a:ext cx="10858228" cy="2085975"/>
          </a:xfrm>
          <a:prstGeom prst="roundRect">
            <a:avLst>
              <a:gd name="adj" fmla="val 7305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 Same Side Corner Rectangle 23"/>
          <p:cNvSpPr/>
          <p:nvPr/>
        </p:nvSpPr>
        <p:spPr>
          <a:xfrm rot="16200000">
            <a:off x="-310214" y="4444047"/>
            <a:ext cx="20859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42951" y="3705224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076298" y="3847367"/>
            <a:ext cx="304792" cy="28721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752556" y="3705224"/>
            <a:ext cx="9534286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Infotainment System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752556" y="4190999"/>
            <a:ext cx="2838379" cy="1123949"/>
          </a:xfrm>
          <a:prstGeom prst="roundRect">
            <a:avLst>
              <a:gd name="adj" fmla="val 13559"/>
            </a:avLst>
          </a:prstGeom>
          <a:solidFill>
            <a:srgbClr val="FFFFFF"/>
          </a:solidFill>
          <a:ln w="825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904952" y="4343400"/>
            <a:ext cx="253358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520"/>
              </a:spcAft>
            </a:pP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Domain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04952" y="4686300"/>
            <a:ext cx="2533586" cy="4762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Media playback, navigation, connectivity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4733806" y="4670107"/>
            <a:ext cx="228594" cy="165734"/>
          </a:xfrm>
          <a:prstGeom prst="rect">
            <a:avLst/>
          </a:prstGeom>
        </p:spPr>
      </p:pic>
      <p:sp>
        <p:nvSpPr>
          <p:cNvPr id="32" name="Rounded Rectangle 31"/>
          <p:cNvSpPr/>
          <p:nvPr/>
        </p:nvSpPr>
        <p:spPr>
          <a:xfrm>
            <a:off x="5105272" y="4190999"/>
            <a:ext cx="2838379" cy="1123949"/>
          </a:xfrm>
          <a:prstGeom prst="roundRect">
            <a:avLst>
              <a:gd name="adj" fmla="val 13559"/>
            </a:avLst>
          </a:prstGeom>
          <a:solidFill>
            <a:srgbClr val="FFFFFF"/>
          </a:solidFill>
          <a:ln w="825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57668" y="4343400"/>
            <a:ext cx="253358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520"/>
              </a:spcAft>
            </a:pP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Model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57668" y="4686300"/>
            <a:ext cx="2533586" cy="4762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MediaSession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,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NavigationRoute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,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Playlist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876778" y="4667249"/>
            <a:ext cx="1238219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371965" y="4905375"/>
            <a:ext cx="1485862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943551" y="4905375"/>
            <a:ext cx="714357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076998" y="4670107"/>
            <a:ext cx="228594" cy="165734"/>
          </a:xfrm>
          <a:prstGeom prst="rect">
            <a:avLst/>
          </a:prstGeom>
        </p:spPr>
      </p:pic>
      <p:sp>
        <p:nvSpPr>
          <p:cNvPr id="39" name="Rounded Rectangle 38"/>
          <p:cNvSpPr/>
          <p:nvPr/>
        </p:nvSpPr>
        <p:spPr>
          <a:xfrm>
            <a:off x="8448463" y="4305300"/>
            <a:ext cx="2838379" cy="885825"/>
          </a:xfrm>
          <a:prstGeom prst="roundRect">
            <a:avLst>
              <a:gd name="adj" fmla="val 17204"/>
            </a:avLst>
          </a:prstGeom>
          <a:solidFill>
            <a:srgbClr val="FFFFFF"/>
          </a:solidFill>
          <a:ln w="825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00859" y="4457700"/>
            <a:ext cx="253358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520"/>
              </a:spcAft>
            </a:pP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Software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00859" y="4800600"/>
            <a:ext cx="2533586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Infotainment Control Unit (ICU)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66733" y="5791200"/>
            <a:ext cx="10858228" cy="2085975"/>
          </a:xfrm>
          <a:prstGeom prst="roundRect">
            <a:avLst>
              <a:gd name="adj" fmla="val 7305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 Same Side Corner Rectangle 42"/>
          <p:cNvSpPr/>
          <p:nvPr/>
        </p:nvSpPr>
        <p:spPr>
          <a:xfrm rot="16200000">
            <a:off x="-310214" y="6768147"/>
            <a:ext cx="20859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942951" y="6029325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1076298" y="6171467"/>
            <a:ext cx="304792" cy="287215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752556" y="6029325"/>
            <a:ext cx="9534286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Safety Systems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752556" y="6515100"/>
            <a:ext cx="2838379" cy="1123949"/>
          </a:xfrm>
          <a:prstGeom prst="roundRect">
            <a:avLst>
              <a:gd name="adj" fmla="val 13559"/>
            </a:avLst>
          </a:prstGeom>
          <a:solidFill>
            <a:srgbClr val="FFFFFF"/>
          </a:solidFill>
          <a:ln w="825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904952" y="6667499"/>
            <a:ext cx="253358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520"/>
              </a:spcAft>
            </a:pP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Domain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904952" y="7010399"/>
            <a:ext cx="2533586" cy="4762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Collision avoidance, airbags, braking</a:t>
            </a:r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4733806" y="6994207"/>
            <a:ext cx="228594" cy="165734"/>
          </a:xfrm>
          <a:prstGeom prst="rect">
            <a:avLst/>
          </a:prstGeom>
        </p:spPr>
      </p:pic>
      <p:sp>
        <p:nvSpPr>
          <p:cNvPr id="51" name="Rounded Rectangle 50"/>
          <p:cNvSpPr/>
          <p:nvPr/>
        </p:nvSpPr>
        <p:spPr>
          <a:xfrm>
            <a:off x="5105272" y="6515100"/>
            <a:ext cx="2838379" cy="1123949"/>
          </a:xfrm>
          <a:prstGeom prst="roundRect">
            <a:avLst>
              <a:gd name="adj" fmla="val 13559"/>
            </a:avLst>
          </a:prstGeom>
          <a:solidFill>
            <a:srgbClr val="FFFFFF"/>
          </a:solidFill>
          <a:ln w="825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257668" y="6667499"/>
            <a:ext cx="253358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520"/>
              </a:spcAft>
            </a:pP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Model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57668" y="7010399"/>
            <a:ext cx="2533586" cy="4762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CollisionEvent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,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BrakePressure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,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SafetyZone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848203" y="6991350"/>
            <a:ext cx="1295367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5305292" y="7229475"/>
            <a:ext cx="1295367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6686382" y="7229475"/>
            <a:ext cx="1038199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076998" y="6994207"/>
            <a:ext cx="228594" cy="165734"/>
          </a:xfrm>
          <a:prstGeom prst="rect">
            <a:avLst/>
          </a:prstGeom>
        </p:spPr>
      </p:pic>
      <p:sp>
        <p:nvSpPr>
          <p:cNvPr id="58" name="Rounded Rectangle 57"/>
          <p:cNvSpPr/>
          <p:nvPr/>
        </p:nvSpPr>
        <p:spPr>
          <a:xfrm>
            <a:off x="8448463" y="6515100"/>
            <a:ext cx="2838379" cy="1123949"/>
          </a:xfrm>
          <a:prstGeom prst="roundRect">
            <a:avLst>
              <a:gd name="adj" fmla="val 13559"/>
            </a:avLst>
          </a:prstGeom>
          <a:solidFill>
            <a:srgbClr val="FFFFFF"/>
          </a:solidFill>
          <a:ln w="825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600859" y="6667499"/>
            <a:ext cx="253358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520"/>
              </a:spcAft>
            </a:pP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Software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600859" y="7010399"/>
            <a:ext cx="2533586" cy="4762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Advanced Driver Assistance System (ADAS)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0" y="8162924"/>
            <a:ext cx="12191695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66733" y="8305799"/>
            <a:ext cx="3590835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The CPSA® Advanced Level Module DDD – iSAQB® Training Course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077098" y="8305799"/>
            <a:ext cx="2447863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Volkswagen Group India | 22 December 2025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5725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33" y="190499"/>
            <a:ext cx="10858228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LG 1-1: Case Study - Tesla's Software-Defined Vehicles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733" y="1143000"/>
            <a:ext cx="5286242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674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674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Tesla's Approach 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1170842"/>
            <a:ext cx="304792" cy="28721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66733" y="1866899"/>
            <a:ext cx="5286242" cy="4057650"/>
          </a:xfrm>
          <a:prstGeom prst="roundRect">
            <a:avLst>
              <a:gd name="adj" fmla="val 3755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-1296052" y="3829684"/>
            <a:ext cx="40576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2951" y="2105024"/>
            <a:ext cx="4771905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Domain-First Strategy 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42951" y="2143539"/>
            <a:ext cx="266693" cy="208721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42951" y="2548890"/>
            <a:ext cx="228594" cy="21717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14417" y="2543175"/>
            <a:ext cx="260025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Vehicle as computer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on wheels 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14417" y="2533649"/>
            <a:ext cx="1752556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942951" y="2978467"/>
            <a:ext cx="228594" cy="17716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314417" y="2952750"/>
            <a:ext cx="345748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OTA updates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for continuous improvement 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14417" y="2943225"/>
            <a:ext cx="1142971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942951" y="3378041"/>
            <a:ext cx="228594" cy="197167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314417" y="3362324"/>
            <a:ext cx="363845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Centralized architecture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with clear domains 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14417" y="3352800"/>
            <a:ext cx="2085922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66733" y="6162675"/>
            <a:ext cx="5286242" cy="1819275"/>
          </a:xfrm>
          <a:prstGeom prst="roundRect">
            <a:avLst>
              <a:gd name="adj" fmla="val 8376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 Same Side Corner Rectangle 19"/>
          <p:cNvSpPr/>
          <p:nvPr/>
        </p:nvSpPr>
        <p:spPr>
          <a:xfrm rot="16200000">
            <a:off x="-176864" y="7006272"/>
            <a:ext cx="18192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5327" y="6353174"/>
            <a:ext cx="486715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Key Domains 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895327" y="6397942"/>
            <a:ext cx="228594" cy="177164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895327" y="6789363"/>
            <a:ext cx="190495" cy="13727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181070" y="6762750"/>
            <a:ext cx="358131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Autopilot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- Autonomous driving capabilities 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81070" y="6753224"/>
            <a:ext cx="876278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895327" y="7157757"/>
            <a:ext cx="190495" cy="16248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181070" y="7143750"/>
            <a:ext cx="350511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Battery Management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- Range optimization 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81070" y="7134225"/>
            <a:ext cx="1828754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895327" y="7530352"/>
            <a:ext cx="190495" cy="179294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181070" y="7524749"/>
            <a:ext cx="303839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Safety Systems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- Collision avoidance 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181070" y="7515225"/>
            <a:ext cx="1352516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38719" y="1143000"/>
            <a:ext cx="5286242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674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674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Model-to-Software Connection 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6238719" y="1197219"/>
            <a:ext cx="304792" cy="234461"/>
          </a:xfrm>
          <a:prstGeom prst="rect">
            <a:avLst/>
          </a:prstGeom>
        </p:spPr>
      </p:pic>
      <p:sp>
        <p:nvSpPr>
          <p:cNvPr id="34" name="Rounded Rectangle 33"/>
          <p:cNvSpPr/>
          <p:nvPr/>
        </p:nvSpPr>
        <p:spPr>
          <a:xfrm>
            <a:off x="6238719" y="1866899"/>
            <a:ext cx="5286242" cy="2000250"/>
          </a:xfrm>
          <a:prstGeom prst="roundRect">
            <a:avLst>
              <a:gd name="adj" fmla="val 7619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 Same Side Corner Rectangle 34"/>
          <p:cNvSpPr/>
          <p:nvPr/>
        </p:nvSpPr>
        <p:spPr>
          <a:xfrm rot="16200000">
            <a:off x="5304634" y="2800984"/>
            <a:ext cx="20002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14937" y="2105024"/>
            <a:ext cx="4771905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Domain Models 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6514937" y="2133392"/>
            <a:ext cx="266693" cy="229014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6514937" y="2560320"/>
            <a:ext cx="228594" cy="194309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886402" y="2543175"/>
            <a:ext cx="316222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Vehicle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entity with unique ID and state 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886402" y="2533649"/>
            <a:ext cx="704832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4">
            <a:alphaModFix amt="100000"/>
          </a:blip>
          <a:stretch>
            <a:fillRect/>
          </a:stretch>
        </p:blipFill>
        <p:spPr>
          <a:xfrm>
            <a:off x="6514937" y="2981325"/>
            <a:ext cx="228594" cy="17145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6886402" y="2952750"/>
            <a:ext cx="415279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Value Objects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for speed, battery level, temperature 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886402" y="2943225"/>
            <a:ext cx="1219169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15">
            <a:alphaModFix amt="100000"/>
          </a:blip>
          <a:stretch>
            <a:fillRect/>
          </a:stretch>
        </p:blipFill>
        <p:spPr>
          <a:xfrm>
            <a:off x="6514937" y="3365182"/>
            <a:ext cx="228594" cy="222884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6886402" y="3362324"/>
            <a:ext cx="317174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Aggregates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for battery pack, drivetrain 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886402" y="3352800"/>
            <a:ext cx="1019149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238719" y="4105274"/>
            <a:ext cx="5286242" cy="1590675"/>
          </a:xfrm>
          <a:prstGeom prst="roundRect">
            <a:avLst>
              <a:gd name="adj" fmla="val 958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 Same Side Corner Rectangle 47"/>
          <p:cNvSpPr/>
          <p:nvPr/>
        </p:nvSpPr>
        <p:spPr>
          <a:xfrm rot="16200000">
            <a:off x="5509422" y="4834571"/>
            <a:ext cx="15906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14937" y="4343400"/>
            <a:ext cx="4771905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Software Implementation </a:t>
            </a:r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16">
            <a:alphaModFix amt="100000"/>
          </a:blip>
          <a:stretch>
            <a:fillRect/>
          </a:stretch>
        </p:blipFill>
        <p:spPr>
          <a:xfrm>
            <a:off x="6514937" y="4423327"/>
            <a:ext cx="266693" cy="144945"/>
          </a:xfrm>
          <a:prstGeom prst="rect">
            <a:avLst/>
          </a:prstGeom>
        </p:spPr>
      </p:pic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17">
            <a:alphaModFix amt="100000"/>
          </a:blip>
          <a:stretch>
            <a:fillRect/>
          </a:stretch>
        </p:blipFill>
        <p:spPr>
          <a:xfrm>
            <a:off x="6514937" y="4807267"/>
            <a:ext cx="228594" cy="177164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6886402" y="4781549"/>
            <a:ext cx="432424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Central computers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running domain-specific software 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886402" y="4772025"/>
            <a:ext cx="1628734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18">
            <a:alphaModFix amt="100000"/>
          </a:blip>
          <a:stretch>
            <a:fillRect/>
          </a:stretch>
        </p:blipFill>
        <p:spPr>
          <a:xfrm>
            <a:off x="6514937" y="5196840"/>
            <a:ext cx="228594" cy="217170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6886402" y="5191125"/>
            <a:ext cx="398135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Continuous alignment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between model and code 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886402" y="5181599"/>
            <a:ext cx="1933526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6238719" y="5934075"/>
            <a:ext cx="5286242" cy="2238375"/>
          </a:xfrm>
          <a:prstGeom prst="roundRect">
            <a:avLst>
              <a:gd name="adj" fmla="val 6808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19">
            <a:alphaModFix amt="100000"/>
          </a:blip>
          <a:stretch>
            <a:fillRect/>
          </a:stretch>
        </p:blipFill>
        <p:spPr>
          <a:xfrm>
            <a:off x="8686582" y="6273403"/>
            <a:ext cx="380990" cy="178593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6476838" y="6696074"/>
            <a:ext cx="4810004" cy="8762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975"/>
              </a:spcAft>
            </a:pPr>
            <a:r>
              <a:rPr sz="1315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"Tesla's success comes from treating the vehicle as a software platform first, with hardware as the enabler."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29394" y="7715250"/>
            <a:ext cx="1304892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- Industry Analysis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0" y="8458200"/>
            <a:ext cx="12191695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66733" y="8601075"/>
            <a:ext cx="3590835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The CPSA® Advanced Level Module DDD – iSAQB® Training Course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077098" y="8601075"/>
            <a:ext cx="2447863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Volkswagen Group India | 22 December 2025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5725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33" y="190499"/>
            <a:ext cx="10858228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LG 1-1: Reverse Engineering - BMW's iDrive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733" y="1143000"/>
            <a:ext cx="5286242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674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674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iDrive System Analysis 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1170842"/>
            <a:ext cx="304792" cy="28721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66733" y="1866899"/>
            <a:ext cx="5286242" cy="2505074"/>
          </a:xfrm>
          <a:prstGeom prst="roundRect">
            <a:avLst>
              <a:gd name="adj" fmla="val 6083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-519764" y="3053396"/>
            <a:ext cx="25050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2951" y="2105024"/>
            <a:ext cx="4771905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Domain Identification 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42951" y="2134842"/>
            <a:ext cx="266693" cy="22611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42951" y="2568892"/>
            <a:ext cx="228594" cy="1771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14417" y="2543175"/>
            <a:ext cx="348606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Infotainment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- Media playback, navigation 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14417" y="2533649"/>
            <a:ext cx="1190595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942951" y="2978467"/>
            <a:ext cx="228594" cy="17716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314417" y="2952750"/>
            <a:ext cx="380037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Connectivity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- Phone integration, OTA updates 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14417" y="2943225"/>
            <a:ext cx="1152496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962982" y="3362324"/>
            <a:ext cx="188531" cy="2286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314417" y="3362324"/>
            <a:ext cx="374323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User Interface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- Touch, voice, gesture controls 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14417" y="3352800"/>
            <a:ext cx="1257268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66733" y="4733925"/>
            <a:ext cx="2390715" cy="1123949"/>
          </a:xfrm>
          <a:prstGeom prst="roundRect">
            <a:avLst>
              <a:gd name="adj" fmla="val 13559"/>
            </a:avLst>
          </a:prstGeom>
          <a:solidFill>
            <a:srgbClr val="FFFFFF"/>
          </a:solidFill>
          <a:ln w="825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9129" y="4886325"/>
            <a:ext cx="208592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520"/>
              </a:spcAft>
            </a:pP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Domain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9129" y="5229225"/>
            <a:ext cx="2085922" cy="4762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User interactions with vehicle systems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3200319" y="5213032"/>
            <a:ext cx="228594" cy="165734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3562260" y="4610099"/>
            <a:ext cx="2390715" cy="1362075"/>
          </a:xfrm>
          <a:prstGeom prst="roundRect">
            <a:avLst>
              <a:gd name="adj" fmla="val 11188"/>
            </a:avLst>
          </a:prstGeom>
          <a:solidFill>
            <a:srgbClr val="FFFFFF"/>
          </a:solidFill>
          <a:ln w="825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14657" y="4762500"/>
            <a:ext cx="208592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520"/>
              </a:spcAft>
            </a:pP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Model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14657" y="5105400"/>
            <a:ext cx="2085922" cy="71437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UserInterface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,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MediaController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,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NavigationService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24221" y="5086350"/>
            <a:ext cx="1219169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019449" y="5324474"/>
            <a:ext cx="1438239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962300" y="5562600"/>
            <a:ext cx="1600159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66733" y="6115050"/>
            <a:ext cx="5286242" cy="885825"/>
          </a:xfrm>
          <a:prstGeom prst="roundRect">
            <a:avLst>
              <a:gd name="adj" fmla="val 17204"/>
            </a:avLst>
          </a:prstGeom>
          <a:solidFill>
            <a:srgbClr val="FFFFFF"/>
          </a:solidFill>
          <a:ln w="825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9129" y="6267449"/>
            <a:ext cx="498145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520"/>
              </a:spcAft>
            </a:pP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Software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9129" y="6610349"/>
            <a:ext cx="4981450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iDrive operating system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38719" y="1143000"/>
            <a:ext cx="5286242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674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674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DDD Implementation 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6238719" y="1197219"/>
            <a:ext cx="304792" cy="234461"/>
          </a:xfrm>
          <a:prstGeom prst="rect">
            <a:avLst/>
          </a:prstGeom>
        </p:spPr>
      </p:pic>
      <p:sp>
        <p:nvSpPr>
          <p:cNvPr id="34" name="Rounded Rectangle 33"/>
          <p:cNvSpPr/>
          <p:nvPr/>
        </p:nvSpPr>
        <p:spPr>
          <a:xfrm>
            <a:off x="6238719" y="1866899"/>
            <a:ext cx="5286242" cy="2000250"/>
          </a:xfrm>
          <a:prstGeom prst="roundRect">
            <a:avLst>
              <a:gd name="adj" fmla="val 7619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 Same Side Corner Rectangle 34"/>
          <p:cNvSpPr/>
          <p:nvPr/>
        </p:nvSpPr>
        <p:spPr>
          <a:xfrm rot="16200000">
            <a:off x="5304634" y="2800984"/>
            <a:ext cx="20002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14937" y="2105024"/>
            <a:ext cx="4771905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Model Elements 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514937" y="2123246"/>
            <a:ext cx="266693" cy="249306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6514937" y="2560320"/>
            <a:ext cx="228594" cy="194309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886402" y="2543175"/>
            <a:ext cx="407659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UserSession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- Tracks current user and preferences 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886402" y="2533649"/>
            <a:ext cx="1114397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6514937" y="2981325"/>
            <a:ext cx="228594" cy="17145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6886402" y="2952750"/>
            <a:ext cx="375275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Coordinates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,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MediaMetadata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- Value objects 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886402" y="2943225"/>
            <a:ext cx="1104872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8076998" y="2943225"/>
            <a:ext cx="1371565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6514937" y="3365182"/>
            <a:ext cx="228594" cy="222884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6886402" y="3362324"/>
            <a:ext cx="367655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NavigationAggregate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- Route with waypoints 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886402" y="3352800"/>
            <a:ext cx="1828754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238719" y="4105274"/>
            <a:ext cx="5286242" cy="1590675"/>
          </a:xfrm>
          <a:prstGeom prst="roundRect">
            <a:avLst>
              <a:gd name="adj" fmla="val 958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 Same Side Corner Rectangle 48"/>
          <p:cNvSpPr/>
          <p:nvPr/>
        </p:nvSpPr>
        <p:spPr>
          <a:xfrm rot="16200000">
            <a:off x="5509422" y="4834571"/>
            <a:ext cx="15906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14937" y="4343400"/>
            <a:ext cx="4771905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Integration Patterns </a:t>
            </a:r>
          </a:p>
        </p:txBody>
      </p:sp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6514937" y="4381292"/>
            <a:ext cx="266693" cy="229014"/>
          </a:xfrm>
          <a:prstGeom prst="rect">
            <a:avLst/>
          </a:prstGeom>
        </p:spPr>
      </p:pic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14">
            <a:alphaModFix amt="100000"/>
          </a:blip>
          <a:stretch>
            <a:fillRect/>
          </a:stretch>
        </p:blipFill>
        <p:spPr>
          <a:xfrm>
            <a:off x="6514937" y="4824412"/>
            <a:ext cx="228594" cy="142875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6886402" y="4781549"/>
            <a:ext cx="381942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Anticorruption Layer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between vehicle systems 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886402" y="4772025"/>
            <a:ext cx="1809704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15">
            <a:alphaModFix amt="100000"/>
          </a:blip>
          <a:stretch>
            <a:fillRect/>
          </a:stretch>
        </p:blipFill>
        <p:spPr>
          <a:xfrm>
            <a:off x="6514937" y="5208270"/>
            <a:ext cx="228594" cy="194309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6886402" y="5191125"/>
            <a:ext cx="398135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Bounded Contexts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for different vehicle functions 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886402" y="5181599"/>
            <a:ext cx="1609684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6238719" y="5934075"/>
            <a:ext cx="5286242" cy="1257300"/>
          </a:xfrm>
          <a:prstGeom prst="roundRect">
            <a:avLst>
              <a:gd name="adj" fmla="val 12121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16">
            <a:alphaModFix amt="100000"/>
          </a:blip>
          <a:stretch>
            <a:fillRect/>
          </a:stretch>
        </p:blipFill>
        <p:spPr>
          <a:xfrm>
            <a:off x="6429214" y="6417879"/>
            <a:ext cx="342891" cy="289691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6914977" y="6124574"/>
            <a:ext cx="4419489" cy="8762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BMW's iDrive demonstrates clear separation of concerns with distinct domains for infotainment, connectivity, and vehicle controls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0" y="7477124"/>
            <a:ext cx="12191695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66733" y="7619999"/>
            <a:ext cx="3590835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The CPSA® Advanced Level Module DDD – iSAQB® Training Course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077098" y="7619999"/>
            <a:ext cx="2447863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Volkswagen Group India | 22 December 2025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5725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33" y="190499"/>
            <a:ext cx="10858228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LG 1-1: Brainstorming Puzzles - Identifying Domains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6733" y="1143000"/>
            <a:ext cx="10858228" cy="2600325"/>
          </a:xfrm>
          <a:prstGeom prst="roundRect">
            <a:avLst>
              <a:gd name="adj" fmla="val 586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 Same Side Corner Rectangle 4"/>
          <p:cNvSpPr/>
          <p:nvPr/>
        </p:nvSpPr>
        <p:spPr>
          <a:xfrm rot="16200000">
            <a:off x="-567389" y="2377122"/>
            <a:ext cx="26003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42951" y="1381124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2951" y="1381124"/>
            <a:ext cx="380990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14437" y="1381124"/>
            <a:ext cx="9772405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Electric Vehicle Charging Network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14437" y="1819275"/>
            <a:ext cx="9772405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975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A system that manages EV charging stations, handles payments, tracks vehicle battery levels, and provides navigation to charging points.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14437" y="2495550"/>
            <a:ext cx="9772405" cy="1009649"/>
          </a:xfrm>
          <a:prstGeom prst="roundRect">
            <a:avLst>
              <a:gd name="adj" fmla="val 15094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57308" y="2638425"/>
            <a:ext cx="9486662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196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196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Identify the domains 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657308" y="2673667"/>
            <a:ext cx="228594" cy="177164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1657308" y="2971800"/>
            <a:ext cx="1295367" cy="390525"/>
          </a:xfrm>
          <a:prstGeom prst="roundRect">
            <a:avLst>
              <a:gd name="adj" fmla="val 9756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57308" y="2971800"/>
            <a:ext cx="1295367" cy="3905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19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Charging 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800179" y="3086660"/>
            <a:ext cx="190495" cy="151279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3047923" y="2971800"/>
            <a:ext cx="1285842" cy="390525"/>
          </a:xfrm>
          <a:prstGeom prst="roundRect">
            <a:avLst>
              <a:gd name="adj" fmla="val 9756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47923" y="2971800"/>
            <a:ext cx="1285842" cy="3905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19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Payment 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3181270" y="3092263"/>
            <a:ext cx="190495" cy="140073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4419489" y="2971800"/>
            <a:ext cx="1152496" cy="390525"/>
          </a:xfrm>
          <a:prstGeom prst="roundRect">
            <a:avLst>
              <a:gd name="adj" fmla="val 9756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19489" y="2971800"/>
            <a:ext cx="1152496" cy="3905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19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Battery 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4562360" y="3081057"/>
            <a:ext cx="190495" cy="162485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5676758" y="2971800"/>
            <a:ext cx="1438239" cy="390525"/>
          </a:xfrm>
          <a:prstGeom prst="roundRect">
            <a:avLst>
              <a:gd name="adj" fmla="val 9756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76758" y="2971800"/>
            <a:ext cx="1438239" cy="3905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19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Navigation 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5819629" y="3086660"/>
            <a:ext cx="190495" cy="151279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666733" y="3981449"/>
            <a:ext cx="10858228" cy="2600325"/>
          </a:xfrm>
          <a:prstGeom prst="roundRect">
            <a:avLst>
              <a:gd name="adj" fmla="val 586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 Same Side Corner Rectangle 25"/>
          <p:cNvSpPr/>
          <p:nvPr/>
        </p:nvSpPr>
        <p:spPr>
          <a:xfrm rot="16200000">
            <a:off x="-567389" y="5215571"/>
            <a:ext cx="26003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42951" y="4219575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2951" y="4219575"/>
            <a:ext cx="380990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14437" y="4219575"/>
            <a:ext cx="9772405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Fleet Management System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14437" y="4657725"/>
            <a:ext cx="9772405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975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A platform for managing a car-sharing service with vehicle tracking, driver assignment, maintenance scheduling, and customer booking.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514437" y="5334000"/>
            <a:ext cx="9772405" cy="1009649"/>
          </a:xfrm>
          <a:prstGeom prst="roundRect">
            <a:avLst>
              <a:gd name="adj" fmla="val 15094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657308" y="5476875"/>
            <a:ext cx="9486662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196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196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Identify the domains 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657308" y="5512117"/>
            <a:ext cx="228594" cy="177164"/>
          </a:xfrm>
          <a:prstGeom prst="rect">
            <a:avLst/>
          </a:prstGeom>
        </p:spPr>
      </p:pic>
      <p:sp>
        <p:nvSpPr>
          <p:cNvPr id="34" name="Rounded Rectangle 33"/>
          <p:cNvSpPr/>
          <p:nvPr/>
        </p:nvSpPr>
        <p:spPr>
          <a:xfrm>
            <a:off x="1657308" y="5810249"/>
            <a:ext cx="962000" cy="390525"/>
          </a:xfrm>
          <a:prstGeom prst="roundRect">
            <a:avLst>
              <a:gd name="adj" fmla="val 9756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657308" y="5810249"/>
            <a:ext cx="962000" cy="3905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19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Fleet 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1800179" y="5932113"/>
            <a:ext cx="190495" cy="137272"/>
          </a:xfrm>
          <a:prstGeom prst="rect">
            <a:avLst/>
          </a:prstGeom>
        </p:spPr>
      </p:pic>
      <p:sp>
        <p:nvSpPr>
          <p:cNvPr id="37" name="Rounded Rectangle 36"/>
          <p:cNvSpPr/>
          <p:nvPr/>
        </p:nvSpPr>
        <p:spPr>
          <a:xfrm>
            <a:off x="2714557" y="5810249"/>
            <a:ext cx="1057248" cy="390525"/>
          </a:xfrm>
          <a:prstGeom prst="roundRect">
            <a:avLst>
              <a:gd name="adj" fmla="val 9756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14557" y="5810249"/>
            <a:ext cx="1057248" cy="3905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19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Driver 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2857428" y="5930713"/>
            <a:ext cx="190495" cy="140073"/>
          </a:xfrm>
          <a:prstGeom prst="rect">
            <a:avLst/>
          </a:prstGeom>
        </p:spPr>
      </p:pic>
      <p:sp>
        <p:nvSpPr>
          <p:cNvPr id="40" name="Rounded Rectangle 39"/>
          <p:cNvSpPr/>
          <p:nvPr/>
        </p:nvSpPr>
        <p:spPr>
          <a:xfrm>
            <a:off x="3867053" y="5810249"/>
            <a:ext cx="1600159" cy="390525"/>
          </a:xfrm>
          <a:prstGeom prst="roundRect">
            <a:avLst>
              <a:gd name="adj" fmla="val 9756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867053" y="5810249"/>
            <a:ext cx="1600159" cy="3905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19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Maintenance </a:t>
            </a:r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4009924" y="5909702"/>
            <a:ext cx="190495" cy="182095"/>
          </a:xfrm>
          <a:prstGeom prst="rect">
            <a:avLst/>
          </a:prstGeom>
        </p:spPr>
      </p:pic>
      <p:sp>
        <p:nvSpPr>
          <p:cNvPr id="43" name="Rounded Rectangle 42"/>
          <p:cNvSpPr/>
          <p:nvPr/>
        </p:nvSpPr>
        <p:spPr>
          <a:xfrm>
            <a:off x="5562460" y="5810249"/>
            <a:ext cx="1228694" cy="390525"/>
          </a:xfrm>
          <a:prstGeom prst="roundRect">
            <a:avLst>
              <a:gd name="adj" fmla="val 9756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562460" y="5810249"/>
            <a:ext cx="1228694" cy="3905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19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Booking </a:t>
            </a:r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5705332" y="5918106"/>
            <a:ext cx="190495" cy="165286"/>
          </a:xfrm>
          <a:prstGeom prst="rect">
            <a:avLst/>
          </a:prstGeom>
        </p:spPr>
      </p:pic>
      <p:sp>
        <p:nvSpPr>
          <p:cNvPr id="46" name="Rounded Rectangle 45"/>
          <p:cNvSpPr/>
          <p:nvPr/>
        </p:nvSpPr>
        <p:spPr>
          <a:xfrm>
            <a:off x="6886402" y="5810249"/>
            <a:ext cx="1257268" cy="390525"/>
          </a:xfrm>
          <a:prstGeom prst="roundRect">
            <a:avLst>
              <a:gd name="adj" fmla="val 9756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886402" y="5810249"/>
            <a:ext cx="1257268" cy="3905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19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Tracking </a:t>
            </a:r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7029274" y="5919507"/>
            <a:ext cx="190495" cy="162485"/>
          </a:xfrm>
          <a:prstGeom prst="rect">
            <a:avLst/>
          </a:prstGeom>
        </p:spPr>
      </p:pic>
      <p:sp>
        <p:nvSpPr>
          <p:cNvPr id="49" name="Rounded Rectangle 48"/>
          <p:cNvSpPr/>
          <p:nvPr/>
        </p:nvSpPr>
        <p:spPr>
          <a:xfrm>
            <a:off x="666733" y="6819900"/>
            <a:ext cx="10858228" cy="2600325"/>
          </a:xfrm>
          <a:prstGeom prst="roundRect">
            <a:avLst>
              <a:gd name="adj" fmla="val 586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 Same Side Corner Rectangle 49"/>
          <p:cNvSpPr/>
          <p:nvPr/>
        </p:nvSpPr>
        <p:spPr>
          <a:xfrm rot="16200000">
            <a:off x="-567389" y="8054022"/>
            <a:ext cx="26003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942951" y="7058025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42951" y="7058025"/>
            <a:ext cx="380990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514437" y="7058025"/>
            <a:ext cx="9772405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Connected Car Platform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514437" y="7496174"/>
            <a:ext cx="9772405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975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A system that provides over-the-air updates, collects vehicle telemetry, enables remote features, and integrates with smart home devices.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514437" y="8172450"/>
            <a:ext cx="9772405" cy="1009649"/>
          </a:xfrm>
          <a:prstGeom prst="roundRect">
            <a:avLst>
              <a:gd name="adj" fmla="val 15094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657308" y="8315325"/>
            <a:ext cx="9486662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196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196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Identify the domains </a:t>
            </a:r>
          </a:p>
        </p:txBody>
      </p:sp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657308" y="8350567"/>
            <a:ext cx="228594" cy="177164"/>
          </a:xfrm>
          <a:prstGeom prst="rect">
            <a:avLst/>
          </a:prstGeom>
        </p:spPr>
      </p:pic>
      <p:sp>
        <p:nvSpPr>
          <p:cNvPr id="58" name="Rounded Rectangle 57"/>
          <p:cNvSpPr/>
          <p:nvPr/>
        </p:nvSpPr>
        <p:spPr>
          <a:xfrm>
            <a:off x="1657308" y="8648699"/>
            <a:ext cx="1600159" cy="390525"/>
          </a:xfrm>
          <a:prstGeom prst="roundRect">
            <a:avLst>
              <a:gd name="adj" fmla="val 9756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657308" y="8648699"/>
            <a:ext cx="1600159" cy="3905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19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OTA Updates </a:t>
            </a:r>
          </a:p>
        </p:txBody>
      </p:sp>
      <p:pic>
        <p:nvPicPr>
          <p:cNvPr id="60" name="Picture 59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1800179" y="8749552"/>
            <a:ext cx="190495" cy="179294"/>
          </a:xfrm>
          <a:prstGeom prst="rect">
            <a:avLst/>
          </a:prstGeom>
        </p:spPr>
      </p:pic>
      <p:sp>
        <p:nvSpPr>
          <p:cNvPr id="61" name="Rounded Rectangle 60"/>
          <p:cNvSpPr/>
          <p:nvPr/>
        </p:nvSpPr>
        <p:spPr>
          <a:xfrm>
            <a:off x="3352716" y="8648699"/>
            <a:ext cx="1381090" cy="390525"/>
          </a:xfrm>
          <a:prstGeom prst="roundRect">
            <a:avLst>
              <a:gd name="adj" fmla="val 9756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352716" y="8648699"/>
            <a:ext cx="1381090" cy="3905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19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Telemetry </a:t>
            </a:r>
          </a:p>
        </p:txBody>
      </p:sp>
      <p:pic>
        <p:nvPicPr>
          <p:cNvPr id="63" name="Picture 62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3495587" y="8777567"/>
            <a:ext cx="190495" cy="123264"/>
          </a:xfrm>
          <a:prstGeom prst="rect">
            <a:avLst/>
          </a:prstGeom>
        </p:spPr>
      </p:pic>
      <p:sp>
        <p:nvSpPr>
          <p:cNvPr id="64" name="Rounded Rectangle 63"/>
          <p:cNvSpPr/>
          <p:nvPr/>
        </p:nvSpPr>
        <p:spPr>
          <a:xfrm>
            <a:off x="4819529" y="8648699"/>
            <a:ext cx="4314717" cy="390525"/>
          </a:xfrm>
          <a:prstGeom prst="roundRect">
            <a:avLst>
              <a:gd name="adj" fmla="val 9756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819529" y="8648699"/>
            <a:ext cx="4314717" cy="3905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19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Remote Control </a:t>
            </a:r>
          </a:p>
        </p:txBody>
      </p:sp>
      <p:pic>
        <p:nvPicPr>
          <p:cNvPr id="66" name="Picture 65" descr="image.png"/>
          <p:cNvPicPr>
            <a:picLocks noChangeAspect="1"/>
          </p:cNvPicPr>
          <p:nvPr/>
        </p:nvPicPr>
        <p:blipFill>
          <a:blip r:embed="rId14">
            <a:alphaModFix amt="100000"/>
          </a:blip>
          <a:stretch>
            <a:fillRect/>
          </a:stretch>
        </p:blipFill>
        <p:spPr>
          <a:xfrm>
            <a:off x="5286242" y="8743950"/>
            <a:ext cx="2019249" cy="190499"/>
          </a:xfrm>
          <a:prstGeom prst="rect">
            <a:avLst/>
          </a:prstGeom>
        </p:spPr>
      </p:pic>
      <p:sp>
        <p:nvSpPr>
          <p:cNvPr id="67" name="Rounded Rectangle 66"/>
          <p:cNvSpPr/>
          <p:nvPr/>
        </p:nvSpPr>
        <p:spPr>
          <a:xfrm>
            <a:off x="9229494" y="8648699"/>
            <a:ext cx="1581110" cy="390525"/>
          </a:xfrm>
          <a:prstGeom prst="roundRect">
            <a:avLst>
              <a:gd name="adj" fmla="val 9756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229494" y="8648699"/>
            <a:ext cx="1581110" cy="3905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19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Smart Home </a:t>
            </a:r>
          </a:p>
        </p:txBody>
      </p:sp>
      <p:pic>
        <p:nvPicPr>
          <p:cNvPr id="69" name="Picture 68" descr="image.png"/>
          <p:cNvPicPr>
            <a:picLocks noChangeAspect="1"/>
          </p:cNvPicPr>
          <p:nvPr/>
        </p:nvPicPr>
        <p:blipFill>
          <a:blip r:embed="rId15">
            <a:alphaModFix amt="100000"/>
          </a:blip>
          <a:stretch>
            <a:fillRect/>
          </a:stretch>
        </p:blipFill>
        <p:spPr>
          <a:xfrm>
            <a:off x="9372365" y="8766361"/>
            <a:ext cx="190495" cy="145676"/>
          </a:xfrm>
          <a:prstGeom prst="rect">
            <a:avLst/>
          </a:prstGeom>
        </p:spPr>
      </p:pic>
      <p:sp>
        <p:nvSpPr>
          <p:cNvPr id="70" name="Rectangle 69"/>
          <p:cNvSpPr/>
          <p:nvPr/>
        </p:nvSpPr>
        <p:spPr>
          <a:xfrm>
            <a:off x="0" y="9705974"/>
            <a:ext cx="12191695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66733" y="9848849"/>
            <a:ext cx="3590835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The CPSA® Advanced Level Module DDD – iSAQB® Training Course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077098" y="9848849"/>
            <a:ext cx="2447863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Volkswagen Group India | 22 December 2025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3350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33" y="190499"/>
            <a:ext cx="10858228" cy="9524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LG 1-1: Scenarios and Solutions - When to Prioritize Domain Understanding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6733" y="1619250"/>
            <a:ext cx="10858228" cy="1819275"/>
          </a:xfrm>
          <a:prstGeom prst="roundRect">
            <a:avLst>
              <a:gd name="adj" fmla="val 8376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 Same Side Corner Rectangle 4"/>
          <p:cNvSpPr/>
          <p:nvPr/>
        </p:nvSpPr>
        <p:spPr>
          <a:xfrm rot="16200000">
            <a:off x="-176864" y="2462847"/>
            <a:ext cx="18192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4832" y="1619250"/>
            <a:ext cx="666733" cy="1819275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66753" y="2400628"/>
            <a:ext cx="342891" cy="26604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609684" y="1809749"/>
            <a:ext cx="3676558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Complex Business Rules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9684" y="2200275"/>
            <a:ext cx="3676558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Systems with intricate business logic that directly impacts core functionality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76758" y="1809749"/>
            <a:ext cx="561008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Approach 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5676758" y="1845944"/>
            <a:ext cx="228594" cy="194309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5676758" y="2233332"/>
            <a:ext cx="190495" cy="16248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981550" y="2219324"/>
            <a:ext cx="388610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Deep domain modeling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before implementation 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81550" y="2209800"/>
            <a:ext cx="2009724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5676758" y="2614332"/>
            <a:ext cx="190495" cy="16248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981550" y="2600325"/>
            <a:ext cx="381942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Collaborative workshops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with domain experts 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81550" y="2590799"/>
            <a:ext cx="2152596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5676758" y="2995332"/>
            <a:ext cx="190495" cy="16248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981550" y="2981325"/>
            <a:ext cx="314317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Iterative refinement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of domain model 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81550" y="2971800"/>
            <a:ext cx="1752556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66733" y="3629025"/>
            <a:ext cx="10858228" cy="1819275"/>
          </a:xfrm>
          <a:prstGeom prst="roundRect">
            <a:avLst>
              <a:gd name="adj" fmla="val 8376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-176864" y="4472622"/>
            <a:ext cx="18192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04832" y="3629025"/>
            <a:ext cx="666733" cy="1819275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66753" y="4442262"/>
            <a:ext cx="342891" cy="18327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609684" y="3819524"/>
            <a:ext cx="3676558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Cross-Team Collaboration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09684" y="4210049"/>
            <a:ext cx="3676558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Multiple teams working on interconnected vehicle subsystems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76758" y="3819524"/>
            <a:ext cx="561008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Approach 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5676758" y="3855720"/>
            <a:ext cx="228594" cy="194309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5676758" y="4243107"/>
            <a:ext cx="190495" cy="162485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981550" y="4229100"/>
            <a:ext cx="342891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Clear domain boundaries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between teams 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81550" y="4219575"/>
            <a:ext cx="2171645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5676758" y="4624107"/>
            <a:ext cx="190495" cy="162485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5981550" y="4610099"/>
            <a:ext cx="272408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Shared vocabulary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across teams 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81550" y="4600575"/>
            <a:ext cx="1647783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5676758" y="5005107"/>
            <a:ext cx="190495" cy="162485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981550" y="4991100"/>
            <a:ext cx="320984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Integration patterns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between domains 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981550" y="4981574"/>
            <a:ext cx="1752556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66733" y="5638799"/>
            <a:ext cx="10858228" cy="1819275"/>
          </a:xfrm>
          <a:prstGeom prst="roundRect">
            <a:avLst>
              <a:gd name="adj" fmla="val 8376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 Same Side Corner Rectangle 38"/>
          <p:cNvSpPr/>
          <p:nvPr/>
        </p:nvSpPr>
        <p:spPr>
          <a:xfrm rot="16200000">
            <a:off x="-176864" y="6482396"/>
            <a:ext cx="18192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04832" y="5638799"/>
            <a:ext cx="666733" cy="1819275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66753" y="6420178"/>
            <a:ext cx="342891" cy="266043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1609684" y="5829300"/>
            <a:ext cx="3676558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Evolving Requirements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609684" y="6219825"/>
            <a:ext cx="3676558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Systems with frequent changes to business rules and functionality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76758" y="5829300"/>
            <a:ext cx="561008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Approach </a:t>
            </a:r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5676758" y="5865495"/>
            <a:ext cx="228594" cy="194309"/>
          </a:xfrm>
          <a:prstGeom prst="rect">
            <a:avLst/>
          </a:prstGeom>
        </p:spPr>
      </p:pic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5676758" y="6252882"/>
            <a:ext cx="190495" cy="162485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5981550" y="6238874"/>
            <a:ext cx="374323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Flexible domain model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that adapts to change 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981550" y="6229350"/>
            <a:ext cx="1981150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5676758" y="6633882"/>
            <a:ext cx="190495" cy="162485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5981550" y="6619875"/>
            <a:ext cx="328604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Strategic design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to isolate volatile areas 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981550" y="6610349"/>
            <a:ext cx="1419189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5676758" y="7014882"/>
            <a:ext cx="190495" cy="162485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5981550" y="7000875"/>
            <a:ext cx="360035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Continuous alignment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with domain experts 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981550" y="6991350"/>
            <a:ext cx="1933526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0" y="7743825"/>
            <a:ext cx="12191695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66733" y="7886700"/>
            <a:ext cx="3590835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The CPSA® Advanced Level Module DDD – iSAQB® Training Course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077098" y="7886700"/>
            <a:ext cx="2447863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Volkswagen Group India | 22 December 2025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5725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33" y="190499"/>
            <a:ext cx="10858228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LG 1-1: Self-Study Resources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6733" y="1143000"/>
            <a:ext cx="5314817" cy="2981325"/>
          </a:xfrm>
          <a:prstGeom prst="roundRect">
            <a:avLst>
              <a:gd name="adj" fmla="val 5111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 Same Side Corner Rectangle 4"/>
          <p:cNvSpPr/>
          <p:nvPr/>
        </p:nvSpPr>
        <p:spPr>
          <a:xfrm rot="16200000">
            <a:off x="-757889" y="2567622"/>
            <a:ext cx="29813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42951" y="1381124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047723" y="1519237"/>
            <a:ext cx="266693" cy="2000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62060" y="1466849"/>
            <a:ext cx="609584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Books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42951" y="2059080"/>
            <a:ext cx="190495" cy="16808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47743" y="2047874"/>
            <a:ext cx="4495687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Domain-Driven 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47743" y="2324100"/>
            <a:ext cx="4495687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Eric Evans - </a:t>
            </a:r>
            <a:r>
              <a:rPr sz="107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Foundational text</a:t>
            </a:r>
            <a:r>
              <a:rPr sz="107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on DDD principles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095447" y="2314575"/>
            <a:ext cx="1419189" cy="257175"/>
          </a:xfrm>
          <a:prstGeom prst="roundRect">
            <a:avLst>
              <a:gd name="adj" fmla="val 29629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42951" y="2716305"/>
            <a:ext cx="190495" cy="16808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247743" y="2705099"/>
            <a:ext cx="4495687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Implementing DDD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47743" y="2981325"/>
            <a:ext cx="4495687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Vaughn Vernon - </a:t>
            </a:r>
            <a:r>
              <a:rPr sz="107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Practical guide</a:t>
            </a:r>
            <a:r>
              <a:rPr sz="107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with code examples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47863" y="2971800"/>
            <a:ext cx="1209644" cy="257175"/>
          </a:xfrm>
          <a:prstGeom prst="roundRect">
            <a:avLst>
              <a:gd name="adj" fmla="val 29629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42951" y="3373530"/>
            <a:ext cx="190495" cy="16808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247743" y="3362324"/>
            <a:ext cx="4495687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Patterns, Principles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47743" y="3638550"/>
            <a:ext cx="4495687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Martin Fowler - </a:t>
            </a:r>
            <a:r>
              <a:rPr sz="107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Analysis patterns</a:t>
            </a:r>
            <a:r>
              <a:rPr sz="107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for domain modeling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352616" y="3629025"/>
            <a:ext cx="1371565" cy="257175"/>
          </a:xfrm>
          <a:prstGeom prst="roundRect">
            <a:avLst>
              <a:gd name="adj" fmla="val 29629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10144" y="1143000"/>
            <a:ext cx="5314817" cy="2981325"/>
          </a:xfrm>
          <a:prstGeom prst="roundRect">
            <a:avLst>
              <a:gd name="adj" fmla="val 5111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4785522" y="2567622"/>
            <a:ext cx="29813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95887" y="1381124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591135" y="1514889"/>
            <a:ext cx="266693" cy="208721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105472" y="1466849"/>
            <a:ext cx="733406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Articles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495887" y="2061882"/>
            <a:ext cx="190495" cy="16248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800679" y="2047874"/>
            <a:ext cx="4495687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Domain Modeling Made Functional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00679" y="2324100"/>
            <a:ext cx="4495687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Scott Wlaschin - </a:t>
            </a:r>
            <a:r>
              <a:rPr sz="107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Functional approach</a:t>
            </a:r>
            <a:r>
              <a:rPr sz="107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to domain modeling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62700" y="2314575"/>
            <a:ext cx="1628734" cy="257175"/>
          </a:xfrm>
          <a:prstGeom prst="roundRect">
            <a:avLst>
              <a:gd name="adj" fmla="val 29629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495887" y="2719107"/>
            <a:ext cx="190495" cy="162485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800679" y="2705099"/>
            <a:ext cx="4495687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Strategic DDD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00679" y="2981325"/>
            <a:ext cx="4495687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Alberto Brandolini - </a:t>
            </a:r>
            <a:r>
              <a:rPr sz="107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Bounded contexts</a:t>
            </a:r>
            <a:r>
              <a:rPr sz="107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and context mapping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19869" y="2971800"/>
            <a:ext cx="1438239" cy="257175"/>
          </a:xfrm>
          <a:prstGeom prst="roundRect">
            <a:avLst>
              <a:gd name="adj" fmla="val 29629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495887" y="3376332"/>
            <a:ext cx="190495" cy="162485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800679" y="3362324"/>
            <a:ext cx="4495687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Modeling in DDD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00679" y="3638550"/>
            <a:ext cx="4495687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Udi Dahan - </a:t>
            </a:r>
            <a:r>
              <a:rPr sz="107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Domain events</a:t>
            </a:r>
            <a:r>
              <a:rPr sz="107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and message-based systems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667433" y="3629025"/>
            <a:ext cx="1209644" cy="257175"/>
          </a:xfrm>
          <a:prstGeom prst="roundRect">
            <a:avLst>
              <a:gd name="adj" fmla="val 29629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66733" y="4362450"/>
            <a:ext cx="5314817" cy="2981325"/>
          </a:xfrm>
          <a:prstGeom prst="roundRect">
            <a:avLst>
              <a:gd name="adj" fmla="val 5111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 Same Side Corner Rectangle 38"/>
          <p:cNvSpPr/>
          <p:nvPr/>
        </p:nvSpPr>
        <p:spPr>
          <a:xfrm rot="16200000">
            <a:off x="-757889" y="5787072"/>
            <a:ext cx="29813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942951" y="4600575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1047723" y="4743035"/>
            <a:ext cx="266693" cy="191328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1562060" y="4686300"/>
            <a:ext cx="1695407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Online Resources</a:t>
            </a:r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942951" y="5281332"/>
            <a:ext cx="190495" cy="162485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1247743" y="5267324"/>
            <a:ext cx="4495687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DDD Community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47743" y="5543550"/>
            <a:ext cx="4495687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Active community with </a:t>
            </a:r>
            <a:r>
              <a:rPr sz="107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forums, events</a:t>
            </a:r>
            <a:r>
              <a:rPr sz="107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and resources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924101" y="5534025"/>
            <a:ext cx="1209644" cy="257175"/>
          </a:xfrm>
          <a:prstGeom prst="roundRect">
            <a:avLst>
              <a:gd name="adj" fmla="val 29629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942951" y="5938557"/>
            <a:ext cx="190495" cy="162485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1247743" y="5924549"/>
            <a:ext cx="4495687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DDD-Crew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47743" y="6200775"/>
            <a:ext cx="4495687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Free resources, patterns, and </a:t>
            </a:r>
            <a:r>
              <a:rPr sz="107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practical examples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343191" y="6191250"/>
            <a:ext cx="1495387" cy="257175"/>
          </a:xfrm>
          <a:prstGeom prst="roundRect">
            <a:avLst>
              <a:gd name="adj" fmla="val 29629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942951" y="6595782"/>
            <a:ext cx="190495" cy="162485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1247743" y="6581774"/>
            <a:ext cx="4495687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EventStorming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247743" y="6858000"/>
            <a:ext cx="4495687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Tools and techniques for </a:t>
            </a:r>
            <a:r>
              <a:rPr sz="107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collaborative modeling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038399" y="6848475"/>
            <a:ext cx="1809704" cy="257175"/>
          </a:xfrm>
          <a:prstGeom prst="roundRect">
            <a:avLst>
              <a:gd name="adj" fmla="val 29629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6210144" y="4362450"/>
            <a:ext cx="5314817" cy="2981325"/>
          </a:xfrm>
          <a:prstGeom prst="roundRect">
            <a:avLst>
              <a:gd name="adj" fmla="val 5111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 Same Side Corner Rectangle 55"/>
          <p:cNvSpPr/>
          <p:nvPr/>
        </p:nvSpPr>
        <p:spPr>
          <a:xfrm rot="16200000">
            <a:off x="4785522" y="5787072"/>
            <a:ext cx="29813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6495887" y="4600575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6591135" y="4725642"/>
            <a:ext cx="266693" cy="226115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7105472" y="4686300"/>
            <a:ext cx="1381090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Video Courses</a:t>
            </a:r>
          </a:p>
        </p:txBody>
      </p:sp>
      <p:pic>
        <p:nvPicPr>
          <p:cNvPr id="60" name="Picture 59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495887" y="5281332"/>
            <a:ext cx="190495" cy="162485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6800679" y="5267324"/>
            <a:ext cx="4495687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DDD Fundamentals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800679" y="5543550"/>
            <a:ext cx="4495687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Julie Lerman - </a:t>
            </a:r>
            <a:r>
              <a:rPr sz="107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Entity Framework</a:t>
            </a:r>
            <a:r>
              <a:rPr sz="107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with DDD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848403" y="5534025"/>
            <a:ext cx="1428714" cy="257175"/>
          </a:xfrm>
          <a:prstGeom prst="roundRect">
            <a:avLst>
              <a:gd name="adj" fmla="val 29629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4" name="Picture 63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495887" y="5938557"/>
            <a:ext cx="190495" cy="162485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6800679" y="5924549"/>
            <a:ext cx="4495687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Advanced DDD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800679" y="6200775"/>
            <a:ext cx="4495687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Vladimir Khorikov - </a:t>
            </a:r>
            <a:r>
              <a:rPr sz="107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Practical patterns</a:t>
            </a:r>
            <a:r>
              <a:rPr sz="107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and refactoring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8191295" y="6191250"/>
            <a:ext cx="1409664" cy="257175"/>
          </a:xfrm>
          <a:prstGeom prst="roundRect">
            <a:avLst>
              <a:gd name="adj" fmla="val 29629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8" name="Picture 67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495887" y="6595782"/>
            <a:ext cx="190495" cy="162485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6800679" y="6581774"/>
            <a:ext cx="4495687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DDD in Practice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800679" y="6858000"/>
            <a:ext cx="4495687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Jimmy Bogard - </a:t>
            </a:r>
            <a:r>
              <a:rPr sz="107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Real-world applications</a:t>
            </a:r>
            <a:r>
              <a:rPr sz="107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and patterns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7953176" y="6848475"/>
            <a:ext cx="1857328" cy="257175"/>
          </a:xfrm>
          <a:prstGeom prst="roundRect">
            <a:avLst>
              <a:gd name="adj" fmla="val 29629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0" y="7619999"/>
            <a:ext cx="12191695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66733" y="7762874"/>
            <a:ext cx="3590835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The CPSA® Advanced Level Module DDD – iSAQB® Training Course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077098" y="7762874"/>
            <a:ext cx="2447863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Volkswagen Group India | 22 December 2025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5725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33" y="190499"/>
            <a:ext cx="10858228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LG 1-2: Introduction - Building Intuition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733" y="1143000"/>
            <a:ext cx="5286242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674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674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Communication Challenges 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1191357"/>
            <a:ext cx="304792" cy="24618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66733" y="1866899"/>
            <a:ext cx="5286242" cy="4248150"/>
          </a:xfrm>
          <a:prstGeom prst="roundRect">
            <a:avLst>
              <a:gd name="adj" fmla="val 3587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-1391302" y="3924934"/>
            <a:ext cx="42481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2951" y="2105024"/>
            <a:ext cx="4771905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Lost in Translation 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42951" y="2134842"/>
            <a:ext cx="266693" cy="22611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42951" y="2586037"/>
            <a:ext cx="228594" cy="1428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14417" y="2543175"/>
            <a:ext cx="317174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Different vocabularies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between teams 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14417" y="2533649"/>
            <a:ext cx="1924001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42951" y="2995612"/>
            <a:ext cx="228594" cy="14287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314417" y="2952750"/>
            <a:ext cx="401944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Misinterpreted requirements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due to terminology 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14417" y="2943225"/>
            <a:ext cx="2466913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42951" y="3405187"/>
            <a:ext cx="228594" cy="14287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314417" y="3362324"/>
            <a:ext cx="427661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Implementation gaps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from misunderstood concepts 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14417" y="3352800"/>
            <a:ext cx="1857328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42951" y="3814762"/>
            <a:ext cx="228594" cy="14287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314417" y="3771900"/>
            <a:ext cx="228594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Endless clarification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cycles 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14417" y="3762374"/>
            <a:ext cx="1762080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8719" y="1143000"/>
            <a:ext cx="5286242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674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674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Automotive Impact 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238719" y="1208942"/>
            <a:ext cx="304792" cy="211015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6238719" y="1866899"/>
            <a:ext cx="5286242" cy="2000250"/>
          </a:xfrm>
          <a:prstGeom prst="roundRect">
            <a:avLst>
              <a:gd name="adj" fmla="val 7619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 Same Side Corner Rectangle 24"/>
          <p:cNvSpPr/>
          <p:nvPr/>
        </p:nvSpPr>
        <p:spPr>
          <a:xfrm rot="16200000">
            <a:off x="5304634" y="2800984"/>
            <a:ext cx="20002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14937" y="2105024"/>
            <a:ext cx="4771905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Real-World Consequences 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514937" y="2120347"/>
            <a:ext cx="266693" cy="255104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514937" y="2560320"/>
            <a:ext cx="228594" cy="194309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886402" y="2543175"/>
            <a:ext cx="408612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Feature delays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from misunderstood requirements 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86402" y="2533649"/>
            <a:ext cx="1304892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514937" y="2969895"/>
            <a:ext cx="228594" cy="194309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886402" y="2952750"/>
            <a:ext cx="368608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Integration failures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between vehicle systems 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86402" y="2943225"/>
            <a:ext cx="1676358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514937" y="3379470"/>
            <a:ext cx="228594" cy="194309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886402" y="3362324"/>
            <a:ext cx="439091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User experience issues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from inconsistent terminology 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886402" y="3352800"/>
            <a:ext cx="1952576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238719" y="4105274"/>
            <a:ext cx="5286242" cy="2009774"/>
          </a:xfrm>
          <a:prstGeom prst="roundRect">
            <a:avLst>
              <a:gd name="adj" fmla="val 7582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8686582" y="4444603"/>
            <a:ext cx="380990" cy="178593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476838" y="4867274"/>
            <a:ext cx="4810004" cy="63817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lnSpc>
                <a:spcPts val="2145"/>
              </a:lnSpc>
              <a:spcBef>
                <a:spcPts val="0"/>
              </a:spcBef>
              <a:spcAft>
                <a:spcPts val="975"/>
              </a:spcAft>
            </a:pPr>
            <a:r>
              <a:rPr sz="1435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"The most important thing about communication is hearing what isn't said."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53216" y="5657850"/>
            <a:ext cx="1057248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- Peter Drucker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6733" y="6543675"/>
            <a:ext cx="3590835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The CPSA® Advanced Level Module DDD – iSAQB® Training Course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77098" y="6543675"/>
            <a:ext cx="2447863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Volkswagen Group India | 22 December 2025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3350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33" y="190499"/>
            <a:ext cx="10858228" cy="9524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LG 1-2: Context - Communication Challenges in Software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733" y="1619250"/>
            <a:ext cx="5286242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674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674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Communication Barriers 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1682261"/>
            <a:ext cx="304792" cy="21687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66733" y="2343150"/>
            <a:ext cx="5286242" cy="2000250"/>
          </a:xfrm>
          <a:prstGeom prst="roundRect">
            <a:avLst>
              <a:gd name="adj" fmla="val 7619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-267352" y="3277235"/>
            <a:ext cx="20002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2951" y="2581275"/>
            <a:ext cx="4771905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Terminology Gaps 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42951" y="2611092"/>
            <a:ext cx="266693" cy="22611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42951" y="3062287"/>
            <a:ext cx="228594" cy="1428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14417" y="3019424"/>
            <a:ext cx="275265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Different terms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for same concept 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14417" y="3009900"/>
            <a:ext cx="1352516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42951" y="3471862"/>
            <a:ext cx="228594" cy="14287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314417" y="3429000"/>
            <a:ext cx="320984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Technical jargon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vs. business language 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14417" y="3419474"/>
            <a:ext cx="1447763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42951" y="3881437"/>
            <a:ext cx="228594" cy="14287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314417" y="3838574"/>
            <a:ext cx="335271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Implicit assumptions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about terminology 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14417" y="3829050"/>
            <a:ext cx="1828754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66733" y="4581524"/>
            <a:ext cx="5286242" cy="2000250"/>
          </a:xfrm>
          <a:prstGeom prst="roundRect">
            <a:avLst>
              <a:gd name="adj" fmla="val 7619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 Same Side Corner Rectangle 19"/>
          <p:cNvSpPr/>
          <p:nvPr/>
        </p:nvSpPr>
        <p:spPr>
          <a:xfrm rot="16200000">
            <a:off x="-267352" y="5515609"/>
            <a:ext cx="20002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2951" y="4819650"/>
            <a:ext cx="4771905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Team Silos 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942951" y="4899577"/>
            <a:ext cx="266693" cy="14494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42951" y="5300662"/>
            <a:ext cx="228594" cy="14287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314417" y="5257800"/>
            <a:ext cx="320031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Specialized vocabularies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within teams 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14417" y="5248275"/>
            <a:ext cx="2133546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42951" y="5710237"/>
            <a:ext cx="228594" cy="14287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314417" y="5667374"/>
            <a:ext cx="340986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Lack of shared context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between domains 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14417" y="5657850"/>
            <a:ext cx="1943051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42951" y="6119812"/>
            <a:ext cx="228594" cy="142875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314417" y="6076950"/>
            <a:ext cx="339081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Inconsistent terminology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across projects 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314417" y="6067424"/>
            <a:ext cx="2162120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38719" y="1619250"/>
            <a:ext cx="5286242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674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674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Automotive Impact 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238719" y="1685192"/>
            <a:ext cx="304792" cy="211015"/>
          </a:xfrm>
          <a:prstGeom prst="rect">
            <a:avLst/>
          </a:prstGeom>
        </p:spPr>
      </p:pic>
      <p:sp>
        <p:nvSpPr>
          <p:cNvPr id="34" name="Rounded Rectangle 33"/>
          <p:cNvSpPr/>
          <p:nvPr/>
        </p:nvSpPr>
        <p:spPr>
          <a:xfrm>
            <a:off x="6238719" y="2343150"/>
            <a:ext cx="5286242" cy="2057400"/>
          </a:xfrm>
          <a:prstGeom prst="roundRect">
            <a:avLst>
              <a:gd name="adj" fmla="val 7407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 Same Side Corner Rectangle 34"/>
          <p:cNvSpPr/>
          <p:nvPr/>
        </p:nvSpPr>
        <p:spPr>
          <a:xfrm rot="16200000">
            <a:off x="5276059" y="3305810"/>
            <a:ext cx="20574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14937" y="2581275"/>
            <a:ext cx="4771905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Development Consequences 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514937" y="2596597"/>
            <a:ext cx="266693" cy="255104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6514937" y="3036570"/>
            <a:ext cx="228594" cy="194309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886402" y="3019424"/>
            <a:ext cx="408612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Feature delays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from misunderstood requirements 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886402" y="3009900"/>
            <a:ext cx="1304892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6514937" y="3446145"/>
            <a:ext cx="228594" cy="194309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6886402" y="3429000"/>
            <a:ext cx="368608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Integration failures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between vehicle systems 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886402" y="3419474"/>
            <a:ext cx="1676358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6514937" y="3855720"/>
            <a:ext cx="228594" cy="194309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6886402" y="3838574"/>
            <a:ext cx="380990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Inconsistent user experience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across interfaces 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886402" y="3829050"/>
            <a:ext cx="2447863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238719" y="4638674"/>
            <a:ext cx="5286242" cy="1943100"/>
          </a:xfrm>
          <a:prstGeom prst="roundRect">
            <a:avLst>
              <a:gd name="adj" fmla="val 7843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8686582" y="4921448"/>
            <a:ext cx="380990" cy="291703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6476838" y="5400675"/>
            <a:ext cx="4810004" cy="8762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"The same feature implemented by different teams often uses different terminology, creating confusion for both developers and users."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6867524"/>
            <a:ext cx="12191695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66733" y="7010399"/>
            <a:ext cx="3590835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The CPSA® Advanced Level Module DDD – iSAQB® Training Course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77098" y="7010399"/>
            <a:ext cx="2447863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Volkswagen Group India | 22 December 2025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5725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33" y="190499"/>
            <a:ext cx="10858228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LG 1-2: Purpose - Why Ubiquitous Language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733" y="1143000"/>
            <a:ext cx="5286242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674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674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Key Benefits 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1185496"/>
            <a:ext cx="304792" cy="25790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66733" y="1866899"/>
            <a:ext cx="5286242" cy="2266950"/>
          </a:xfrm>
          <a:prstGeom prst="roundRect">
            <a:avLst>
              <a:gd name="adj" fmla="val 6722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-400702" y="2934334"/>
            <a:ext cx="22669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2951" y="2105024"/>
            <a:ext cx="4771905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Shared Understanding 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42951" y="2134842"/>
            <a:ext cx="266693" cy="22611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42951" y="2560320"/>
            <a:ext cx="228594" cy="19430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14417" y="2543175"/>
            <a:ext cx="288600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Common vocabulary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across teams 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14417" y="2533649"/>
            <a:ext cx="1809704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42951" y="2969895"/>
            <a:ext cx="228594" cy="19430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314417" y="2952750"/>
            <a:ext cx="4400439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Precise communication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between experts and developers 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14417" y="2943225"/>
            <a:ext cx="2028774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42951" y="3646170"/>
            <a:ext cx="228594" cy="19430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314417" y="3629025"/>
            <a:ext cx="299077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Reduced ambiguity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in requirements 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14417" y="3619499"/>
            <a:ext cx="1695407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66733" y="4371975"/>
            <a:ext cx="5286242" cy="2266950"/>
          </a:xfrm>
          <a:prstGeom prst="roundRect">
            <a:avLst>
              <a:gd name="adj" fmla="val 6722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 Same Side Corner Rectangle 19"/>
          <p:cNvSpPr/>
          <p:nvPr/>
        </p:nvSpPr>
        <p:spPr>
          <a:xfrm rot="16200000">
            <a:off x="-400702" y="5439410"/>
            <a:ext cx="22669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2951" y="4610099"/>
            <a:ext cx="4771905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Implementation Benefits 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942951" y="4690027"/>
            <a:ext cx="266693" cy="14494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42951" y="5065395"/>
            <a:ext cx="228594" cy="194309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314417" y="5048250"/>
            <a:ext cx="386705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Consistent naming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in code and documentation 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14417" y="5038724"/>
            <a:ext cx="1638259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42951" y="5474969"/>
            <a:ext cx="228594" cy="19430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314417" y="5457825"/>
            <a:ext cx="4400439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Better domain modeling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through precise terminology 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14417" y="5448300"/>
            <a:ext cx="2104972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42951" y="6151245"/>
            <a:ext cx="228594" cy="194309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314417" y="6134100"/>
            <a:ext cx="362893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Simplified maintenance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with clear concepts 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314417" y="6124574"/>
            <a:ext cx="2057348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38719" y="1143000"/>
            <a:ext cx="5286242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674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674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Automotive Impact 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238719" y="1208942"/>
            <a:ext cx="304792" cy="211015"/>
          </a:xfrm>
          <a:prstGeom prst="rect">
            <a:avLst/>
          </a:prstGeom>
        </p:spPr>
      </p:pic>
      <p:sp>
        <p:nvSpPr>
          <p:cNvPr id="34" name="Rounded Rectangle 33"/>
          <p:cNvSpPr/>
          <p:nvPr/>
        </p:nvSpPr>
        <p:spPr>
          <a:xfrm>
            <a:off x="6238719" y="1866899"/>
            <a:ext cx="5286242" cy="2105024"/>
          </a:xfrm>
          <a:prstGeom prst="roundRect">
            <a:avLst>
              <a:gd name="adj" fmla="val 7239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 Same Side Corner Rectangle 34"/>
          <p:cNvSpPr/>
          <p:nvPr/>
        </p:nvSpPr>
        <p:spPr>
          <a:xfrm rot="16200000">
            <a:off x="5252247" y="2853371"/>
            <a:ext cx="210502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14937" y="2105024"/>
            <a:ext cx="4771905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System Integration 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514937" y="2133392"/>
            <a:ext cx="266693" cy="229014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514937" y="2560320"/>
            <a:ext cx="228594" cy="194309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886402" y="2543175"/>
            <a:ext cx="367655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Clear interfaces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between vehicle subsystems 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886402" y="2533649"/>
            <a:ext cx="1381090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514937" y="2969895"/>
            <a:ext cx="228594" cy="194309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6886402" y="2952750"/>
            <a:ext cx="385752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Consistent terminology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across vehicle systems 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886402" y="2943225"/>
            <a:ext cx="2028774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514937" y="3379470"/>
            <a:ext cx="228594" cy="194309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6886402" y="3362324"/>
            <a:ext cx="391467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Simplified OTA updates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with shared vocabulary 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886402" y="3352800"/>
            <a:ext cx="2019249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238719" y="4210049"/>
            <a:ext cx="5286242" cy="2428875"/>
          </a:xfrm>
          <a:prstGeom prst="roundRect">
            <a:avLst>
              <a:gd name="adj" fmla="val 6274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8686582" y="4549378"/>
            <a:ext cx="380990" cy="178593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6476838" y="4972050"/>
            <a:ext cx="4810004" cy="96202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lnSpc>
                <a:spcPts val="2145"/>
              </a:lnSpc>
              <a:spcBef>
                <a:spcPts val="0"/>
              </a:spcBef>
              <a:spcAft>
                <a:spcPts val="975"/>
              </a:spcAft>
            </a:pPr>
            <a:r>
              <a:rPr sz="1435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"When a team shares a common language, the software becomes an extension of the domain experts' thinking."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86442" y="6076950"/>
            <a:ext cx="319079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- Eric Evans, Author of Domain-Driven Design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924674"/>
            <a:ext cx="12191695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66733" y="7067549"/>
            <a:ext cx="3590835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The CPSA® Advanced Level Module DDD – iSAQB® Training Course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077098" y="7067549"/>
            <a:ext cx="2447863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Volkswagen Group India | 22 December 2025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3350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33" y="190499"/>
            <a:ext cx="10858228" cy="9524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LG 1-2: Key Terminologies - Ubiquitous Language, Bounded Context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6733" y="1619250"/>
            <a:ext cx="10858228" cy="1495424"/>
          </a:xfrm>
          <a:prstGeom prst="roundRect">
            <a:avLst>
              <a:gd name="adj" fmla="val 10191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 Same Side Corner Rectangle 4"/>
          <p:cNvSpPr/>
          <p:nvPr/>
        </p:nvSpPr>
        <p:spPr>
          <a:xfrm rot="16200000">
            <a:off x="-14939" y="2300922"/>
            <a:ext cx="149542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4832" y="1619250"/>
            <a:ext cx="761980" cy="1495424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95327" y="2201465"/>
            <a:ext cx="380990" cy="3214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704932" y="1809749"/>
            <a:ext cx="3638459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674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Ubiquitous Language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04932" y="2247899"/>
            <a:ext cx="3638459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975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Shared vocabulary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between domain experts and developers 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04932" y="2238375"/>
            <a:ext cx="1647783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33906" y="1809749"/>
            <a:ext cx="555293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Automotive Examples 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5733906" y="1863089"/>
            <a:ext cx="228594" cy="16002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5733906" y="2185707"/>
            <a:ext cx="190495" cy="16248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19649" y="2171700"/>
            <a:ext cx="396230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Powertrain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- Torque, GearRatio, ThrottlePosition 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19649" y="2162174"/>
            <a:ext cx="1019149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5733906" y="2539252"/>
            <a:ext cx="190495" cy="17929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019649" y="2533649"/>
            <a:ext cx="442901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Infotainment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- Playlist, MediaSource, NavigationRoute 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19649" y="2524125"/>
            <a:ext cx="1190595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66733" y="3352800"/>
            <a:ext cx="10858228" cy="1638299"/>
          </a:xfrm>
          <a:prstGeom prst="roundRect">
            <a:avLst>
              <a:gd name="adj" fmla="val 9302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 Same Side Corner Rectangle 19"/>
          <p:cNvSpPr/>
          <p:nvPr/>
        </p:nvSpPr>
        <p:spPr>
          <a:xfrm rot="16200000">
            <a:off x="-86376" y="4105909"/>
            <a:ext cx="16382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832" y="3352800"/>
            <a:ext cx="761980" cy="1638299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95327" y="4011215"/>
            <a:ext cx="380990" cy="32146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704932" y="3543300"/>
            <a:ext cx="3638459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674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Bounded Context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04932" y="3981449"/>
            <a:ext cx="3638459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975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Explicit boundary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where a specific domain model applies 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704932" y="3971925"/>
            <a:ext cx="1552536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33906" y="3543300"/>
            <a:ext cx="555293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Context Examples 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733906" y="3588067"/>
            <a:ext cx="228594" cy="177164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5733906" y="3910852"/>
            <a:ext cx="190495" cy="179294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019649" y="3905249"/>
            <a:ext cx="484810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Safety Context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- Different meaning for "Brake" vs. "Parking" 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019649" y="3895724"/>
            <a:ext cx="1304892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5733906" y="4281207"/>
            <a:ext cx="190495" cy="162485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019649" y="4267199"/>
            <a:ext cx="5267193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Powertrain Context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- Specific terminology for engine components 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019649" y="4257675"/>
            <a:ext cx="1695407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6733" y="6543675"/>
            <a:ext cx="3590835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The CPSA® Advanced Level Module DDD – iSAQB® Training Course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77098" y="6543675"/>
            <a:ext cx="2447863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Volkswagen Group India | 22 December 2025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5725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33" y="190499"/>
            <a:ext cx="10858228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LG 1-2: Concepts - Creating and Evolving Ubiquitous Language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733" y="1143000"/>
            <a:ext cx="5286242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674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674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Evolution Process 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1170842"/>
            <a:ext cx="304792" cy="28721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66733" y="1866899"/>
            <a:ext cx="5286242" cy="4248150"/>
          </a:xfrm>
          <a:prstGeom prst="roundRect">
            <a:avLst>
              <a:gd name="adj" fmla="val 3587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-1391302" y="3924934"/>
            <a:ext cx="42481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2951" y="2105024"/>
            <a:ext cx="4771905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Iterative Refinement 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42951" y="2123246"/>
            <a:ext cx="266693" cy="249306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42951" y="2594609"/>
            <a:ext cx="228594" cy="12572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14417" y="2543175"/>
            <a:ext cx="340986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Gather terminology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from domain experts 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14417" y="2533649"/>
            <a:ext cx="1714457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942951" y="2978467"/>
            <a:ext cx="228594" cy="17716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314417" y="2952750"/>
            <a:ext cx="301934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Refine meanings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through discussion 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14417" y="2943225"/>
            <a:ext cx="1466813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942951" y="3388042"/>
            <a:ext cx="228594" cy="17716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314417" y="3362324"/>
            <a:ext cx="315269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Model concepts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with precise language 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14417" y="3352800"/>
            <a:ext cx="1381090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942951" y="3789045"/>
            <a:ext cx="228594" cy="194309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314417" y="3771900"/>
            <a:ext cx="382895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Apply consistently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in code and documentation 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14417" y="3762374"/>
            <a:ext cx="1609684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8719" y="1143000"/>
            <a:ext cx="5286242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674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674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Best Practices 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6238719" y="1185496"/>
            <a:ext cx="304792" cy="257907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6238719" y="1866899"/>
            <a:ext cx="5286242" cy="4248150"/>
          </a:xfrm>
          <a:prstGeom prst="roundRect">
            <a:avLst>
              <a:gd name="adj" fmla="val 3587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43611" y="2105024"/>
            <a:ext cx="2685982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1300"/>
              </a:spcAft>
            </a:pPr>
            <a:r>
              <a:rPr sz="1435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Language Development 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7543611" y="2124696"/>
            <a:ext cx="266693" cy="246407"/>
          </a:xfrm>
          <a:prstGeom prst="rect">
            <a:avLst/>
          </a:prstGeom>
        </p:spPr>
      </p:pic>
      <p:sp>
        <p:nvSpPr>
          <p:cNvPr id="27" name="Rounded Rectangle 26"/>
          <p:cNvSpPr/>
          <p:nvPr/>
        </p:nvSpPr>
        <p:spPr>
          <a:xfrm>
            <a:off x="7638859" y="2590799"/>
            <a:ext cx="2485962" cy="428625"/>
          </a:xfrm>
          <a:prstGeom prst="roundRect">
            <a:avLst>
              <a:gd name="adj" fmla="val 88888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7829354" y="2747122"/>
            <a:ext cx="190495" cy="106455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096047" y="2686050"/>
            <a:ext cx="1838279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Collaborative Creation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67333" y="3162299"/>
            <a:ext cx="2238319" cy="428625"/>
          </a:xfrm>
          <a:prstGeom prst="roundRect">
            <a:avLst>
              <a:gd name="adj" fmla="val 88888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6857828" y="3290607"/>
            <a:ext cx="190495" cy="162485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124521" y="3257550"/>
            <a:ext cx="1590635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Document Glossary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48523" y="3162299"/>
            <a:ext cx="2047823" cy="428625"/>
          </a:xfrm>
          <a:prstGeom prst="roundRect">
            <a:avLst>
              <a:gd name="adj" fmla="val 88888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9239019" y="3290607"/>
            <a:ext cx="190495" cy="162485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9505712" y="3257550"/>
            <a:ext cx="1400139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Consistent Usage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43631" y="3733799"/>
            <a:ext cx="2266893" cy="428625"/>
          </a:xfrm>
          <a:prstGeom prst="roundRect">
            <a:avLst>
              <a:gd name="adj" fmla="val 88888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7934126" y="3867710"/>
            <a:ext cx="190495" cy="151279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8200819" y="3829050"/>
            <a:ext cx="1619209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Regular Refinement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6733" y="6543675"/>
            <a:ext cx="3590835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The CPSA® Advanced Level Module DDD – iSAQB® Training Course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77098" y="6543675"/>
            <a:ext cx="2447863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Volkswagen Group India | 22 December 2025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5725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33" y="190499"/>
            <a:ext cx="10858228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LG 1-2: Walkthrough - Developing a Shared Vocabulary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6733" y="1143000"/>
            <a:ext cx="3495587" cy="3409950"/>
          </a:xfrm>
          <a:prstGeom prst="roundRect">
            <a:avLst>
              <a:gd name="adj" fmla="val 4469"/>
            </a:avLst>
          </a:prstGeom>
          <a:solidFill>
            <a:srgbClr val="F5F7FA"/>
          </a:solidFill>
          <a:ln w="33020"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57228" y="1038224"/>
            <a:ext cx="285742" cy="285750"/>
          </a:xfrm>
          <a:prstGeom prst="roundRect">
            <a:avLst>
              <a:gd name="adj" fmla="val 5000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7228" y="1038224"/>
            <a:ext cx="285742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7228" y="1466849"/>
            <a:ext cx="311459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650"/>
              </a:spcBef>
              <a:spcAft>
                <a:spcPts val="975"/>
              </a:spcAft>
            </a:pP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Gather Terms 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57228" y="1537335"/>
            <a:ext cx="228594" cy="125729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57228" y="1893233"/>
            <a:ext cx="190495" cy="15688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42971" y="1876424"/>
            <a:ext cx="217164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Interview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domain experts 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2971" y="1866899"/>
            <a:ext cx="895327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57228" y="2271432"/>
            <a:ext cx="190495" cy="16248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42971" y="2257425"/>
            <a:ext cx="262883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Document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existing terminology 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2971" y="2247899"/>
            <a:ext cx="962000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57228" y="2652432"/>
            <a:ext cx="190495" cy="16248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142971" y="2638425"/>
            <a:ext cx="181922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Identify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key concepts 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42971" y="2628900"/>
            <a:ext cx="752456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352816" y="1143000"/>
            <a:ext cx="3495587" cy="3409950"/>
          </a:xfrm>
          <a:prstGeom prst="roundRect">
            <a:avLst>
              <a:gd name="adj" fmla="val 4469"/>
            </a:avLst>
          </a:prstGeom>
          <a:solidFill>
            <a:srgbClr val="F5F7FA"/>
          </a:solidFill>
          <a:ln w="33020"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543311" y="1038224"/>
            <a:ext cx="285742" cy="285750"/>
          </a:xfrm>
          <a:prstGeom prst="roundRect">
            <a:avLst>
              <a:gd name="adj" fmla="val 5000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43311" y="1038224"/>
            <a:ext cx="285742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3311" y="1466849"/>
            <a:ext cx="311459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650"/>
              </a:spcBef>
              <a:spcAft>
                <a:spcPts val="975"/>
              </a:spcAft>
            </a:pP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Refine Meanings 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4543311" y="1511617"/>
            <a:ext cx="228594" cy="177164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4543311" y="1890432"/>
            <a:ext cx="190495" cy="16248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829054" y="1876424"/>
            <a:ext cx="217164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Discuss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with stakeholders 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829054" y="1866899"/>
            <a:ext cx="723881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4543311" y="2263027"/>
            <a:ext cx="190495" cy="17929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829054" y="2257425"/>
            <a:ext cx="218117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Resolve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ambiguous terms 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829054" y="2247899"/>
            <a:ext cx="752456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4543311" y="2662237"/>
            <a:ext cx="190495" cy="142875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4829054" y="2638425"/>
            <a:ext cx="241928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Consolidate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similar concepts 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829054" y="2628900"/>
            <a:ext cx="1085822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029374" y="1143000"/>
            <a:ext cx="3495587" cy="3409950"/>
          </a:xfrm>
          <a:prstGeom prst="roundRect">
            <a:avLst>
              <a:gd name="adj" fmla="val 4469"/>
            </a:avLst>
          </a:prstGeom>
          <a:solidFill>
            <a:srgbClr val="F5F7FA"/>
          </a:solidFill>
          <a:ln w="33020"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219869" y="1038224"/>
            <a:ext cx="285742" cy="285750"/>
          </a:xfrm>
          <a:prstGeom prst="roundRect">
            <a:avLst>
              <a:gd name="adj" fmla="val 5000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9869" y="1038224"/>
            <a:ext cx="285742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9869" y="1466849"/>
            <a:ext cx="311459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650"/>
              </a:spcBef>
              <a:spcAft>
                <a:spcPts val="975"/>
              </a:spcAft>
            </a:pP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Model with Language 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8219869" y="1511617"/>
            <a:ext cx="228594" cy="177164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8219869" y="1882027"/>
            <a:ext cx="190495" cy="179294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8505612" y="1876424"/>
            <a:ext cx="249548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Apply terms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to domain model 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505612" y="1866899"/>
            <a:ext cx="1095347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8219869" y="2299447"/>
            <a:ext cx="190495" cy="106455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8505612" y="2257425"/>
            <a:ext cx="2828854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Use consistently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in implementation 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505612" y="2247899"/>
            <a:ext cx="1447763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219869" y="2919132"/>
            <a:ext cx="190495" cy="162485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8505612" y="2905124"/>
            <a:ext cx="241928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Create glossary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for reference 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505612" y="2895600"/>
            <a:ext cx="1371565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66733" y="4838699"/>
            <a:ext cx="10858228" cy="1276350"/>
          </a:xfrm>
          <a:prstGeom prst="roundRect">
            <a:avLst>
              <a:gd name="adj" fmla="val 1194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 Same Side Corner Rectangle 46"/>
          <p:cNvSpPr/>
          <p:nvPr/>
        </p:nvSpPr>
        <p:spPr>
          <a:xfrm rot="16200000">
            <a:off x="94598" y="5410834"/>
            <a:ext cx="12763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895327" y="5238749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1000099" y="5382660"/>
            <a:ext cx="266693" cy="188429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1562060" y="5029200"/>
            <a:ext cx="977240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Automotive Example: Powertrain Domain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562060" y="5391150"/>
            <a:ext cx="9772405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Gather: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Engine terms from mechanics →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Refine: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Define "Torque" precisely →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Model: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Use "TorqueCurve" in code →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Document: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Add to glossary 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562060" y="5381624"/>
            <a:ext cx="723881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4952876" y="5381624"/>
            <a:ext cx="685782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7962700" y="5381624"/>
            <a:ext cx="666733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1562060" y="5648325"/>
            <a:ext cx="1019149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66733" y="6543675"/>
            <a:ext cx="3590835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The CPSA® Advanced Level Module DDD – iSAQB® Training Course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077098" y="6543675"/>
            <a:ext cx="2447863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Volkswagen Group India | 22 December 2025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5725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33" y="190499"/>
            <a:ext cx="10858228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LG 1-2: Analogies - Common Language Examples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6733" y="1143000"/>
            <a:ext cx="3428914" cy="3600450"/>
          </a:xfrm>
          <a:prstGeom prst="roundRect">
            <a:avLst>
              <a:gd name="adj" fmla="val 4444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 Same Side Corner Rectangle 4"/>
          <p:cNvSpPr/>
          <p:nvPr/>
        </p:nvSpPr>
        <p:spPr>
          <a:xfrm rot="16200000">
            <a:off x="-1067452" y="2877185"/>
            <a:ext cx="36004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42951" y="1381124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076298" y="1537921"/>
            <a:ext cx="304792" cy="25790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657308" y="1495424"/>
            <a:ext cx="1504912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Medical Field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42951" y="2160270"/>
            <a:ext cx="228594" cy="19430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314417" y="2143125"/>
            <a:ext cx="2543111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Precise terminology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for body parts, symptoms, treatments 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14417" y="2133599"/>
            <a:ext cx="1752556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42951" y="2836545"/>
            <a:ext cx="228594" cy="19430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314417" y="2819399"/>
            <a:ext cx="2543111" cy="8001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Universal understanding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between doctors, nurses, technicians 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14417" y="2809875"/>
            <a:ext cx="2124021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42951" y="3779519"/>
            <a:ext cx="228594" cy="19430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314417" y="3762374"/>
            <a:ext cx="2543111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Reduced errors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from miscommunication 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14417" y="3752849"/>
            <a:ext cx="1352516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381390" y="1143000"/>
            <a:ext cx="3428914" cy="3600450"/>
          </a:xfrm>
          <a:prstGeom prst="roundRect">
            <a:avLst>
              <a:gd name="adj" fmla="val 4444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 Same Side Corner Rectangle 18"/>
          <p:cNvSpPr/>
          <p:nvPr/>
        </p:nvSpPr>
        <p:spPr>
          <a:xfrm rot="16200000">
            <a:off x="2647205" y="2877185"/>
            <a:ext cx="36004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657608" y="1381124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4790955" y="1530594"/>
            <a:ext cx="304792" cy="272561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371965" y="1495424"/>
            <a:ext cx="1228694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Legal Field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4657608" y="2160270"/>
            <a:ext cx="228594" cy="194309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029074" y="2143125"/>
            <a:ext cx="2543111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Specific language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for contracts, clauses, precedents 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074" y="2133599"/>
            <a:ext cx="1552536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4657608" y="2836545"/>
            <a:ext cx="228594" cy="19430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029074" y="2819399"/>
            <a:ext cx="2543111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Shared vocabulary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across legal teams 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074" y="2809875"/>
            <a:ext cx="1647783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4657608" y="3512820"/>
            <a:ext cx="228594" cy="194309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029074" y="3495675"/>
            <a:ext cx="2543111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Clear documentation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with precise terms 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074" y="3486150"/>
            <a:ext cx="1838279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096047" y="1143000"/>
            <a:ext cx="3428914" cy="3600450"/>
          </a:xfrm>
          <a:prstGeom prst="roundRect">
            <a:avLst>
              <a:gd name="adj" fmla="val 4444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 Same Side Corner Rectangle 32"/>
          <p:cNvSpPr/>
          <p:nvPr/>
        </p:nvSpPr>
        <p:spPr>
          <a:xfrm rot="16200000">
            <a:off x="6361862" y="2877185"/>
            <a:ext cx="36004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372265" y="1381124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505612" y="1558436"/>
            <a:ext cx="304792" cy="216876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9086622" y="1495424"/>
            <a:ext cx="2162120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Scientific Research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372265" y="2160270"/>
            <a:ext cx="228594" cy="194309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8743731" y="2143125"/>
            <a:ext cx="2543111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Standardized terminology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for methods, results, conclusions 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743731" y="2133599"/>
            <a:ext cx="2247843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372265" y="2836545"/>
            <a:ext cx="228594" cy="194309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8743731" y="2819399"/>
            <a:ext cx="2543111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Peer review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with common language 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743731" y="2809875"/>
            <a:ext cx="1076298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372265" y="3512820"/>
            <a:ext cx="228594" cy="194309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8743731" y="3495675"/>
            <a:ext cx="2543111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Knowledge transfer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through precise communication 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743731" y="3486150"/>
            <a:ext cx="1714457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66733" y="4933950"/>
            <a:ext cx="10858228" cy="1181099"/>
          </a:xfrm>
          <a:prstGeom prst="roundRect">
            <a:avLst>
              <a:gd name="adj" fmla="val 12903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9604" y="5076825"/>
            <a:ext cx="1057248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DDD Connection </a:t>
            </a:r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09604" y="5113019"/>
            <a:ext cx="228594" cy="194309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809604" y="5438774"/>
            <a:ext cx="10572485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Just as specialized fields develop precise terminology,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ubiquitous language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creates shared understanding between domain experts and developers in software 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133846" y="5429250"/>
            <a:ext cx="1790655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66733" y="6543675"/>
            <a:ext cx="3590835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The CPSA® Advanced Level Module DDD – iSAQB® Training Course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077098" y="6543675"/>
            <a:ext cx="2447863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Volkswagen Group India | 22 December 2025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5725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33" y="190499"/>
            <a:ext cx="10858228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LG 1-2: Connected Examples - Automotive Terminology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6733" y="1143000"/>
            <a:ext cx="3428914" cy="4972050"/>
          </a:xfrm>
          <a:prstGeom prst="roundRect">
            <a:avLst>
              <a:gd name="adj" fmla="val 4444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 Same Side Corner Rectangle 4"/>
          <p:cNvSpPr/>
          <p:nvPr/>
        </p:nvSpPr>
        <p:spPr>
          <a:xfrm rot="16200000">
            <a:off x="-1753252" y="3562985"/>
            <a:ext cx="49720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42951" y="1381124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076298" y="1537921"/>
            <a:ext cx="304792" cy="25790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657308" y="1495424"/>
            <a:ext cx="1276318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Powertrain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42951" y="2175986"/>
            <a:ext cx="228594" cy="16287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314417" y="2143125"/>
            <a:ext cx="254311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Torque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14417" y="2457450"/>
            <a:ext cx="2543111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Rotational force, not "power" or "strength"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42951" y="3176587"/>
            <a:ext cx="228594" cy="14287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314417" y="3133724"/>
            <a:ext cx="254311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GearRatio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14417" y="3448049"/>
            <a:ext cx="254311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Precise ratio, not "gear setting"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942951" y="3883342"/>
            <a:ext cx="228594" cy="17716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314417" y="3857625"/>
            <a:ext cx="254311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ThrottlePosition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14417" y="4171950"/>
            <a:ext cx="2543111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Position value, not "acceleration"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1390" y="1143000"/>
            <a:ext cx="3428914" cy="4972050"/>
          </a:xfrm>
          <a:prstGeom prst="roundRect">
            <a:avLst>
              <a:gd name="adj" fmla="val 4444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 Same Side Corner Rectangle 18"/>
          <p:cNvSpPr/>
          <p:nvPr/>
        </p:nvSpPr>
        <p:spPr>
          <a:xfrm rot="16200000">
            <a:off x="1961405" y="3562985"/>
            <a:ext cx="49720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657608" y="1381124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4790955" y="1523267"/>
            <a:ext cx="304792" cy="28721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371965" y="1495424"/>
            <a:ext cx="1504912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Infotainment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4657608" y="2168842"/>
            <a:ext cx="228594" cy="17716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029074" y="2143125"/>
            <a:ext cx="254311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MediaSource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074" y="2457450"/>
            <a:ext cx="2543111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Source type, not "player" or "format"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4657608" y="3175158"/>
            <a:ext cx="228594" cy="14573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029074" y="3133724"/>
            <a:ext cx="254311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Playlist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074" y="3448049"/>
            <a:ext cx="2543111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Ordered collection, not "song list"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4657608" y="4150042"/>
            <a:ext cx="228594" cy="177164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029074" y="4124324"/>
            <a:ext cx="254311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NavigationRoute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074" y="4438649"/>
            <a:ext cx="2543111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Complete path, not "directions" or "map"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96047" y="1143000"/>
            <a:ext cx="3428914" cy="4972050"/>
          </a:xfrm>
          <a:prstGeom prst="roundRect">
            <a:avLst>
              <a:gd name="adj" fmla="val 4444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 Same Side Corner Rectangle 32"/>
          <p:cNvSpPr/>
          <p:nvPr/>
        </p:nvSpPr>
        <p:spPr>
          <a:xfrm rot="16200000">
            <a:off x="5676062" y="3562985"/>
            <a:ext cx="49720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372265" y="1381124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8505612" y="1523267"/>
            <a:ext cx="304792" cy="287215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9086622" y="1495424"/>
            <a:ext cx="1733506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Safety Systems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8372265" y="2183129"/>
            <a:ext cx="228594" cy="148589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8743731" y="2143125"/>
            <a:ext cx="254311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SafetyZone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43731" y="2457450"/>
            <a:ext cx="254311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Defined area, not "safe space"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8372265" y="2885598"/>
            <a:ext cx="228594" cy="191452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8743731" y="2867025"/>
            <a:ext cx="254311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AlertLevel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43731" y="3181350"/>
            <a:ext cx="2543111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Severity level, not "warning" or "alarm"</a:t>
            </a:r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8392297" y="3857625"/>
            <a:ext cx="188531" cy="22860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8743731" y="3857625"/>
            <a:ext cx="254311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CollisionEvent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43731" y="4171950"/>
            <a:ext cx="2543111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Specific occurrence, not "crash" or "impact"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6733" y="6543675"/>
            <a:ext cx="3590835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The CPSA® Advanced Level Module DDD – iSAQB® Training Course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77098" y="6543675"/>
            <a:ext cx="2447863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Volkswagen Group India | 22 December 2025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5725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33" y="190499"/>
            <a:ext cx="10858228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LG 1-2: Case Study - Mercedes-Benz's MBUX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733" y="1143000"/>
            <a:ext cx="5286242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674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674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MBUX Approach 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1170842"/>
            <a:ext cx="304792" cy="28721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66733" y="1866899"/>
            <a:ext cx="5286242" cy="3171825"/>
          </a:xfrm>
          <a:prstGeom prst="roundRect">
            <a:avLst>
              <a:gd name="adj" fmla="val 4804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-853139" y="3386771"/>
            <a:ext cx="31718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2951" y="2105024"/>
            <a:ext cx="4771905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Consistent Language 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42951" y="2134842"/>
            <a:ext cx="266693" cy="22611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62982" y="2543175"/>
            <a:ext cx="188531" cy="228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14417" y="2543175"/>
            <a:ext cx="335271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Unified terminology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across all interfaces 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14417" y="2533649"/>
            <a:ext cx="1752556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942951" y="2984182"/>
            <a:ext cx="228594" cy="16573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314417" y="2952750"/>
            <a:ext cx="323841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User-centric vocabulary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for all features 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14417" y="2943225"/>
            <a:ext cx="2057348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942951" y="3388042"/>
            <a:ext cx="228594" cy="17716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314417" y="3362324"/>
            <a:ext cx="424804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Shared understanding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between UX and engineering 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14417" y="3352800"/>
            <a:ext cx="1933526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66733" y="5276850"/>
            <a:ext cx="5286242" cy="3171825"/>
          </a:xfrm>
          <a:prstGeom prst="roundRect">
            <a:avLst>
              <a:gd name="adj" fmla="val 4804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 Same Side Corner Rectangle 19"/>
          <p:cNvSpPr/>
          <p:nvPr/>
        </p:nvSpPr>
        <p:spPr>
          <a:xfrm rot="16200000">
            <a:off x="-853139" y="6796722"/>
            <a:ext cx="31718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2951" y="5514975"/>
            <a:ext cx="4771905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Key Language Elements 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942951" y="5544792"/>
            <a:ext cx="266693" cy="22611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942951" y="5995987"/>
            <a:ext cx="228594" cy="14287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314417" y="5953124"/>
            <a:ext cx="280980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"Hey Mercedes"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- Voice activation 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14417" y="5943600"/>
            <a:ext cx="1428714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942951" y="6405562"/>
            <a:ext cx="228594" cy="14287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314417" y="6362700"/>
            <a:ext cx="342891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"Comfort Mode"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- Unified setting concept 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14417" y="6353174"/>
            <a:ext cx="1466813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942951" y="6815137"/>
            <a:ext cx="228594" cy="142875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314417" y="6772275"/>
            <a:ext cx="330509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"MBUX Interior Assist"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- Gesture control 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314417" y="6762750"/>
            <a:ext cx="1943051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38719" y="1143000"/>
            <a:ext cx="5286242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674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674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DDD Implementation 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238719" y="1197219"/>
            <a:ext cx="304792" cy="234461"/>
          </a:xfrm>
          <a:prstGeom prst="rect">
            <a:avLst/>
          </a:prstGeom>
        </p:spPr>
      </p:pic>
      <p:sp>
        <p:nvSpPr>
          <p:cNvPr id="34" name="Rounded Rectangle 33"/>
          <p:cNvSpPr/>
          <p:nvPr/>
        </p:nvSpPr>
        <p:spPr>
          <a:xfrm>
            <a:off x="6238719" y="1866899"/>
            <a:ext cx="5286242" cy="2266950"/>
          </a:xfrm>
          <a:prstGeom prst="roundRect">
            <a:avLst>
              <a:gd name="adj" fmla="val 6722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 Same Side Corner Rectangle 34"/>
          <p:cNvSpPr/>
          <p:nvPr/>
        </p:nvSpPr>
        <p:spPr>
          <a:xfrm rot="16200000">
            <a:off x="5171284" y="2934334"/>
            <a:ext cx="22669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14937" y="2105024"/>
            <a:ext cx="4771905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Model Elements 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6514937" y="2133392"/>
            <a:ext cx="266693" cy="229014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6514937" y="2560320"/>
            <a:ext cx="228594" cy="194309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886402" y="2543175"/>
            <a:ext cx="388610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UserSession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- Tracks user preferences and state 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886402" y="2533649"/>
            <a:ext cx="1114397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6514937" y="2981325"/>
            <a:ext cx="228594" cy="17145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6886402" y="2952750"/>
            <a:ext cx="408612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MediaMetadata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,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NavigationPoint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- Value objects 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886402" y="2943225"/>
            <a:ext cx="1371565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8343691" y="2943225"/>
            <a:ext cx="1438239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6514937" y="3365182"/>
            <a:ext cx="228594" cy="222884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6886402" y="3362324"/>
            <a:ext cx="4400439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InfotainmentAggregate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- Manages media and navigation 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886402" y="3352800"/>
            <a:ext cx="2009724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238719" y="4371975"/>
            <a:ext cx="5286242" cy="1590675"/>
          </a:xfrm>
          <a:prstGeom prst="roundRect">
            <a:avLst>
              <a:gd name="adj" fmla="val 958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 Same Side Corner Rectangle 48"/>
          <p:cNvSpPr/>
          <p:nvPr/>
        </p:nvSpPr>
        <p:spPr>
          <a:xfrm rot="16200000">
            <a:off x="5509422" y="5101272"/>
            <a:ext cx="15906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14937" y="4610099"/>
            <a:ext cx="4771905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Integration Benefits </a:t>
            </a:r>
          </a:p>
        </p:txBody>
      </p:sp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14">
            <a:alphaModFix amt="100000"/>
          </a:blip>
          <a:stretch>
            <a:fillRect/>
          </a:stretch>
        </p:blipFill>
        <p:spPr>
          <a:xfrm>
            <a:off x="6514937" y="4647992"/>
            <a:ext cx="266693" cy="229014"/>
          </a:xfrm>
          <a:prstGeom prst="rect">
            <a:avLst/>
          </a:prstGeom>
        </p:spPr>
      </p:pic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15">
            <a:alphaModFix amt="100000"/>
          </a:blip>
          <a:stretch>
            <a:fillRect/>
          </a:stretch>
        </p:blipFill>
        <p:spPr>
          <a:xfrm>
            <a:off x="6514937" y="5091112"/>
            <a:ext cx="228594" cy="142875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6886402" y="5048250"/>
            <a:ext cx="351463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Clear boundaries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between vehicle systems 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886402" y="5038724"/>
            <a:ext cx="1504912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16">
            <a:alphaModFix amt="100000"/>
          </a:blip>
          <a:stretch>
            <a:fillRect/>
          </a:stretch>
        </p:blipFill>
        <p:spPr>
          <a:xfrm>
            <a:off x="6514937" y="5474969"/>
            <a:ext cx="228594" cy="194309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6886402" y="5457825"/>
            <a:ext cx="396230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Consistent terminology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across vehicle functions 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886402" y="5448300"/>
            <a:ext cx="2028774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6238719" y="6200775"/>
            <a:ext cx="5286242" cy="2238375"/>
          </a:xfrm>
          <a:prstGeom prst="roundRect">
            <a:avLst>
              <a:gd name="adj" fmla="val 6808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17">
            <a:alphaModFix amt="100000"/>
          </a:blip>
          <a:stretch>
            <a:fillRect/>
          </a:stretch>
        </p:blipFill>
        <p:spPr>
          <a:xfrm>
            <a:off x="8686582" y="6540103"/>
            <a:ext cx="380990" cy="178593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6476838" y="6962775"/>
            <a:ext cx="4810004" cy="8762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975"/>
              </a:spcAft>
            </a:pPr>
            <a:r>
              <a:rPr sz="1315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"MBUX demonstrates how a consistent, user-centric language creates a unified experience across complex vehicle systems."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000799" y="7981949"/>
            <a:ext cx="177160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- Automotive UX Analysis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0" y="8724900"/>
            <a:ext cx="12191695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66733" y="8867775"/>
            <a:ext cx="3590835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The CPSA® Advanced Level Module DDD – iSAQB® Training Course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077098" y="8867775"/>
            <a:ext cx="2447863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Volkswagen Group India | 22 December 2025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5725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33" y="190499"/>
            <a:ext cx="10858228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LG 1-2: Reverse Engineering - Audi's MMI Interface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733" y="1143000"/>
            <a:ext cx="5286242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674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674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MMI System Analysis 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93342" y="1162050"/>
            <a:ext cx="251574" cy="3048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66733" y="1866899"/>
            <a:ext cx="5286242" cy="5591175"/>
          </a:xfrm>
          <a:prstGeom prst="roundRect">
            <a:avLst>
              <a:gd name="adj" fmla="val 2882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-2062814" y="4596446"/>
            <a:ext cx="55911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2951" y="2105024"/>
            <a:ext cx="4771905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Language Consistency 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42951" y="2134842"/>
            <a:ext cx="266693" cy="22611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42951" y="2568892"/>
            <a:ext cx="228594" cy="1771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14417" y="2543175"/>
            <a:ext cx="4400439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Media Control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- Consistent terminology across audio sources 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14417" y="2533649"/>
            <a:ext cx="1257268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942951" y="3245167"/>
            <a:ext cx="228594" cy="17716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314417" y="3219449"/>
            <a:ext cx="4400439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Navigation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- Standardized route and destination terms 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14417" y="3209925"/>
            <a:ext cx="1000099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942951" y="3921442"/>
            <a:ext cx="228594" cy="17716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314417" y="3895724"/>
            <a:ext cx="424804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Connectivity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- Unified phone integration vocabulary 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14417" y="3886200"/>
            <a:ext cx="1152496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38719" y="1143000"/>
            <a:ext cx="5286242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674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674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DDD Implementation 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238719" y="1197219"/>
            <a:ext cx="304792" cy="234461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6238719" y="1866899"/>
            <a:ext cx="5286242" cy="2266950"/>
          </a:xfrm>
          <a:prstGeom prst="roundRect">
            <a:avLst>
              <a:gd name="adj" fmla="val 6722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5171284" y="2934334"/>
            <a:ext cx="22669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14937" y="2105024"/>
            <a:ext cx="4771905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Model Elements 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6514937" y="2133392"/>
            <a:ext cx="266693" cy="229014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514937" y="2560320"/>
            <a:ext cx="228594" cy="194309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886402" y="2543175"/>
            <a:ext cx="381942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UserInterfaceSession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- Tracks interaction state 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86402" y="2533649"/>
            <a:ext cx="1838279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6514937" y="2981325"/>
            <a:ext cx="228594" cy="17145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886402" y="2952750"/>
            <a:ext cx="375275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MediaMetadata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,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Coordinates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- Value objects 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86402" y="2943225"/>
            <a:ext cx="1371565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343691" y="2943225"/>
            <a:ext cx="1104872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6514937" y="3365182"/>
            <a:ext cx="228594" cy="222884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886402" y="3362324"/>
            <a:ext cx="4400439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InfotainmentAggregate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- Manages connected features 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86402" y="3352800"/>
            <a:ext cx="2009724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238719" y="4371975"/>
            <a:ext cx="5286242" cy="1590675"/>
          </a:xfrm>
          <a:prstGeom prst="roundRect">
            <a:avLst>
              <a:gd name="adj" fmla="val 958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 Same Side Corner Rectangle 35"/>
          <p:cNvSpPr/>
          <p:nvPr/>
        </p:nvSpPr>
        <p:spPr>
          <a:xfrm rot="16200000">
            <a:off x="5509422" y="5101272"/>
            <a:ext cx="15906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14937" y="4610099"/>
            <a:ext cx="4771905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Integration Patterns </a:t>
            </a:r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6514937" y="4647992"/>
            <a:ext cx="266693" cy="229014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6514937" y="5091112"/>
            <a:ext cx="228594" cy="142875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6886402" y="5048250"/>
            <a:ext cx="368608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Bounded Contexts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for different MMI modules 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886402" y="5038724"/>
            <a:ext cx="1609684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14">
            <a:alphaModFix amt="100000"/>
          </a:blip>
          <a:stretch>
            <a:fillRect/>
          </a:stretch>
        </p:blipFill>
        <p:spPr>
          <a:xfrm>
            <a:off x="6514937" y="5474969"/>
            <a:ext cx="228594" cy="194309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6886402" y="5457825"/>
            <a:ext cx="376228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Consistent terminology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across MMI interfaces 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886402" y="5448300"/>
            <a:ext cx="2028774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238719" y="6200775"/>
            <a:ext cx="5286242" cy="1257300"/>
          </a:xfrm>
          <a:prstGeom prst="roundRect">
            <a:avLst>
              <a:gd name="adj" fmla="val 12121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15">
            <a:alphaModFix amt="100000"/>
          </a:blip>
          <a:stretch>
            <a:fillRect/>
          </a:stretch>
        </p:blipFill>
        <p:spPr>
          <a:xfrm>
            <a:off x="6429214" y="6684579"/>
            <a:ext cx="342891" cy="289691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6914977" y="6391275"/>
            <a:ext cx="4419489" cy="8762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Audi's MMI demonstrates clear separation of concerns with consistent terminology across infotainment, navigation, and vehicle controls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7743825"/>
            <a:ext cx="12191695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6733" y="7886700"/>
            <a:ext cx="3590835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The CPSA® Advanced Level Module DDD – iSAQB® Training Course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77098" y="7886700"/>
            <a:ext cx="2447863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Volkswagen Group India | 22 December 2025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5725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33" y="190499"/>
            <a:ext cx="10858228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LG 1-2: Brainstorming Puzzles - Creating Ubiquitous Language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6733" y="1143000"/>
            <a:ext cx="10858228" cy="2600325"/>
          </a:xfrm>
          <a:prstGeom prst="roundRect">
            <a:avLst>
              <a:gd name="adj" fmla="val 586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 Same Side Corner Rectangle 4"/>
          <p:cNvSpPr/>
          <p:nvPr/>
        </p:nvSpPr>
        <p:spPr>
          <a:xfrm rot="16200000">
            <a:off x="-567389" y="2377122"/>
            <a:ext cx="26003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42951" y="1381124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2951" y="1381124"/>
            <a:ext cx="380990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14437" y="1381124"/>
            <a:ext cx="9772405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EV Charging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14437" y="1819275"/>
            <a:ext cx="9772405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975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A system with multiple teams working on charging, payment, and battery management. Each team uses different terms for "charging session."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14437" y="2495550"/>
            <a:ext cx="9772405" cy="1009649"/>
          </a:xfrm>
          <a:prstGeom prst="roundRect">
            <a:avLst>
              <a:gd name="adj" fmla="val 15094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57308" y="2638425"/>
            <a:ext cx="9486662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196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196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Create Ubiquitous Language 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657308" y="2673667"/>
            <a:ext cx="228594" cy="177164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1657308" y="2971800"/>
            <a:ext cx="1914477" cy="390525"/>
          </a:xfrm>
          <a:prstGeom prst="roundRect">
            <a:avLst>
              <a:gd name="adj" fmla="val 9756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57308" y="2971800"/>
            <a:ext cx="1914477" cy="3905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19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ChargingSession 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800179" y="3081057"/>
            <a:ext cx="190495" cy="162485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3667033" y="2971800"/>
            <a:ext cx="2238319" cy="390525"/>
          </a:xfrm>
          <a:prstGeom prst="roundRect">
            <a:avLst>
              <a:gd name="adj" fmla="val 9756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67033" y="2971800"/>
            <a:ext cx="2238319" cy="3905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19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PaymentTransaction 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3809904" y="3092263"/>
            <a:ext cx="190495" cy="140073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6010124" y="2971800"/>
            <a:ext cx="1581110" cy="390525"/>
          </a:xfrm>
          <a:prstGeom prst="roundRect">
            <a:avLst>
              <a:gd name="adj" fmla="val 9756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10124" y="2971800"/>
            <a:ext cx="1581110" cy="3905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19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BatteryState 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152996" y="3081057"/>
            <a:ext cx="190495" cy="162485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666733" y="3981449"/>
            <a:ext cx="10858228" cy="2333624"/>
          </a:xfrm>
          <a:prstGeom prst="roundRect">
            <a:avLst>
              <a:gd name="adj" fmla="val 653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 Same Side Corner Rectangle 22"/>
          <p:cNvSpPr/>
          <p:nvPr/>
        </p:nvSpPr>
        <p:spPr>
          <a:xfrm rot="16200000">
            <a:off x="-434039" y="5082221"/>
            <a:ext cx="233362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42951" y="4219575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2951" y="4219575"/>
            <a:ext cx="380990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14437" y="4219575"/>
            <a:ext cx="9772405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Vehicle Safety Features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14437" y="4657725"/>
            <a:ext cx="977240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975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Safety engineers use "brake assist" while UX designers use "emergency stop" for the same feature.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514437" y="5067299"/>
            <a:ext cx="9772405" cy="1009649"/>
          </a:xfrm>
          <a:prstGeom prst="roundRect">
            <a:avLst>
              <a:gd name="adj" fmla="val 15094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657308" y="5210174"/>
            <a:ext cx="9486662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196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196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Resolve Terminology 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657308" y="5245417"/>
            <a:ext cx="228594" cy="177164"/>
          </a:xfrm>
          <a:prstGeom prst="rect">
            <a:avLst/>
          </a:prstGeom>
        </p:spPr>
      </p:pic>
      <p:sp>
        <p:nvSpPr>
          <p:cNvPr id="31" name="Rounded Rectangle 30"/>
          <p:cNvSpPr/>
          <p:nvPr/>
        </p:nvSpPr>
        <p:spPr>
          <a:xfrm>
            <a:off x="1657308" y="5543550"/>
            <a:ext cx="2943151" cy="390525"/>
          </a:xfrm>
          <a:prstGeom prst="roundRect">
            <a:avLst>
              <a:gd name="adj" fmla="val 9756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657308" y="5543550"/>
            <a:ext cx="2943151" cy="3905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19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AutomaticEmergencyBraking 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1800179" y="5644402"/>
            <a:ext cx="190495" cy="179294"/>
          </a:xfrm>
          <a:prstGeom prst="rect">
            <a:avLst/>
          </a:prstGeom>
        </p:spPr>
      </p:pic>
      <p:sp>
        <p:nvSpPr>
          <p:cNvPr id="34" name="Rounded Rectangle 33"/>
          <p:cNvSpPr/>
          <p:nvPr/>
        </p:nvSpPr>
        <p:spPr>
          <a:xfrm>
            <a:off x="4695707" y="5543550"/>
            <a:ext cx="2104972" cy="390525"/>
          </a:xfrm>
          <a:prstGeom prst="roundRect">
            <a:avLst>
              <a:gd name="adj" fmla="val 9756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95707" y="5543550"/>
            <a:ext cx="2104972" cy="3905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19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CollisionAvoidance 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4838579" y="5655608"/>
            <a:ext cx="190495" cy="156882"/>
          </a:xfrm>
          <a:prstGeom prst="rect">
            <a:avLst/>
          </a:prstGeom>
        </p:spPr>
      </p:pic>
      <p:sp>
        <p:nvSpPr>
          <p:cNvPr id="37" name="Rounded Rectangle 36"/>
          <p:cNvSpPr/>
          <p:nvPr/>
        </p:nvSpPr>
        <p:spPr>
          <a:xfrm>
            <a:off x="6895927" y="5543550"/>
            <a:ext cx="2143071" cy="390525"/>
          </a:xfrm>
          <a:prstGeom prst="roundRect">
            <a:avLst>
              <a:gd name="adj" fmla="val 9756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95927" y="5543550"/>
            <a:ext cx="2143071" cy="3905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19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ProximityDetection 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7038799" y="5672417"/>
            <a:ext cx="190495" cy="123264"/>
          </a:xfrm>
          <a:prstGeom prst="rect">
            <a:avLst/>
          </a:prstGeom>
        </p:spPr>
      </p:pic>
      <p:sp>
        <p:nvSpPr>
          <p:cNvPr id="40" name="Rounded Rectangle 39"/>
          <p:cNvSpPr/>
          <p:nvPr/>
        </p:nvSpPr>
        <p:spPr>
          <a:xfrm>
            <a:off x="666733" y="6553199"/>
            <a:ext cx="10858228" cy="2333624"/>
          </a:xfrm>
          <a:prstGeom prst="roundRect">
            <a:avLst>
              <a:gd name="adj" fmla="val 653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 Same Side Corner Rectangle 40"/>
          <p:cNvSpPr/>
          <p:nvPr/>
        </p:nvSpPr>
        <p:spPr>
          <a:xfrm rot="16200000">
            <a:off x="-434039" y="7653971"/>
            <a:ext cx="233362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942951" y="6791325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42951" y="6791325"/>
            <a:ext cx="380990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514437" y="6791325"/>
            <a:ext cx="9772405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Infotainment Controls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514437" y="7229475"/>
            <a:ext cx="977240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975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Users interact with media, navigation, and climate control through different interfaces with inconsistent terminology.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514437" y="7639049"/>
            <a:ext cx="9772405" cy="1009649"/>
          </a:xfrm>
          <a:prstGeom prst="roundRect">
            <a:avLst>
              <a:gd name="adj" fmla="val 15094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657308" y="7781924"/>
            <a:ext cx="9486662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196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196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Unify Interface Language </a:t>
            </a:r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657308" y="7817167"/>
            <a:ext cx="228594" cy="177164"/>
          </a:xfrm>
          <a:prstGeom prst="rect">
            <a:avLst/>
          </a:prstGeom>
        </p:spPr>
      </p:pic>
      <p:sp>
        <p:nvSpPr>
          <p:cNvPr id="49" name="Rounded Rectangle 48"/>
          <p:cNvSpPr/>
          <p:nvPr/>
        </p:nvSpPr>
        <p:spPr>
          <a:xfrm>
            <a:off x="1657308" y="8115300"/>
            <a:ext cx="1828754" cy="390525"/>
          </a:xfrm>
          <a:prstGeom prst="roundRect">
            <a:avLst>
              <a:gd name="adj" fmla="val 9756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657308" y="8115300"/>
            <a:ext cx="1828754" cy="3905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19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UserInteraction </a:t>
            </a:r>
          </a:p>
        </p:txBody>
      </p:sp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1816441" y="8210549"/>
            <a:ext cx="157971" cy="190499"/>
          </a:xfrm>
          <a:prstGeom prst="rect">
            <a:avLst/>
          </a:prstGeom>
        </p:spPr>
      </p:pic>
      <p:sp>
        <p:nvSpPr>
          <p:cNvPr id="52" name="Rounded Rectangle 51"/>
          <p:cNvSpPr/>
          <p:nvPr/>
        </p:nvSpPr>
        <p:spPr>
          <a:xfrm>
            <a:off x="3581310" y="8115300"/>
            <a:ext cx="1619209" cy="390525"/>
          </a:xfrm>
          <a:prstGeom prst="roundRect">
            <a:avLst>
              <a:gd name="adj" fmla="val 9756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581310" y="8115300"/>
            <a:ext cx="1619209" cy="3905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19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ControlMode </a:t>
            </a:r>
          </a:p>
        </p:txBody>
      </p:sp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3724181" y="8224557"/>
            <a:ext cx="190495" cy="162485"/>
          </a:xfrm>
          <a:prstGeom prst="rect">
            <a:avLst/>
          </a:prstGeom>
        </p:spPr>
      </p:pic>
      <p:sp>
        <p:nvSpPr>
          <p:cNvPr id="55" name="Rounded Rectangle 54"/>
          <p:cNvSpPr/>
          <p:nvPr/>
        </p:nvSpPr>
        <p:spPr>
          <a:xfrm>
            <a:off x="5295767" y="8115300"/>
            <a:ext cx="1571585" cy="390525"/>
          </a:xfrm>
          <a:prstGeom prst="roundRect">
            <a:avLst>
              <a:gd name="adj" fmla="val 9756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295767" y="8115300"/>
            <a:ext cx="1571585" cy="3905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19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SystemState </a:t>
            </a:r>
          </a:p>
        </p:txBody>
      </p:sp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5438639" y="8224557"/>
            <a:ext cx="190495" cy="162485"/>
          </a:xfrm>
          <a:prstGeom prst="rect">
            <a:avLst/>
          </a:prstGeom>
        </p:spPr>
      </p:pic>
      <p:sp>
        <p:nvSpPr>
          <p:cNvPr id="58" name="Rectangle 57"/>
          <p:cNvSpPr/>
          <p:nvPr/>
        </p:nvSpPr>
        <p:spPr>
          <a:xfrm>
            <a:off x="0" y="9172575"/>
            <a:ext cx="12191695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66733" y="9315450"/>
            <a:ext cx="3590835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The CPSA® Advanced Level Module DDD – iSAQB® Training Course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077098" y="9315450"/>
            <a:ext cx="2447863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Volkswagen Group India | 22 December 2025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5725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33" y="190499"/>
            <a:ext cx="10858228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LG 1-2: Scenarios and Solutions - When Terminology Conflicts Arise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6733" y="1143000"/>
            <a:ext cx="3314617" cy="4972050"/>
          </a:xfrm>
          <a:prstGeom prst="roundRect">
            <a:avLst>
              <a:gd name="adj" fmla="val 4597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 Same Side Corner Rectangle 4"/>
          <p:cNvSpPr/>
          <p:nvPr/>
        </p:nvSpPr>
        <p:spPr>
          <a:xfrm rot="16200000">
            <a:off x="-1753252" y="3562985"/>
            <a:ext cx="49720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4832" y="1143000"/>
            <a:ext cx="666733" cy="497205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66753" y="3537387"/>
            <a:ext cx="342891" cy="18327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609684" y="1333500"/>
            <a:ext cx="838179" cy="88582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Cross-Team Conflicts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9684" y="2314575"/>
            <a:ext cx="838179" cy="18668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975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Different teams using inconsistent terminology for same concepts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8379" y="1333500"/>
            <a:ext cx="1342991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Solution Approach 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2838379" y="1503045"/>
            <a:ext cx="228594" cy="194309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2838379" y="1976157"/>
            <a:ext cx="190495" cy="16248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143171" y="1962149"/>
            <a:ext cx="1038199" cy="10667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Glossary creation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with clear definitions 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43171" y="1952624"/>
            <a:ext cx="761980" cy="542925"/>
          </a:xfrm>
          <a:prstGeom prst="roundRect">
            <a:avLst>
              <a:gd name="adj" fmla="val 14035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2838379" y="3157257"/>
            <a:ext cx="190495" cy="16248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143171" y="3143250"/>
            <a:ext cx="1038199" cy="13335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Regular alignment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meetings between teams 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43171" y="3133724"/>
            <a:ext cx="895327" cy="542925"/>
          </a:xfrm>
          <a:prstGeom prst="roundRect">
            <a:avLst>
              <a:gd name="adj" fmla="val 14035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2838379" y="4605057"/>
            <a:ext cx="190495" cy="16248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143171" y="4591050"/>
            <a:ext cx="1038199" cy="10667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Bounded contexts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for different domains 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143171" y="4581524"/>
            <a:ext cx="800079" cy="542925"/>
          </a:xfrm>
          <a:prstGeom prst="roundRect">
            <a:avLst>
              <a:gd name="adj" fmla="val 14035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267093" y="1143000"/>
            <a:ext cx="3247943" cy="4972050"/>
          </a:xfrm>
          <a:prstGeom prst="roundRect">
            <a:avLst>
              <a:gd name="adj" fmla="val 4692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1847108" y="3562985"/>
            <a:ext cx="49720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05192" y="1143000"/>
            <a:ext cx="666733" cy="497205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4467113" y="3496003"/>
            <a:ext cx="342891" cy="266043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210044" y="1333500"/>
            <a:ext cx="1162020" cy="5905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Evolving Requirements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10044" y="2019299"/>
            <a:ext cx="1162020" cy="13335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975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Business terminology changing during development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72105" y="1333500"/>
            <a:ext cx="1838279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Solution Approach 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772105" y="1503045"/>
            <a:ext cx="228594" cy="194309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772105" y="1976157"/>
            <a:ext cx="190495" cy="162485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076898" y="1962149"/>
            <a:ext cx="1533486" cy="8001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Versioned glossary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with change tracking 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076898" y="1952624"/>
            <a:ext cx="866753" cy="542925"/>
          </a:xfrm>
          <a:prstGeom prst="roundRect">
            <a:avLst>
              <a:gd name="adj" fmla="val 14035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772105" y="2890557"/>
            <a:ext cx="190495" cy="162485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7076898" y="2876549"/>
            <a:ext cx="1533486" cy="10667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Living documentation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that evolves with language 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076898" y="2867025"/>
            <a:ext cx="1314417" cy="542925"/>
          </a:xfrm>
          <a:prstGeom prst="roundRect">
            <a:avLst>
              <a:gd name="adj" fmla="val 14035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772105" y="4071657"/>
            <a:ext cx="190495" cy="162485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7076898" y="4057650"/>
            <a:ext cx="1533486" cy="10667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Domain expert workshops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for terminology refinement 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076898" y="4048124"/>
            <a:ext cx="1266793" cy="542925"/>
          </a:xfrm>
          <a:prstGeom prst="roundRect">
            <a:avLst>
              <a:gd name="adj" fmla="val 14035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800779" y="1143000"/>
            <a:ext cx="3724181" cy="4972050"/>
          </a:xfrm>
          <a:prstGeom prst="roundRect">
            <a:avLst>
              <a:gd name="adj" fmla="val 4092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 Same Side Corner Rectangle 38"/>
          <p:cNvSpPr/>
          <p:nvPr/>
        </p:nvSpPr>
        <p:spPr>
          <a:xfrm rot="16200000">
            <a:off x="5380794" y="3562985"/>
            <a:ext cx="49720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838879" y="1143000"/>
            <a:ext cx="666733" cy="497205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000799" y="3484179"/>
            <a:ext cx="342891" cy="289691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8743731" y="1333500"/>
            <a:ext cx="990575" cy="88582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Technical vs. Business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43731" y="2314575"/>
            <a:ext cx="990575" cy="18668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975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Developers using technical terms that business users don't understand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124821" y="1333500"/>
            <a:ext cx="1562060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Solution Approach </a:t>
            </a:r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0124821" y="1503045"/>
            <a:ext cx="228594" cy="194309"/>
          </a:xfrm>
          <a:prstGeom prst="rect">
            <a:avLst/>
          </a:prstGeom>
        </p:spPr>
      </p:pic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0124821" y="1976157"/>
            <a:ext cx="190495" cy="162485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10429614" y="1962149"/>
            <a:ext cx="1257268" cy="10667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Translation layer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between technical and business terms 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429614" y="1952624"/>
            <a:ext cx="981050" cy="542925"/>
          </a:xfrm>
          <a:prstGeom prst="roundRect">
            <a:avLst>
              <a:gd name="adj" fmla="val 14035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0124821" y="3157257"/>
            <a:ext cx="190495" cy="162485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10429614" y="3143250"/>
            <a:ext cx="1314417" cy="10667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User-facing documentation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with business terminology 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0429614" y="3133724"/>
            <a:ext cx="1314417" cy="542925"/>
          </a:xfrm>
          <a:prstGeom prst="roundRect">
            <a:avLst>
              <a:gd name="adj" fmla="val 14035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0124821" y="4338357"/>
            <a:ext cx="190495" cy="162485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10429614" y="4324349"/>
            <a:ext cx="1257268" cy="13335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Code comments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mapping technical to business terms 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0429614" y="4314825"/>
            <a:ext cx="914377" cy="542925"/>
          </a:xfrm>
          <a:prstGeom prst="roundRect">
            <a:avLst>
              <a:gd name="adj" fmla="val 14035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66733" y="6543675"/>
            <a:ext cx="3590835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The CPSA® Advanced Level Module DDD – iSAQB® Training Course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077098" y="6543675"/>
            <a:ext cx="2447863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Volkswagen Group India | 22 December 2025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5725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33" y="190499"/>
            <a:ext cx="10858228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LG 1-2: Self-Study Resources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6733" y="1143000"/>
            <a:ext cx="5314817" cy="2981325"/>
          </a:xfrm>
          <a:prstGeom prst="roundRect">
            <a:avLst>
              <a:gd name="adj" fmla="val 5111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 Same Side Corner Rectangle 4"/>
          <p:cNvSpPr/>
          <p:nvPr/>
        </p:nvSpPr>
        <p:spPr>
          <a:xfrm rot="16200000">
            <a:off x="-757889" y="2567622"/>
            <a:ext cx="29813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42951" y="1381124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047723" y="1519237"/>
            <a:ext cx="266693" cy="2000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62060" y="1466849"/>
            <a:ext cx="609584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Books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42951" y="2059080"/>
            <a:ext cx="190495" cy="16808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47743" y="2047874"/>
            <a:ext cx="4495687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Domain-Driven 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47743" y="2324100"/>
            <a:ext cx="4495687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Eric Evans - </a:t>
            </a:r>
            <a:r>
              <a:rPr sz="107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Ubiquitous Language</a:t>
            </a:r>
            <a:r>
              <a:rPr sz="107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chapter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095447" y="2314575"/>
            <a:ext cx="1676358" cy="257175"/>
          </a:xfrm>
          <a:prstGeom prst="roundRect">
            <a:avLst>
              <a:gd name="adj" fmla="val 29629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42951" y="2716305"/>
            <a:ext cx="190495" cy="16808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247743" y="2705099"/>
            <a:ext cx="4495687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Implementing DDD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47743" y="2981325"/>
            <a:ext cx="4495687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Vaughn Vernon - </a:t>
            </a:r>
            <a:r>
              <a:rPr sz="107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Bounded Contexts</a:t>
            </a:r>
            <a:r>
              <a:rPr sz="107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examples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47863" y="2971800"/>
            <a:ext cx="1457288" cy="257175"/>
          </a:xfrm>
          <a:prstGeom prst="roundRect">
            <a:avLst>
              <a:gd name="adj" fmla="val 29629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42951" y="3373530"/>
            <a:ext cx="190495" cy="16808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247743" y="3362324"/>
            <a:ext cx="4495687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DDD Distilled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47743" y="3638550"/>
            <a:ext cx="4495687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Jimmy Nilsson - </a:t>
            </a:r>
            <a:r>
              <a:rPr sz="107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Strategic Design</a:t>
            </a:r>
            <a:r>
              <a:rPr sz="107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and language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419289" y="3629025"/>
            <a:ext cx="1304892" cy="257175"/>
          </a:xfrm>
          <a:prstGeom prst="roundRect">
            <a:avLst>
              <a:gd name="adj" fmla="val 29629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10144" y="1143000"/>
            <a:ext cx="5314817" cy="2981325"/>
          </a:xfrm>
          <a:prstGeom prst="roundRect">
            <a:avLst>
              <a:gd name="adj" fmla="val 5111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4785522" y="2567622"/>
            <a:ext cx="29813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95887" y="1381124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591135" y="1514889"/>
            <a:ext cx="266693" cy="208721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105472" y="1466849"/>
            <a:ext cx="733406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Articles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495887" y="2061882"/>
            <a:ext cx="190495" cy="16248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800679" y="2047874"/>
            <a:ext cx="4495687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Ubiquitous Language in Practice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00679" y="2324100"/>
            <a:ext cx="4495687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Alberto Brandolini - </a:t>
            </a:r>
            <a:r>
              <a:rPr sz="107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Practical examples</a:t>
            </a:r>
            <a:r>
              <a:rPr sz="107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and patterns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19869" y="2314575"/>
            <a:ext cx="1495387" cy="257175"/>
          </a:xfrm>
          <a:prstGeom prst="roundRect">
            <a:avLst>
              <a:gd name="adj" fmla="val 29629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495887" y="2719107"/>
            <a:ext cx="190495" cy="162485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800679" y="2705099"/>
            <a:ext cx="4495687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Strategic Domain-Driven Design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00679" y="2981325"/>
            <a:ext cx="4495687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Eric Evans - </a:t>
            </a:r>
            <a:r>
              <a:rPr sz="107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Language patterns</a:t>
            </a:r>
            <a:r>
              <a:rPr sz="107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and context mapping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638859" y="2971800"/>
            <a:ext cx="1485862" cy="257175"/>
          </a:xfrm>
          <a:prstGeom prst="roundRect">
            <a:avLst>
              <a:gd name="adj" fmla="val 29629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495887" y="3376332"/>
            <a:ext cx="190495" cy="162485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800679" y="3362324"/>
            <a:ext cx="4495687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EventStorming Guide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00679" y="3638550"/>
            <a:ext cx="4495687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DDD-Crew - </a:t>
            </a:r>
            <a:r>
              <a:rPr sz="107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Collaborative modeling</a:t>
            </a:r>
            <a:r>
              <a:rPr sz="107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techniques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648383" y="3629025"/>
            <a:ext cx="1838279" cy="257175"/>
          </a:xfrm>
          <a:prstGeom prst="roundRect">
            <a:avLst>
              <a:gd name="adj" fmla="val 29629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66733" y="4362450"/>
            <a:ext cx="10858228" cy="2981325"/>
          </a:xfrm>
          <a:prstGeom prst="roundRect">
            <a:avLst>
              <a:gd name="adj" fmla="val 5111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 Same Side Corner Rectangle 38"/>
          <p:cNvSpPr/>
          <p:nvPr/>
        </p:nvSpPr>
        <p:spPr>
          <a:xfrm rot="16200000">
            <a:off x="-757889" y="5787072"/>
            <a:ext cx="29813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942951" y="4600575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1047723" y="4743035"/>
            <a:ext cx="266693" cy="191328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1562060" y="4686300"/>
            <a:ext cx="1695407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Online Resources</a:t>
            </a:r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942951" y="5281332"/>
            <a:ext cx="190495" cy="162485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1247743" y="5267324"/>
            <a:ext cx="10039099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DDD Community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47743" y="5543550"/>
            <a:ext cx="10039099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Forums, discussions, and </a:t>
            </a:r>
            <a:r>
              <a:rPr sz="107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language examples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076498" y="5534025"/>
            <a:ext cx="1523961" cy="257175"/>
          </a:xfrm>
          <a:prstGeom prst="roundRect">
            <a:avLst>
              <a:gd name="adj" fmla="val 29629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942951" y="5938557"/>
            <a:ext cx="190495" cy="162485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1247743" y="5924549"/>
            <a:ext cx="10039099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Glossary Tools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47743" y="6200775"/>
            <a:ext cx="10039099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Software for </a:t>
            </a:r>
            <a:r>
              <a:rPr sz="107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creating and managing</a:t>
            </a:r>
            <a:r>
              <a:rPr sz="107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ubiquitous language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152596" y="6191250"/>
            <a:ext cx="1800179" cy="257175"/>
          </a:xfrm>
          <a:prstGeom prst="roundRect">
            <a:avLst>
              <a:gd name="adj" fmla="val 29629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942951" y="6595782"/>
            <a:ext cx="190495" cy="162485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1247743" y="6581774"/>
            <a:ext cx="10039099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Workshop Templates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247743" y="6858000"/>
            <a:ext cx="10039099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Guides for </a:t>
            </a:r>
            <a:r>
              <a:rPr sz="107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language creation</a:t>
            </a:r>
            <a:r>
              <a:rPr sz="107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workshops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009724" y="6848475"/>
            <a:ext cx="1438239" cy="257175"/>
          </a:xfrm>
          <a:prstGeom prst="roundRect">
            <a:avLst>
              <a:gd name="adj" fmla="val 29629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0" y="7619999"/>
            <a:ext cx="12191695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66733" y="7762874"/>
            <a:ext cx="3590835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The CPSA® Advanced Level Module DDD – iSAQB® Training Course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077098" y="7762874"/>
            <a:ext cx="2447863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Volkswagen Group India | 22 December 2025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5725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33" y="190499"/>
            <a:ext cx="10858228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LG 1-3 &amp; 1-4: Introduction - Building Intuition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733" y="1143000"/>
            <a:ext cx="5286242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674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674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Why Building Blocks Matter 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1185496"/>
            <a:ext cx="304792" cy="25790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66733" y="1866899"/>
            <a:ext cx="5286242" cy="4476750"/>
          </a:xfrm>
          <a:prstGeom prst="roundRect">
            <a:avLst>
              <a:gd name="adj" fmla="val 3404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-1505602" y="4039234"/>
            <a:ext cx="44767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2951" y="2105024"/>
            <a:ext cx="4771905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Software Challenges 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42951" y="2120347"/>
            <a:ext cx="266693" cy="255104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42951" y="2586037"/>
            <a:ext cx="228594" cy="1428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14417" y="2543175"/>
            <a:ext cx="355273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Poor structure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leads to maintenance issues 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14417" y="2533649"/>
            <a:ext cx="1285842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42951" y="2995612"/>
            <a:ext cx="228594" cy="14287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314417" y="2952750"/>
            <a:ext cx="339081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Inconsistent design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increases complexity 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14417" y="2943225"/>
            <a:ext cx="1695407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42951" y="3405187"/>
            <a:ext cx="228594" cy="14287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314417" y="3362324"/>
            <a:ext cx="373370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Weak boundaries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cause integration problems 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14417" y="3352800"/>
            <a:ext cx="1523961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38719" y="1143000"/>
            <a:ext cx="5286242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674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674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Automotive Impact 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238719" y="1208942"/>
            <a:ext cx="304792" cy="211015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6238719" y="1866899"/>
            <a:ext cx="5286242" cy="2000250"/>
          </a:xfrm>
          <a:prstGeom prst="roundRect">
            <a:avLst>
              <a:gd name="adj" fmla="val 7619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5304634" y="2800984"/>
            <a:ext cx="20002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14937" y="2105024"/>
            <a:ext cx="4771905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Real-World Consequences 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514937" y="2139190"/>
            <a:ext cx="266693" cy="217418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514937" y="2560320"/>
            <a:ext cx="228594" cy="194309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886402" y="2543175"/>
            <a:ext cx="330509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Feature delays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from unclear boundaries 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86402" y="2533649"/>
            <a:ext cx="1304892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514937" y="2969895"/>
            <a:ext cx="228594" cy="194309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886402" y="2952750"/>
            <a:ext cx="368608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Integration failures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between vehicle systems 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86402" y="2943225"/>
            <a:ext cx="1676358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514937" y="3379470"/>
            <a:ext cx="228594" cy="194309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886402" y="3362324"/>
            <a:ext cx="316222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Safety issues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from inconsistent design 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86402" y="3352800"/>
            <a:ext cx="1171545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238719" y="4105274"/>
            <a:ext cx="5286242" cy="2238375"/>
          </a:xfrm>
          <a:prstGeom prst="roundRect">
            <a:avLst>
              <a:gd name="adj" fmla="val 6808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8686582" y="4444603"/>
            <a:ext cx="380990" cy="178593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476838" y="4867274"/>
            <a:ext cx="4810004" cy="8762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975"/>
              </a:spcAft>
            </a:pPr>
            <a:r>
              <a:rPr sz="1315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"Building blocks provide the vocabulary and structure for expressing domain concepts in software."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86442" y="5886450"/>
            <a:ext cx="319079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- Eric Evans, Author of Domain-Driven Design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629400"/>
            <a:ext cx="12191695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6733" y="6772275"/>
            <a:ext cx="3590835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The CPSA® Advanced Level Module DDD – iSAQB® Training Course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77098" y="6772275"/>
            <a:ext cx="2447863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Volkswagen Group India | 22 December 2025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5725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33" y="190499"/>
            <a:ext cx="10858228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LG 1-3 &amp; 1-4: Key Terminologies - DDD Building Blocks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6733" y="1143000"/>
            <a:ext cx="3495587" cy="2371725"/>
          </a:xfrm>
          <a:prstGeom prst="roundRect">
            <a:avLst>
              <a:gd name="adj" fmla="val 6425"/>
            </a:avLst>
          </a:prstGeom>
          <a:solidFill>
            <a:srgbClr val="F5F7FA"/>
          </a:solidFill>
          <a:ln w="33020"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57228" y="1371600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962000" y="1496667"/>
            <a:ext cx="266693" cy="22611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76338" y="1466849"/>
            <a:ext cx="590535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Entity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7228" y="1990724"/>
            <a:ext cx="3114597" cy="13335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Object with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distinct identity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that tracks state over time </a:t>
            </a:r>
            <a:r>
              <a:rPr sz="1104"/>
              <a:t>
</a:t>
            </a:r>
            <a:r>
              <a:rPr sz="1104"/>
              <a:t>
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Automotive Example: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Vehicle with unique VIN 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09704" y="1981199"/>
            <a:ext cx="1409664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52816" y="1143000"/>
            <a:ext cx="3495587" cy="2371725"/>
          </a:xfrm>
          <a:prstGeom prst="roundRect">
            <a:avLst>
              <a:gd name="adj" fmla="val 6425"/>
            </a:avLst>
          </a:prstGeom>
          <a:solidFill>
            <a:srgbClr val="F5F7FA"/>
          </a:solidFill>
          <a:ln w="33020"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43311" y="1371600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4648083" y="1509712"/>
            <a:ext cx="266693" cy="20002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162420" y="1466849"/>
            <a:ext cx="1228694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Value Object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3311" y="1990724"/>
            <a:ext cx="3114597" cy="13335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Immutable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object defined by attributes, not identity </a:t>
            </a:r>
            <a:r>
              <a:rPr sz="1104"/>
              <a:t>
</a:t>
            </a:r>
            <a:r>
              <a:rPr sz="1104"/>
              <a:t>
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Automotive Example: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Speed, Temperature, Coordinates 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43311" y="1981199"/>
            <a:ext cx="1009624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29374" y="1143000"/>
            <a:ext cx="3495587" cy="2371725"/>
          </a:xfrm>
          <a:prstGeom prst="roundRect">
            <a:avLst>
              <a:gd name="adj" fmla="val 6425"/>
            </a:avLst>
          </a:prstGeom>
          <a:solidFill>
            <a:srgbClr val="F5F7FA"/>
          </a:solidFill>
          <a:ln w="33020"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19869" y="1371600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324641" y="1480723"/>
            <a:ext cx="266693" cy="258003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838979" y="1466849"/>
            <a:ext cx="990575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Aggregate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19869" y="1990724"/>
            <a:ext cx="3114597" cy="13335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Cluster of related objects treated as a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single unit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
</a:t>
            </a:r>
            <a:r>
              <a:rPr sz="1104"/>
              <a:t>
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Automotive Example: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Vehicle with Components 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19869" y="2247899"/>
            <a:ext cx="971525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66733" y="3705224"/>
            <a:ext cx="3495587" cy="2638425"/>
          </a:xfrm>
          <a:prstGeom prst="roundRect">
            <a:avLst>
              <a:gd name="adj" fmla="val 5776"/>
            </a:avLst>
          </a:prstGeom>
          <a:solidFill>
            <a:srgbClr val="F5F7FA"/>
          </a:solidFill>
          <a:ln w="33020"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57228" y="3933824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962000" y="4058892"/>
            <a:ext cx="266693" cy="226115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476338" y="4019549"/>
            <a:ext cx="714357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Service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7228" y="4552949"/>
            <a:ext cx="3114597" cy="16002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Stateless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operations that don't naturally fit entities </a:t>
            </a:r>
            <a:r>
              <a:rPr sz="1104"/>
              <a:t>
</a:t>
            </a:r>
            <a:r>
              <a:rPr sz="1104"/>
              <a:t>
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Automotive Example: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DiagnosticService, PaymentProcessor 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57228" y="4543425"/>
            <a:ext cx="847703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352816" y="3705224"/>
            <a:ext cx="3495587" cy="2638425"/>
          </a:xfrm>
          <a:prstGeom prst="roundRect">
            <a:avLst>
              <a:gd name="adj" fmla="val 5776"/>
            </a:avLst>
          </a:prstGeom>
          <a:solidFill>
            <a:srgbClr val="F5F7FA"/>
          </a:solidFill>
          <a:ln w="33020"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543311" y="3933824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4648083" y="4058892"/>
            <a:ext cx="266693" cy="226115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5162420" y="4019549"/>
            <a:ext cx="1066773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Repository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43311" y="4552949"/>
            <a:ext cx="3114597" cy="16002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Mediates between domain and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data mapping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layers </a:t>
            </a:r>
            <a:r>
              <a:rPr sz="1104"/>
              <a:t>
</a:t>
            </a:r>
            <a:r>
              <a:rPr sz="1104"/>
              <a:t>
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Automotive Example: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VehicleRepository, CustomerRepository 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43311" y="4543425"/>
            <a:ext cx="2905052" cy="542925"/>
          </a:xfrm>
          <a:prstGeom prst="roundRect">
            <a:avLst>
              <a:gd name="adj" fmla="val 14035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029374" y="3705224"/>
            <a:ext cx="3495587" cy="2638425"/>
          </a:xfrm>
          <a:prstGeom prst="roundRect">
            <a:avLst>
              <a:gd name="adj" fmla="val 5776"/>
            </a:avLst>
          </a:prstGeom>
          <a:solidFill>
            <a:srgbClr val="F5F7FA"/>
          </a:solidFill>
          <a:ln w="33020"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219869" y="3933824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8324641" y="4064690"/>
            <a:ext cx="266693" cy="214519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8838979" y="4019549"/>
            <a:ext cx="733406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Factory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19869" y="4552949"/>
            <a:ext cx="3114597" cy="16002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Encapsulates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complex object creation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logic </a:t>
            </a:r>
            <a:r>
              <a:rPr sz="1104"/>
              <a:t>
</a:t>
            </a:r>
            <a:r>
              <a:rPr sz="1104"/>
              <a:t>
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Automotive Example: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VehicleFactory, OrderFactory 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19869" y="4543425"/>
            <a:ext cx="2390715" cy="542925"/>
          </a:xfrm>
          <a:prstGeom prst="roundRect">
            <a:avLst>
              <a:gd name="adj" fmla="val 14035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0" y="6629400"/>
            <a:ext cx="12191695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6733" y="6772275"/>
            <a:ext cx="3590835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The CPSA® Advanced Level Module DDD – iSAQB® Training Course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77098" y="6772275"/>
            <a:ext cx="2447863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Volkswagen Group India | 22 December 2025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3350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33" y="190499"/>
            <a:ext cx="10858228" cy="9524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LG 1-3 &amp; 1-4: Concepts - DDD Building Blocks and Their Relationships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733" y="1619250"/>
            <a:ext cx="5286242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674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674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Key Relationships 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1642696"/>
            <a:ext cx="304792" cy="29600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66733" y="2343150"/>
            <a:ext cx="5286242" cy="3771900"/>
          </a:xfrm>
          <a:prstGeom prst="roundRect">
            <a:avLst>
              <a:gd name="adj" fmla="val 404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-1153177" y="4163060"/>
            <a:ext cx="37719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2951" y="2581275"/>
            <a:ext cx="4771905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Building Block Connections 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42951" y="2611092"/>
            <a:ext cx="266693" cy="22611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42951" y="3022282"/>
            <a:ext cx="228594" cy="22288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14417" y="3019424"/>
            <a:ext cx="375275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Aggregates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contain Entities and Value Objects 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14417" y="3009900"/>
            <a:ext cx="1019149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942951" y="3446145"/>
            <a:ext cx="228594" cy="19430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314417" y="3429000"/>
            <a:ext cx="272408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Repositories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manage Aggregates 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14417" y="3419474"/>
            <a:ext cx="1133446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942951" y="3860006"/>
            <a:ext cx="228594" cy="185737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314417" y="3838574"/>
            <a:ext cx="400039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Factories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create complex Entities and Aggregates 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14417" y="3829050"/>
            <a:ext cx="857228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942951" y="4265295"/>
            <a:ext cx="228594" cy="194309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314417" y="4248150"/>
            <a:ext cx="334319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Services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operate across multiple Entities 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14417" y="4238624"/>
            <a:ext cx="790555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8719" y="1619250"/>
            <a:ext cx="5286242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674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674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Design Principles 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6238719" y="1673469"/>
            <a:ext cx="304792" cy="234461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6238719" y="2343150"/>
            <a:ext cx="5286242" cy="2209800"/>
          </a:xfrm>
          <a:prstGeom prst="roundRect">
            <a:avLst>
              <a:gd name="adj" fmla="val 6896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 Same Side Corner Rectangle 24"/>
          <p:cNvSpPr/>
          <p:nvPr/>
        </p:nvSpPr>
        <p:spPr>
          <a:xfrm rot="16200000">
            <a:off x="5199859" y="3382010"/>
            <a:ext cx="22098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14937" y="2581275"/>
            <a:ext cx="4771905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Aggregate Rules 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514937" y="2599496"/>
            <a:ext cx="266693" cy="249306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6514937" y="3036570"/>
            <a:ext cx="228594" cy="194309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886402" y="3019424"/>
            <a:ext cx="35241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Consistency boundary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- Ensures invariants 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86402" y="3009900"/>
            <a:ext cx="1933526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6514937" y="3446145"/>
            <a:ext cx="228594" cy="194309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886402" y="3429000"/>
            <a:ext cx="341938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Single root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- One entry point to aggregate 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86402" y="3419474"/>
            <a:ext cx="1000099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6514937" y="3855720"/>
            <a:ext cx="228594" cy="194309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886402" y="3838574"/>
            <a:ext cx="397182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Local persistence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- One repository per aggregate 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886402" y="3829050"/>
            <a:ext cx="1523961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238719" y="4933950"/>
            <a:ext cx="5286242" cy="1181099"/>
          </a:xfrm>
          <a:prstGeom prst="roundRect">
            <a:avLst>
              <a:gd name="adj" fmla="val 12903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81590" y="5076825"/>
            <a:ext cx="500049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Automotive Example 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6381590" y="5130165"/>
            <a:ext cx="228594" cy="16002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6381590" y="5438774"/>
            <a:ext cx="5000499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Vehicle Aggregate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contains Engine Entity and Speed Value Object, managed by VehicleRepository 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381590" y="5429250"/>
            <a:ext cx="1562060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6733" y="6543675"/>
            <a:ext cx="3590835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The CPSA® Advanced Level Module DDD – iSAQB® Training Course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77098" y="6543675"/>
            <a:ext cx="2447863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Volkswagen Group India | 22 December 2025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5725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33" y="190499"/>
            <a:ext cx="10858228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LG 1-3 &amp; 1-4: Walkthrough - Implementing DDD Building Blocks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6733" y="1143000"/>
            <a:ext cx="3495587" cy="3867149"/>
          </a:xfrm>
          <a:prstGeom prst="roundRect">
            <a:avLst>
              <a:gd name="adj" fmla="val 4359"/>
            </a:avLst>
          </a:prstGeom>
          <a:solidFill>
            <a:srgbClr val="F5F7FA"/>
          </a:solidFill>
          <a:ln w="33020"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57228" y="1038224"/>
            <a:ext cx="285742" cy="285750"/>
          </a:xfrm>
          <a:prstGeom prst="roundRect">
            <a:avLst>
              <a:gd name="adj" fmla="val 5000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7228" y="1038224"/>
            <a:ext cx="285742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7228" y="1466849"/>
            <a:ext cx="311459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650"/>
              </a:spcBef>
              <a:spcAft>
                <a:spcPts val="975"/>
              </a:spcAft>
            </a:pP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Identify Building Blocks 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57228" y="1503045"/>
            <a:ext cx="228594" cy="194309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57228" y="1890432"/>
            <a:ext cx="190495" cy="16248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42971" y="1876424"/>
            <a:ext cx="25240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Entities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- Objects with identity 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2971" y="1866899"/>
            <a:ext cx="742931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57228" y="2279836"/>
            <a:ext cx="190495" cy="14567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42971" y="2257425"/>
            <a:ext cx="2828854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Value Objects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- Immutable attributes 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2971" y="2247899"/>
            <a:ext cx="1219169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57228" y="2907926"/>
            <a:ext cx="190495" cy="184897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142971" y="2905124"/>
            <a:ext cx="2828854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Aggregates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- Related object clusters 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42971" y="2895600"/>
            <a:ext cx="1019149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352816" y="1143000"/>
            <a:ext cx="3495587" cy="3867149"/>
          </a:xfrm>
          <a:prstGeom prst="roundRect">
            <a:avLst>
              <a:gd name="adj" fmla="val 4359"/>
            </a:avLst>
          </a:prstGeom>
          <a:solidFill>
            <a:srgbClr val="F5F7FA"/>
          </a:solidFill>
          <a:ln w="33020"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543311" y="1038224"/>
            <a:ext cx="285742" cy="285750"/>
          </a:xfrm>
          <a:prstGeom prst="roundRect">
            <a:avLst>
              <a:gd name="adj" fmla="val 5000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43311" y="1038224"/>
            <a:ext cx="285742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3311" y="1466849"/>
            <a:ext cx="311459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650"/>
              </a:spcBef>
              <a:spcAft>
                <a:spcPts val="975"/>
              </a:spcAft>
            </a:pP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Design Relationships 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4543311" y="1511617"/>
            <a:ext cx="228594" cy="177164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4543311" y="1890432"/>
            <a:ext cx="190495" cy="16248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829054" y="1876424"/>
            <a:ext cx="2828854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Repositories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- Manage aggregate lifecycle 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829054" y="1866899"/>
            <a:ext cx="1133446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4543311" y="2540933"/>
            <a:ext cx="190495" cy="15688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829054" y="2524125"/>
            <a:ext cx="2828854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Factories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- Create complex objects 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829054" y="2514600"/>
            <a:ext cx="857228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4543311" y="3185832"/>
            <a:ext cx="190495" cy="162485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4829054" y="3171825"/>
            <a:ext cx="253358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Services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- Stateless operations 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829054" y="3162299"/>
            <a:ext cx="790555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029374" y="1143000"/>
            <a:ext cx="3495587" cy="3867149"/>
          </a:xfrm>
          <a:prstGeom prst="roundRect">
            <a:avLst>
              <a:gd name="adj" fmla="val 4359"/>
            </a:avLst>
          </a:prstGeom>
          <a:solidFill>
            <a:srgbClr val="F5F7FA"/>
          </a:solidFill>
          <a:ln w="33020"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219869" y="1038224"/>
            <a:ext cx="285742" cy="285750"/>
          </a:xfrm>
          <a:prstGeom prst="roundRect">
            <a:avLst>
              <a:gd name="adj" fmla="val 5000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9869" y="1038224"/>
            <a:ext cx="285742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9869" y="1466849"/>
            <a:ext cx="311459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650"/>
              </a:spcBef>
              <a:spcAft>
                <a:spcPts val="975"/>
              </a:spcAft>
            </a:pP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Implement in Code 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8219869" y="1537335"/>
            <a:ext cx="228594" cy="125729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8219869" y="1880627"/>
            <a:ext cx="190495" cy="182095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8505612" y="1876424"/>
            <a:ext cx="2828854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Define invariants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in aggregate roots 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505612" y="1866899"/>
            <a:ext cx="1504912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8219869" y="2529727"/>
            <a:ext cx="190495" cy="179294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8505612" y="2524125"/>
            <a:ext cx="2828854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Enforce boundaries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with repositories 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505612" y="2514600"/>
            <a:ext cx="1704932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8219869" y="3177427"/>
            <a:ext cx="190495" cy="179294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8505612" y="3171825"/>
            <a:ext cx="246691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Refactor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to improve structure 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505612" y="3162299"/>
            <a:ext cx="800079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66733" y="5200650"/>
            <a:ext cx="10858228" cy="914400"/>
          </a:xfrm>
          <a:prstGeom prst="roundRect">
            <a:avLst>
              <a:gd name="adj" fmla="val 1666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9604" y="5343525"/>
            <a:ext cx="1057248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Automotive Example </a:t>
            </a:r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14">
            <a:alphaModFix amt="100000"/>
          </a:blip>
          <a:stretch>
            <a:fillRect/>
          </a:stretch>
        </p:blipFill>
        <p:spPr>
          <a:xfrm>
            <a:off x="809604" y="5396865"/>
            <a:ext cx="228594" cy="160020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809604" y="5705475"/>
            <a:ext cx="1057248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Vehicle Aggregate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with Engine Entity, managed by VehicleRepository, created by VehicleFactory 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09604" y="5695949"/>
            <a:ext cx="1562060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66733" y="6543675"/>
            <a:ext cx="3590835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The CPSA® Advanced Level Module DDD – iSAQB® Training Course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077098" y="6543675"/>
            <a:ext cx="2447863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Volkswagen Group India | 22 December 2025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5725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33" y="190499"/>
            <a:ext cx="10858228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LG 1-3 &amp; 1-4: Analogies - Building with LEGO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6733" y="1143000"/>
            <a:ext cx="5286242" cy="3600450"/>
          </a:xfrm>
          <a:prstGeom prst="roundRect">
            <a:avLst>
              <a:gd name="adj" fmla="val 4232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 Same Side Corner Rectangle 4"/>
          <p:cNvSpPr/>
          <p:nvPr/>
        </p:nvSpPr>
        <p:spPr>
          <a:xfrm rot="16200000">
            <a:off x="-1067452" y="2877185"/>
            <a:ext cx="36004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42951" y="1381124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076298" y="1558436"/>
            <a:ext cx="304792" cy="21687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657308" y="1495424"/>
            <a:ext cx="2447863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LEGO Building Blocks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42951" y="2160270"/>
            <a:ext cx="228594" cy="19430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314417" y="2143125"/>
            <a:ext cx="427661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Entities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- Unique LEGO bricks with special identifiers 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14417" y="2133599"/>
            <a:ext cx="742931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42951" y="2581275"/>
            <a:ext cx="228594" cy="1714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314417" y="2552700"/>
            <a:ext cx="422899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Value Objects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- Standard bricks with fixed attributes 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14417" y="2543175"/>
            <a:ext cx="1219169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942951" y="2965132"/>
            <a:ext cx="228594" cy="2228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314417" y="2962274"/>
            <a:ext cx="42670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Aggregates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- LEGO models built from multiple bricks 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14417" y="2952750"/>
            <a:ext cx="1019149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38719" y="1143000"/>
            <a:ext cx="5286242" cy="3600450"/>
          </a:xfrm>
          <a:prstGeom prst="roundRect">
            <a:avLst>
              <a:gd name="adj" fmla="val 4232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 Same Side Corner Rectangle 18"/>
          <p:cNvSpPr/>
          <p:nvPr/>
        </p:nvSpPr>
        <p:spPr>
          <a:xfrm rot="16200000">
            <a:off x="4504534" y="2877185"/>
            <a:ext cx="36004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14937" y="1381124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648283" y="1549644"/>
            <a:ext cx="304792" cy="234461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229294" y="1495424"/>
            <a:ext cx="2152596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Building Principles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514937" y="2160270"/>
            <a:ext cx="228594" cy="194309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886402" y="2143125"/>
            <a:ext cx="409564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Repositories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- LEGO storage containers for models 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86402" y="2133599"/>
            <a:ext cx="1133446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6514937" y="2574131"/>
            <a:ext cx="228594" cy="185737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886402" y="2552700"/>
            <a:ext cx="419089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Factories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- Instruction manuals for complex models 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86402" y="2543175"/>
            <a:ext cx="857228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514937" y="2979420"/>
            <a:ext cx="228594" cy="194309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886402" y="2962274"/>
            <a:ext cx="329556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Services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- Special tools for specific tasks 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86402" y="2952750"/>
            <a:ext cx="790555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66733" y="4933950"/>
            <a:ext cx="10858228" cy="1181099"/>
          </a:xfrm>
          <a:prstGeom prst="roundRect">
            <a:avLst>
              <a:gd name="adj" fmla="val 12903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9604" y="5076825"/>
            <a:ext cx="1057248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DDD Connection 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809604" y="5113019"/>
            <a:ext cx="228594" cy="194309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809604" y="5438774"/>
            <a:ext cx="10572485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Just as LEGO provides standardized building blocks for creating complex structures,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DDD building blocks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provide standardized components for creating complex software 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467413" y="5429250"/>
            <a:ext cx="1762080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6733" y="6543675"/>
            <a:ext cx="3590835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The CPSA® Advanced Level Module DDD – iSAQB® Training Course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77098" y="6543675"/>
            <a:ext cx="2447863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Volkswagen Group India | 22 December 2025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3350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33" y="190499"/>
            <a:ext cx="10858228" cy="9524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LG 1-3 &amp; 1-4: Connected Examples - Automotive DDD Implementation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6733" y="1619250"/>
            <a:ext cx="3428914" cy="6505575"/>
          </a:xfrm>
          <a:prstGeom prst="roundRect">
            <a:avLst>
              <a:gd name="adj" fmla="val 4444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 Same Side Corner Rectangle 4"/>
          <p:cNvSpPr/>
          <p:nvPr/>
        </p:nvSpPr>
        <p:spPr>
          <a:xfrm rot="16200000">
            <a:off x="-2520014" y="4805997"/>
            <a:ext cx="65055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42951" y="1914525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076298" y="2071321"/>
            <a:ext cx="304792" cy="25790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657308" y="1857375"/>
            <a:ext cx="2200219" cy="6858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Powertrain Domain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2951" y="2733674"/>
            <a:ext cx="2914577" cy="1181099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825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5347" y="2886075"/>
            <a:ext cx="260978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Entity 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095347" y="2938182"/>
            <a:ext cx="190495" cy="16248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95347" y="3228975"/>
            <a:ext cx="2609784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Engine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with unique ID and state 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5347" y="3219449"/>
            <a:ext cx="676258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42951" y="4057650"/>
            <a:ext cx="2914577" cy="1181099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825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5347" y="4210049"/>
            <a:ext cx="260978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Value Object 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095347" y="4270561"/>
            <a:ext cx="190495" cy="14567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095347" y="4552949"/>
            <a:ext cx="2609784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TorqueCurve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- Immutable performance data 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5347" y="4543425"/>
            <a:ext cx="1162020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42951" y="5381624"/>
            <a:ext cx="2914577" cy="1181099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825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5347" y="5534025"/>
            <a:ext cx="260978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Aggregate 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1095347" y="5574926"/>
            <a:ext cx="190495" cy="184897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095347" y="5876925"/>
            <a:ext cx="2609784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Powertrain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- Contains Engine and Transmission 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95347" y="5867399"/>
            <a:ext cx="1019149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42951" y="6705600"/>
            <a:ext cx="2914577" cy="1181099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825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5347" y="6858000"/>
            <a:ext cx="260978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Repository 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1095347" y="6910107"/>
            <a:ext cx="190495" cy="16248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095347" y="7200900"/>
            <a:ext cx="2609784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PowertrainRepository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- Manages lifecycle 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95347" y="7191375"/>
            <a:ext cx="1914477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381390" y="1619250"/>
            <a:ext cx="3428914" cy="6505575"/>
          </a:xfrm>
          <a:prstGeom prst="roundRect">
            <a:avLst>
              <a:gd name="adj" fmla="val 4444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 Same Side Corner Rectangle 29"/>
          <p:cNvSpPr/>
          <p:nvPr/>
        </p:nvSpPr>
        <p:spPr>
          <a:xfrm rot="16200000">
            <a:off x="1194643" y="4805997"/>
            <a:ext cx="65055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657608" y="1914525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4790955" y="2056667"/>
            <a:ext cx="304792" cy="287215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5371965" y="1857375"/>
            <a:ext cx="2200219" cy="6858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Infotainment System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57608" y="2733674"/>
            <a:ext cx="2914577" cy="1181099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825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10004" y="2886075"/>
            <a:ext cx="260978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Entity 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4810004" y="2938182"/>
            <a:ext cx="190495" cy="162485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4810004" y="3228975"/>
            <a:ext cx="2609784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MediaSession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- Tracks user interactions 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810004" y="3219449"/>
            <a:ext cx="1238219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4657608" y="4057650"/>
            <a:ext cx="2914577" cy="1181099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825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810004" y="4210049"/>
            <a:ext cx="260978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Value Object </a:t>
            </a:r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4810004" y="4270561"/>
            <a:ext cx="190495" cy="145676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4810004" y="4552949"/>
            <a:ext cx="2609784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MediaMetadata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- Immutable track info 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810004" y="4543425"/>
            <a:ext cx="1371565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657608" y="5381624"/>
            <a:ext cx="2914577" cy="1181099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825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810004" y="5534025"/>
            <a:ext cx="260978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Service </a:t>
            </a:r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4810004" y="5586132"/>
            <a:ext cx="190495" cy="162485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4810004" y="5876925"/>
            <a:ext cx="2609784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MediaStreamingService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- Handles playback 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810004" y="5867399"/>
            <a:ext cx="2057348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4657608" y="6705600"/>
            <a:ext cx="2914577" cy="1181099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825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810004" y="6858000"/>
            <a:ext cx="260978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Factory </a:t>
            </a:r>
          </a:p>
        </p:txBody>
      </p:sp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4810004" y="6912908"/>
            <a:ext cx="190495" cy="156882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4810004" y="7200900"/>
            <a:ext cx="2609784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SessionFactory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- Creates media sessions 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810004" y="7191375"/>
            <a:ext cx="1352516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8096047" y="1619250"/>
            <a:ext cx="3428914" cy="6505575"/>
          </a:xfrm>
          <a:prstGeom prst="roundRect">
            <a:avLst>
              <a:gd name="adj" fmla="val 4444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 Same Side Corner Rectangle 54"/>
          <p:cNvSpPr/>
          <p:nvPr/>
        </p:nvSpPr>
        <p:spPr>
          <a:xfrm rot="16200000">
            <a:off x="4909300" y="4805997"/>
            <a:ext cx="65055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8372265" y="1857375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8505612" y="1999517"/>
            <a:ext cx="304792" cy="287215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9086622" y="1971675"/>
            <a:ext cx="1733506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Safety Systems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372265" y="2619374"/>
            <a:ext cx="2914577" cy="1276350"/>
          </a:xfrm>
          <a:prstGeom prst="roundRect">
            <a:avLst>
              <a:gd name="adj" fmla="val 11940"/>
            </a:avLst>
          </a:prstGeom>
          <a:solidFill>
            <a:srgbClr val="FFFFFF"/>
          </a:solidFill>
          <a:ln w="825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524661" y="2771775"/>
            <a:ext cx="260978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Entity </a:t>
            </a:r>
          </a:p>
        </p:txBody>
      </p:sp>
      <p:pic>
        <p:nvPicPr>
          <p:cNvPr id="61" name="Picture 60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524661" y="2823882"/>
            <a:ext cx="190495" cy="162485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8524661" y="3114675"/>
            <a:ext cx="2609784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SafetyEvent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- Records incidents 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524661" y="3105149"/>
            <a:ext cx="1095347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8372265" y="4038599"/>
            <a:ext cx="2914577" cy="1009649"/>
          </a:xfrm>
          <a:prstGeom prst="roundRect">
            <a:avLst>
              <a:gd name="adj" fmla="val 15094"/>
            </a:avLst>
          </a:prstGeom>
          <a:solidFill>
            <a:srgbClr val="FFFFFF"/>
          </a:solidFill>
          <a:ln w="825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524661" y="4190999"/>
            <a:ext cx="260978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Value Object </a:t>
            </a:r>
          </a:p>
        </p:txBody>
      </p:sp>
      <p:pic>
        <p:nvPicPr>
          <p:cNvPr id="66" name="Picture 65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524661" y="4251511"/>
            <a:ext cx="190495" cy="145676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8524661" y="4533900"/>
            <a:ext cx="260978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SafetyZone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- Defined risk area 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524661" y="4524374"/>
            <a:ext cx="1038199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8372265" y="5191125"/>
            <a:ext cx="2914577" cy="1276350"/>
          </a:xfrm>
          <a:prstGeom prst="roundRect">
            <a:avLst>
              <a:gd name="adj" fmla="val 11940"/>
            </a:avLst>
          </a:prstGeom>
          <a:solidFill>
            <a:srgbClr val="FFFFFF"/>
          </a:solidFill>
          <a:ln w="825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524661" y="5343525"/>
            <a:ext cx="260978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Aggregate </a:t>
            </a:r>
          </a:p>
        </p:txBody>
      </p:sp>
      <p:pic>
        <p:nvPicPr>
          <p:cNvPr id="71" name="Picture 70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524661" y="5384426"/>
            <a:ext cx="190495" cy="184897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8524661" y="5686425"/>
            <a:ext cx="2609784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SafetySystem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- Manages safety components 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8524661" y="5676900"/>
            <a:ext cx="1228694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8372265" y="6610349"/>
            <a:ext cx="2914577" cy="1276350"/>
          </a:xfrm>
          <a:prstGeom prst="roundRect">
            <a:avLst>
              <a:gd name="adj" fmla="val 11940"/>
            </a:avLst>
          </a:prstGeom>
          <a:solidFill>
            <a:srgbClr val="FFFFFF"/>
          </a:solidFill>
          <a:ln w="825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524661" y="6762750"/>
            <a:ext cx="260978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Service </a:t>
            </a:r>
          </a:p>
        </p:txBody>
      </p:sp>
      <p:pic>
        <p:nvPicPr>
          <p:cNvPr id="76" name="Picture 75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8524661" y="6814857"/>
            <a:ext cx="190495" cy="162485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8524661" y="7105650"/>
            <a:ext cx="2609784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CollisionDetectionService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- Analyzes sensor data 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8524661" y="7096124"/>
            <a:ext cx="2219269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0" y="8410575"/>
            <a:ext cx="12191695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66733" y="8553450"/>
            <a:ext cx="3590835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The CPSA® Advanced Level Module DDD – iSAQB® Training Course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077098" y="8553450"/>
            <a:ext cx="2447863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Volkswagen Group India | 22 December 2025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5725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33" y="190499"/>
            <a:ext cx="10858228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LG 1-3 &amp; 1-4: Summary &amp; Resources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733" y="1143000"/>
            <a:ext cx="5286242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674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674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Key Takeaways 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1197219"/>
            <a:ext cx="304792" cy="23446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66733" y="1866899"/>
            <a:ext cx="5286242" cy="2009774"/>
          </a:xfrm>
          <a:prstGeom prst="roundRect">
            <a:avLst>
              <a:gd name="adj" fmla="val 7582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-272114" y="2805746"/>
            <a:ext cx="20097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2951" y="2105024"/>
            <a:ext cx="4771905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Building Blocks 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42951" y="2134842"/>
            <a:ext cx="266693" cy="22611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42951" y="2560320"/>
            <a:ext cx="228594" cy="19430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14417" y="2543175"/>
            <a:ext cx="301934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Entities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have identity and track state 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14417" y="2533649"/>
            <a:ext cx="742931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42951" y="2969895"/>
            <a:ext cx="228594" cy="19430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314417" y="2952750"/>
            <a:ext cx="241928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Value Objects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are immutable 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14417" y="2943225"/>
            <a:ext cx="1219169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42951" y="3379470"/>
            <a:ext cx="228594" cy="19430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314417" y="3362324"/>
            <a:ext cx="356226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Aggregates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enforce consistency boundaries 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14417" y="3352800"/>
            <a:ext cx="1019149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66733" y="4114800"/>
            <a:ext cx="5286242" cy="2009774"/>
          </a:xfrm>
          <a:prstGeom prst="roundRect">
            <a:avLst>
              <a:gd name="adj" fmla="val 7582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 Same Side Corner Rectangle 19"/>
          <p:cNvSpPr/>
          <p:nvPr/>
        </p:nvSpPr>
        <p:spPr>
          <a:xfrm rot="16200000">
            <a:off x="-272114" y="5053647"/>
            <a:ext cx="20097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2951" y="4343400"/>
            <a:ext cx="4771905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Relationships 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942951" y="4366798"/>
            <a:ext cx="266693" cy="258003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42951" y="4798695"/>
            <a:ext cx="228594" cy="194309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314417" y="4781549"/>
            <a:ext cx="332414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Repositories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manage aggregate lifecycle 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14417" y="4781549"/>
            <a:ext cx="1133446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42951" y="5217794"/>
            <a:ext cx="228594" cy="19430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314417" y="5200650"/>
            <a:ext cx="272408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Factories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create complex objects 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14417" y="5181599"/>
            <a:ext cx="857228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42951" y="5617844"/>
            <a:ext cx="228594" cy="194309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314417" y="5600700"/>
            <a:ext cx="325746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Services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handle cross-entity operations 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314417" y="5600700"/>
            <a:ext cx="790555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38719" y="1143000"/>
            <a:ext cx="5286242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674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674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Resources 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238719" y="1201615"/>
            <a:ext cx="304792" cy="225669"/>
          </a:xfrm>
          <a:prstGeom prst="rect">
            <a:avLst/>
          </a:prstGeom>
        </p:spPr>
      </p:pic>
      <p:sp>
        <p:nvSpPr>
          <p:cNvPr id="34" name="Rounded Rectangle 33"/>
          <p:cNvSpPr/>
          <p:nvPr/>
        </p:nvSpPr>
        <p:spPr>
          <a:xfrm>
            <a:off x="6238719" y="1866899"/>
            <a:ext cx="5286242" cy="2009774"/>
          </a:xfrm>
          <a:prstGeom prst="roundRect">
            <a:avLst>
              <a:gd name="adj" fmla="val 7582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 Same Side Corner Rectangle 34"/>
          <p:cNvSpPr/>
          <p:nvPr/>
        </p:nvSpPr>
        <p:spPr>
          <a:xfrm rot="16200000">
            <a:off x="5299872" y="2805746"/>
            <a:ext cx="20097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14937" y="2105024"/>
            <a:ext cx="4771905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Books 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514937" y="2130494"/>
            <a:ext cx="266693" cy="234811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6514937" y="2543175"/>
            <a:ext cx="2314517" cy="781050"/>
          </a:xfrm>
          <a:prstGeom prst="roundRect">
            <a:avLst>
              <a:gd name="adj" fmla="val 19512"/>
            </a:avLst>
          </a:prstGeom>
          <a:solidFill>
            <a:srgbClr val="FFFFFF"/>
          </a:solidFill>
          <a:ln w="825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667333" y="2695575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6772105" y="2833687"/>
            <a:ext cx="266693" cy="200025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7286442" y="2819399"/>
            <a:ext cx="1085822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DDD Patterns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972325" y="2543175"/>
            <a:ext cx="2314517" cy="781050"/>
          </a:xfrm>
          <a:prstGeom prst="roundRect">
            <a:avLst>
              <a:gd name="adj" fmla="val 19512"/>
            </a:avLst>
          </a:prstGeom>
          <a:solidFill>
            <a:srgbClr val="FFFFFF"/>
          </a:solidFill>
          <a:ln w="825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9124721" y="2695575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9229494" y="2833687"/>
            <a:ext cx="266693" cy="200025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9743831" y="2695575"/>
            <a:ext cx="1390615" cy="4762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Implementing DDD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38719" y="4114800"/>
            <a:ext cx="5286242" cy="2009774"/>
          </a:xfrm>
          <a:prstGeom prst="roundRect">
            <a:avLst>
              <a:gd name="adj" fmla="val 7582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 Same Side Corner Rectangle 46"/>
          <p:cNvSpPr/>
          <p:nvPr/>
        </p:nvSpPr>
        <p:spPr>
          <a:xfrm rot="16200000">
            <a:off x="5299872" y="5053647"/>
            <a:ext cx="20097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14937" y="4343400"/>
            <a:ext cx="4771905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Online Tools </a:t>
            </a:r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514937" y="4400135"/>
            <a:ext cx="266693" cy="191328"/>
          </a:xfrm>
          <a:prstGeom prst="rect">
            <a:avLst/>
          </a:prstGeom>
        </p:spPr>
      </p:pic>
      <p:sp>
        <p:nvSpPr>
          <p:cNvPr id="50" name="Rounded Rectangle 49"/>
          <p:cNvSpPr/>
          <p:nvPr/>
        </p:nvSpPr>
        <p:spPr>
          <a:xfrm>
            <a:off x="6514937" y="4781549"/>
            <a:ext cx="2314517" cy="781050"/>
          </a:xfrm>
          <a:prstGeom prst="roundRect">
            <a:avLst>
              <a:gd name="adj" fmla="val 19512"/>
            </a:avLst>
          </a:prstGeom>
          <a:solidFill>
            <a:srgbClr val="FFFFFF"/>
          </a:solidFill>
          <a:ln w="825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6667333" y="4933950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6772105" y="5077239"/>
            <a:ext cx="266693" cy="208721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7286442" y="5057775"/>
            <a:ext cx="1228694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Modeling Tools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972325" y="4781549"/>
            <a:ext cx="2314517" cy="781050"/>
          </a:xfrm>
          <a:prstGeom prst="roundRect">
            <a:avLst>
              <a:gd name="adj" fmla="val 19512"/>
            </a:avLst>
          </a:prstGeom>
          <a:solidFill>
            <a:srgbClr val="FFFFFF"/>
          </a:solidFill>
          <a:ln w="825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9124721" y="4933950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9229494" y="5109127"/>
            <a:ext cx="266693" cy="144945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9743831" y="5057775"/>
            <a:ext cx="1362040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Code Generators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66733" y="6543675"/>
            <a:ext cx="3590835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The CPSA® Advanced Level Module DDD – iSAQB® Training Course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077098" y="6543675"/>
            <a:ext cx="2447863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Volkswagen Group India | 22 December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
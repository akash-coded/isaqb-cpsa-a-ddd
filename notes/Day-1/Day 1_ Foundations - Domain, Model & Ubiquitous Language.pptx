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1.png"/><Relationship Id="rId8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17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16.png"/><Relationship Id="rId5" Type="http://schemas.openxmlformats.org/officeDocument/2006/relationships/image" Target="../media/image31.png"/><Relationship Id="rId6" Type="http://schemas.openxmlformats.org/officeDocument/2006/relationships/image" Target="../media/image17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15.png"/><Relationship Id="rId6" Type="http://schemas.openxmlformats.org/officeDocument/2006/relationships/image" Target="../media/image23.png"/><Relationship Id="rId7" Type="http://schemas.openxmlformats.org/officeDocument/2006/relationships/image" Target="../media/image17.png"/><Relationship Id="rId8" Type="http://schemas.openxmlformats.org/officeDocument/2006/relationships/image" Target="../media/image3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24.png"/><Relationship Id="rId12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6.png"/><Relationship Id="rId6" Type="http://schemas.openxmlformats.org/officeDocument/2006/relationships/image" Target="../media/image42.png"/><Relationship Id="rId7" Type="http://schemas.openxmlformats.org/officeDocument/2006/relationships/image" Target="../media/image47.png"/><Relationship Id="rId8" Type="http://schemas.openxmlformats.org/officeDocument/2006/relationships/image" Target="../media/image24.png"/><Relationship Id="rId9" Type="http://schemas.openxmlformats.org/officeDocument/2006/relationships/image" Target="../media/image10.png"/><Relationship Id="rId10" Type="http://schemas.openxmlformats.org/officeDocument/2006/relationships/image" Target="../media/image48.png"/><Relationship Id="rId11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4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44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10.png"/><Relationship Id="rId11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21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26.png"/><Relationship Id="rId8" Type="http://schemas.openxmlformats.org/officeDocument/2006/relationships/image" Target="../media/image62.png"/><Relationship Id="rId9" Type="http://schemas.openxmlformats.org/officeDocument/2006/relationships/image" Target="../media/image63.png"/><Relationship Id="rId10" Type="http://schemas.openxmlformats.org/officeDocument/2006/relationships/image" Target="../media/image64.png"/><Relationship Id="rId11" Type="http://schemas.openxmlformats.org/officeDocument/2006/relationships/image" Target="../media/image65.png"/><Relationship Id="rId12" Type="http://schemas.openxmlformats.org/officeDocument/2006/relationships/image" Target="../media/image66.png"/><Relationship Id="rId13" Type="http://schemas.openxmlformats.org/officeDocument/2006/relationships/image" Target="../media/image6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52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Relationship Id="rId10" Type="http://schemas.openxmlformats.org/officeDocument/2006/relationships/image" Target="../media/image75.png"/><Relationship Id="rId11" Type="http://schemas.openxmlformats.org/officeDocument/2006/relationships/image" Target="../media/image76.png"/><Relationship Id="rId12" Type="http://schemas.openxmlformats.org/officeDocument/2006/relationships/image" Target="../media/image77.png"/><Relationship Id="rId13" Type="http://schemas.openxmlformats.org/officeDocument/2006/relationships/image" Target="../media/image7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21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3399">
                  <a:alpha val="85000"/>
                </a:srgbClr>
              </a:gs>
              <a:gs pos="100000">
                <a:srgbClr val="003399">
                  <a:alpha val="8500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169" y="1533525"/>
            <a:ext cx="9753356" cy="14668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4940"/>
              </a:lnSpc>
              <a:spcBef>
                <a:spcPts val="0"/>
              </a:spcBef>
              <a:spcAft>
                <a:spcPts val="1300"/>
              </a:spcAft>
            </a:pPr>
            <a:r>
              <a:rPr sz="3827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19609" y="3181350"/>
            <a:ext cx="952476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19169" y="3505199"/>
            <a:ext cx="9753356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600"/>
              </a:spcAft>
            </a:pPr>
            <a:r>
              <a:rPr sz="2152" b="1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Day 1: Foundations - Domain, Model &amp; Ubiquitous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169" y="4314825"/>
            <a:ext cx="975335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iSAQB® Training Course in Domain-Driven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19169" y="4838699"/>
            <a:ext cx="9753356" cy="485775"/>
          </a:xfrm>
          <a:prstGeom prst="roundRect">
            <a:avLst>
              <a:gd name="adj" fmla="val 117647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9169" y="4838699"/>
            <a:ext cx="9753356" cy="4857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195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22 December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71925" y="6257925"/>
            <a:ext cx="225736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VOLKSWAGEN GROUP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Course Overview: 6-Day Training Journey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333500"/>
            <a:ext cx="1809704" cy="4781549"/>
          </a:xfrm>
          <a:prstGeom prst="roundRect">
            <a:avLst>
              <a:gd name="adj" fmla="val 8421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28" y="1523999"/>
            <a:ext cx="142871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Day 1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567814"/>
            <a:ext cx="228594" cy="2171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28" y="1914525"/>
            <a:ext cx="142871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975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28" y="2276474"/>
            <a:ext cx="1428714" cy="33337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Domain, Model &amp; Ubiquitous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28" y="5753099"/>
            <a:ext cx="142871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975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22 Dec 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76438" y="1333500"/>
            <a:ext cx="1809704" cy="4781549"/>
          </a:xfrm>
          <a:prstGeom prst="roundRect">
            <a:avLst>
              <a:gd name="adj" fmla="val 8421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66933" y="1523999"/>
            <a:ext cx="142871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Day 2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2666933" y="1567814"/>
            <a:ext cx="228594" cy="21717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66933" y="1914525"/>
            <a:ext cx="1428714" cy="4476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975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Knowledge Crunching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6933" y="2505074"/>
            <a:ext cx="1428714" cy="3105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Collaborative Modeling with Domain Experts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6933" y="5753099"/>
            <a:ext cx="142871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975"/>
              </a:spcBef>
              <a:spcAft>
                <a:spcPts val="0"/>
              </a:spcAft>
            </a:pPr>
            <a:r>
              <a:rPr sz="837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05 Jan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6142" y="1333500"/>
            <a:ext cx="1809704" cy="4781549"/>
          </a:xfrm>
          <a:prstGeom prst="roundRect">
            <a:avLst>
              <a:gd name="adj" fmla="val 8421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6638" y="1523999"/>
            <a:ext cx="142871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Day 3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476638" y="1567814"/>
            <a:ext cx="228594" cy="21717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476638" y="1914525"/>
            <a:ext cx="142871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975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638" y="2276474"/>
            <a:ext cx="1428714" cy="33337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From Model to Technical Implementation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6638" y="5753099"/>
            <a:ext cx="142871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975"/>
              </a:spcBef>
              <a:spcAft>
                <a:spcPts val="0"/>
              </a:spcAft>
            </a:pPr>
            <a:r>
              <a:rPr sz="837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06 Jan 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5847" y="1333500"/>
            <a:ext cx="1809704" cy="4781549"/>
          </a:xfrm>
          <a:prstGeom prst="roundRect">
            <a:avLst>
              <a:gd name="adj" fmla="val 8421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6342" y="1523999"/>
            <a:ext cx="142871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Day 4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286342" y="1567814"/>
            <a:ext cx="228594" cy="21717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86342" y="1914525"/>
            <a:ext cx="142871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975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342" y="2276474"/>
            <a:ext cx="1428714" cy="33337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Model in Application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6342" y="5753099"/>
            <a:ext cx="142871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975"/>
              </a:spcBef>
              <a:spcAft>
                <a:spcPts val="0"/>
              </a:spcAft>
            </a:pPr>
            <a:r>
              <a:rPr sz="837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07 Jan 2026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5552" y="1333500"/>
            <a:ext cx="1809704" cy="4781549"/>
          </a:xfrm>
          <a:prstGeom prst="roundRect">
            <a:avLst>
              <a:gd name="adj" fmla="val 8421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6047" y="1523999"/>
            <a:ext cx="142871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Day 5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096047" y="1567814"/>
            <a:ext cx="228594" cy="21717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096047" y="1914525"/>
            <a:ext cx="142871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975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Strategic Design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6047" y="2276474"/>
            <a:ext cx="1428714" cy="33337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Cutting and Distinguishing Models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6047" y="5753099"/>
            <a:ext cx="142871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975"/>
              </a:spcBef>
              <a:spcAft>
                <a:spcPts val="0"/>
              </a:spcAft>
            </a:pPr>
            <a:r>
              <a:rPr sz="837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08 Jan 2026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15257" y="1333500"/>
            <a:ext cx="1809704" cy="4781549"/>
          </a:xfrm>
          <a:prstGeom prst="roundRect">
            <a:avLst>
              <a:gd name="adj" fmla="val 8421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05752" y="1523999"/>
            <a:ext cx="142871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Day 6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905752" y="1567814"/>
            <a:ext cx="228594" cy="21717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905752" y="1914525"/>
            <a:ext cx="142871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975"/>
              </a:spcAft>
            </a:pPr>
            <a:r>
              <a:rPr sz="107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Strategic Design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05752" y="2276474"/>
            <a:ext cx="1428714" cy="33337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Context Mapping &amp; Integration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05752" y="5753099"/>
            <a:ext cx="142871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975"/>
              </a:spcBef>
              <a:spcAft>
                <a:spcPts val="0"/>
              </a:spcAft>
            </a:pPr>
            <a:r>
              <a:rPr sz="837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09 Jan 2026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6733" y="65436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1970" y="6543675"/>
            <a:ext cx="1342991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335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9524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Day 1 Agenda: Foundations - Domain, Model &amp; Ubiquitous Language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907857"/>
            <a:ext cx="228594" cy="1943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8199" y="1714500"/>
            <a:ext cx="46766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Introduction to DDD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199" y="2057400"/>
            <a:ext cx="467665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What is Domain-Driven Design and why it matters for automotive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893695"/>
            <a:ext cx="228594" cy="194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38199" y="2581275"/>
            <a:ext cx="46766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Domains, Software &amp;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99" y="2924175"/>
            <a:ext cx="4676658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Understanding connections between business domains and software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4008119"/>
            <a:ext cx="228594" cy="194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38199" y="3695699"/>
            <a:ext cx="46766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Ubiquitous 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199" y="4038599"/>
            <a:ext cx="4676658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Creating shared vocabulary between domain experts and developers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95887" y="2026920"/>
            <a:ext cx="228594" cy="194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67353" y="1714500"/>
            <a:ext cx="46576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DDD Building Blocks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7353" y="2057400"/>
            <a:ext cx="4657608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Entities, Value Objects, Aggregates, Services, Repositories, Factories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95887" y="3148965"/>
            <a:ext cx="228594" cy="1600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67353" y="2819399"/>
            <a:ext cx="46576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Automotive Applications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7353" y="3162299"/>
            <a:ext cx="4657608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Applying DDD concepts to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powertrain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infotainment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and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safety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systems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43731" y="3124200"/>
            <a:ext cx="1009624" cy="314325"/>
          </a:xfrm>
          <a:prstGeom prst="roundRect">
            <a:avLst>
              <a:gd name="adj" fmla="val 24242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829554" y="3124200"/>
            <a:ext cx="1152496" cy="314325"/>
          </a:xfrm>
          <a:prstGeom prst="roundRect">
            <a:avLst>
              <a:gd name="adj" fmla="val 24242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67353" y="3371850"/>
            <a:ext cx="638159" cy="314325"/>
          </a:xfrm>
          <a:prstGeom prst="roundRect">
            <a:avLst>
              <a:gd name="adj" fmla="val 24242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95887" y="4121467"/>
            <a:ext cx="228594" cy="20573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67353" y="3933824"/>
            <a:ext cx="46576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Hands-on Activities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7353" y="4276725"/>
            <a:ext cx="465760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Domain modeling exercises and mini-project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6733" y="65436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7098" y="65436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Learning Goals: Day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23824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33" y="1238249"/>
            <a:ext cx="57148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1-1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338" y="1238249"/>
            <a:ext cx="10048623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Domain Connections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6338" y="1609724"/>
            <a:ext cx="100486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Explain connections between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domains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software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and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21145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33" y="2114550"/>
            <a:ext cx="57148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6338" y="2114550"/>
            <a:ext cx="10048623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Ubiquitous 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6338" y="2486025"/>
            <a:ext cx="100486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Understand role of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ubiquitous language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in domain modeling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299084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6733" y="2990849"/>
            <a:ext cx="57148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1-3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6338" y="2990849"/>
            <a:ext cx="10048623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DDD Building Blocks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6338" y="3362324"/>
            <a:ext cx="100486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Explain DDD building blocks (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Entities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Value Objects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Aggregates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386714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733" y="3867149"/>
            <a:ext cx="57148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1-4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6338" y="3867149"/>
            <a:ext cx="10048623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Block Connections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76338" y="4238624"/>
            <a:ext cx="100486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Explain connections between building blocks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33" y="65436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7098" y="65436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What is Domain-Driven Design?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04812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DDD Concept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97219"/>
            <a:ext cx="304792" cy="23446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021681"/>
            <a:ext cx="228594" cy="1857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8199" y="1676400"/>
            <a:ext cx="46766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Strategic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199" y="2019299"/>
            <a:ext cx="467665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Design software as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precise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transparent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and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transformable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representation of business domain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2636" y="2009774"/>
            <a:ext cx="70483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43191" y="2009774"/>
            <a:ext cx="107629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8199" y="2276474"/>
            <a:ext cx="128584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3166109"/>
            <a:ext cx="228594" cy="1257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8199" y="2790824"/>
            <a:ext cx="46766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Shared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199" y="3133724"/>
            <a:ext cx="467665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Creates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common language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domain experts and developers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66833" y="3124200"/>
            <a:ext cx="162873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6733" y="4095749"/>
            <a:ext cx="5048123" cy="761999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51774" y="441070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6733" y="4095749"/>
            <a:ext cx="5048123" cy="761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1300"/>
              </a:spcBef>
              <a:spcAft>
                <a:spcPts val="1300"/>
              </a:spcAft>
            </a:pPr>
            <a:r>
              <a:rPr sz="1196" b="0">
                <a:solidFill>
                  <a:srgbClr val="444444"/>
                </a:solidFill>
                <a:latin typeface="Source Sans Pro"/>
                <a:rFonts ascii="Source Sans Pro" hAnsi="Source Sans Pro" eastAsia="Source Sans Pro" cs="Source Sans Pro"/>
              </a:rPr>
              <a:t>"Domain-Driven Design tackles complexity at the heart of software, focusing on the core domain and its logic."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5887" y="1143000"/>
            <a:ext cx="502907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Why for Automotive?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95887" y="1208942"/>
            <a:ext cx="304792" cy="21101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95887" y="2051685"/>
            <a:ext cx="228594" cy="12572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67353" y="1676400"/>
            <a:ext cx="46576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Software Complexity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7353" y="2019299"/>
            <a:ext cx="465760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Modern vehicles contain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100+ million lines of code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across multiple domains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38979" y="2009774"/>
            <a:ext cx="217164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95887" y="3131820"/>
            <a:ext cx="228594" cy="19430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67353" y="2790824"/>
            <a:ext cx="46576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Multiple Domains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67353" y="3133724"/>
            <a:ext cx="465760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Infotainment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safety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powertrain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connectivity, autonomous driving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67353" y="3124200"/>
            <a:ext cx="119059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34146" y="3124200"/>
            <a:ext cx="60958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838979" y="3124200"/>
            <a:ext cx="102867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95887" y="4260532"/>
            <a:ext cx="228594" cy="16573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67353" y="3905249"/>
            <a:ext cx="46576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Cross-Team Collaboration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67353" y="4248150"/>
            <a:ext cx="465760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Different teams work on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interconnected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vehicle subsystems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10404" y="4238624"/>
            <a:ext cx="135251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6733" y="5048250"/>
            <a:ext cx="10858228" cy="1104900"/>
          </a:xfrm>
          <a:prstGeom prst="roundRect">
            <a:avLst>
              <a:gd name="adj" fmla="val 13793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0099" y="5238749"/>
            <a:ext cx="3209844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100M+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099" y="5743575"/>
            <a:ext cx="320984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Lines of 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95687" y="5238749"/>
            <a:ext cx="3209844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150+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5687" y="5743575"/>
            <a:ext cx="320984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ECUs in Premium Vehicles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81750" y="5238749"/>
            <a:ext cx="3209844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2152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5+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81750" y="5743575"/>
            <a:ext cx="320984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Software Domains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38899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6733" y="6581774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77098" y="6581774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1-1: Connections between Domains, Software, and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04812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Core Concepts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66446"/>
            <a:ext cx="304792" cy="29600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1884045"/>
            <a:ext cx="228594" cy="1943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8199" y="1676400"/>
            <a:ext cx="46766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199" y="2019299"/>
            <a:ext cx="46766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Sphere of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knowledge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activity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or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influence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38279" y="2009774"/>
            <a:ext cx="101914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33626" y="2009774"/>
            <a:ext cx="72388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52776" y="2009774"/>
            <a:ext cx="87627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2766059"/>
            <a:ext cx="228594" cy="1257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8199" y="2524125"/>
            <a:ext cx="46766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199" y="2867025"/>
            <a:ext cx="46766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Implementation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that serves the domain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8199" y="2857500"/>
            <a:ext cx="143823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6733" y="3568065"/>
            <a:ext cx="228594" cy="21717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38199" y="3371850"/>
            <a:ext cx="46766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199" y="3714750"/>
            <a:ext cx="46766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Abstraction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of domain concepts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8199" y="3705224"/>
            <a:ext cx="105724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6733" y="4410074"/>
            <a:ext cx="1276318" cy="561974"/>
          </a:xfrm>
          <a:prstGeom prst="roundRect">
            <a:avLst>
              <a:gd name="adj" fmla="val 27118"/>
            </a:avLst>
          </a:prstGeom>
          <a:solidFill>
            <a:srgbClr val="F5F7FA"/>
          </a:solidFill>
          <a:ln w="1651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33" y="4410074"/>
            <a:ext cx="1276318" cy="5619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Domain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2133546" y="4603432"/>
            <a:ext cx="228594" cy="165734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2552636" y="4410074"/>
            <a:ext cx="1276318" cy="561974"/>
          </a:xfrm>
          <a:prstGeom prst="roundRect">
            <a:avLst>
              <a:gd name="adj" fmla="val 27118"/>
            </a:avLst>
          </a:prstGeom>
          <a:solidFill>
            <a:srgbClr val="F5F7FA"/>
          </a:solidFill>
          <a:ln w="1651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52636" y="4410074"/>
            <a:ext cx="1276318" cy="5619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Model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019449" y="4603432"/>
            <a:ext cx="228594" cy="165734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4438539" y="4410074"/>
            <a:ext cx="1276318" cy="561974"/>
          </a:xfrm>
          <a:prstGeom prst="roundRect">
            <a:avLst>
              <a:gd name="adj" fmla="val 27118"/>
            </a:avLst>
          </a:prstGeom>
          <a:solidFill>
            <a:srgbClr val="F5F7FA"/>
          </a:solidFill>
          <a:ln w="1651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8539" y="4410074"/>
            <a:ext cx="1276318" cy="5619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Software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5887" y="1143000"/>
            <a:ext cx="502907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Automotive Application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95887" y="1208942"/>
            <a:ext cx="304792" cy="211015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6495887" y="1866899"/>
            <a:ext cx="5029074" cy="2819399"/>
          </a:xfrm>
          <a:prstGeom prst="roundRect">
            <a:avLst>
              <a:gd name="adj" fmla="val 5405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86382" y="2057400"/>
            <a:ext cx="46480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Powertrain Domain 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686382" y="2093595"/>
            <a:ext cx="228594" cy="194309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686382" y="2650807"/>
            <a:ext cx="228594" cy="16573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057848" y="2466975"/>
            <a:ext cx="427661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Domain: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Engine components, fuel systems, transmission 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686382" y="3321367"/>
            <a:ext cx="228594" cy="17716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057848" y="3143250"/>
            <a:ext cx="427661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Model: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Engine class, FuelSystem class, Transmission class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686382" y="3997642"/>
            <a:ext cx="228594" cy="17716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057848" y="3819524"/>
            <a:ext cx="427661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Software: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Powertrain control module implementation 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5887" y="4876800"/>
            <a:ext cx="5029074" cy="1323974"/>
          </a:xfrm>
          <a:prstGeom prst="roundRect">
            <a:avLst>
              <a:gd name="adj" fmla="val 1151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86382" y="5067299"/>
            <a:ext cx="46480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Key Principle 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686382" y="5103494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686382" y="5476875"/>
            <a:ext cx="4648083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Software must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serve the domain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not the other way around 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7453" y="5467349"/>
            <a:ext cx="153348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6486525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6733" y="6629400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77098" y="6629400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1-2: Role of Ubiquitous Language in Domain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04812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Ubiquitous Language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85496"/>
            <a:ext cx="304792" cy="25790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017394"/>
            <a:ext cx="228594" cy="1943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8199" y="1676400"/>
            <a:ext cx="46766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Common Terminology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199" y="2019299"/>
            <a:ext cx="467665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Shared vocabulary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domain experts and developers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8199" y="2009774"/>
            <a:ext cx="1647783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3166109"/>
            <a:ext cx="228594" cy="12572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38199" y="2790824"/>
            <a:ext cx="46766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Bridge Communication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199" y="3133724"/>
            <a:ext cx="467665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Eliminates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translation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business and technical teams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14477" y="3124200"/>
            <a:ext cx="100962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6733" y="4112895"/>
            <a:ext cx="228594" cy="1943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38199" y="3905249"/>
            <a:ext cx="46766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Living Documentation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199" y="4248150"/>
            <a:ext cx="46766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Language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evolves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with domain understanding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47803" y="4238624"/>
            <a:ext cx="73340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604" y="5038724"/>
            <a:ext cx="1342991" cy="1523999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1651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604" y="5038724"/>
            <a:ext cx="1342991" cy="1523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Domain Experts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38339" y="4943475"/>
            <a:ext cx="1504912" cy="1714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38339" y="4943475"/>
            <a:ext cx="1504912" cy="1714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Ubiquitous Language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28994" y="5038724"/>
            <a:ext cx="1342991" cy="1523999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1651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28994" y="5038724"/>
            <a:ext cx="1342991" cy="1523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Developers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5887" y="1143000"/>
            <a:ext cx="502907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Automotive Application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95887" y="1208942"/>
            <a:ext cx="304792" cy="211015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495887" y="1866899"/>
            <a:ext cx="5029074" cy="1876424"/>
          </a:xfrm>
          <a:prstGeom prst="roundRect">
            <a:avLst>
              <a:gd name="adj" fmla="val 8121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86382" y="2057400"/>
            <a:ext cx="46480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Infotainment System 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86382" y="2082164"/>
            <a:ext cx="228594" cy="21717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686382" y="2528887"/>
            <a:ext cx="228594" cy="1428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057848" y="2466975"/>
            <a:ext cx="37241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Terms: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MediaSource, Playlist, NavigationRoute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686382" y="3054667"/>
            <a:ext cx="228594" cy="1771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057848" y="2876549"/>
            <a:ext cx="427661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Consistent: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Used in discussions, code, and documentation 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5887" y="3933824"/>
            <a:ext cx="5029074" cy="1609724"/>
          </a:xfrm>
          <a:prstGeom prst="roundRect">
            <a:avLst>
              <a:gd name="adj" fmla="val 946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86382" y="4124324"/>
            <a:ext cx="46480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Powertrain Domain 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686382" y="4169092"/>
            <a:ext cx="228594" cy="177164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686382" y="4595812"/>
            <a:ext cx="228594" cy="14287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057848" y="4533900"/>
            <a:ext cx="38765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Terms: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TorqueCurve, GearRatio, ThrottlePosition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686382" y="4988242"/>
            <a:ext cx="228594" cy="17716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057848" y="4943475"/>
            <a:ext cx="41908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Precise: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Clear meaning for engineers and developers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7134225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6733" y="7277100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7098" y="7277100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1-3: DDD Building Blocks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3495587" cy="2390774"/>
          </a:xfrm>
          <a:prstGeom prst="roundRect">
            <a:avLst>
              <a:gd name="adj" fmla="val 637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462614" y="2272347"/>
            <a:ext cx="23907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5327" y="133350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19149" y="1474470"/>
            <a:ext cx="228594" cy="194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14437" y="1428750"/>
            <a:ext cx="59053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27" y="1952624"/>
            <a:ext cx="307649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Objects with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distinct identity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that track state over time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5327" y="2628900"/>
            <a:ext cx="3076498" cy="714375"/>
          </a:xfrm>
          <a:prstGeom prst="roundRect">
            <a:avLst>
              <a:gd name="adj" fmla="val 16000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327" y="2628900"/>
            <a:ext cx="3076498" cy="7143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07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Automotive Example:</a:t>
            </a:r>
            <a:r>
              <a:rPr sz="107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Vehicle, Customer, Order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816" y="1143000"/>
            <a:ext cx="3495587" cy="2390774"/>
          </a:xfrm>
          <a:prstGeom prst="roundRect">
            <a:avLst>
              <a:gd name="adj" fmla="val 637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3223469" y="2272347"/>
            <a:ext cx="23907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81410" y="133350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705232" y="1485900"/>
            <a:ext cx="228594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00519" y="1428750"/>
            <a:ext cx="122869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Value Object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410" y="1952624"/>
            <a:ext cx="307649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Immutable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objects defined by attributes, not identity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81410" y="2628900"/>
            <a:ext cx="3076498" cy="714375"/>
          </a:xfrm>
          <a:prstGeom prst="roundRect">
            <a:avLst>
              <a:gd name="adj" fmla="val 16000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410" y="2628900"/>
            <a:ext cx="3076498" cy="7143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07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Automotive Example:</a:t>
            </a:r>
            <a:r>
              <a:rPr sz="107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VIN, Speed, Temperature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9374" y="1143000"/>
            <a:ext cx="3495587" cy="2390774"/>
          </a:xfrm>
          <a:prstGeom prst="roundRect">
            <a:avLst>
              <a:gd name="adj" fmla="val 637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6900027" y="2272347"/>
            <a:ext cx="23907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57968" y="133350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381790" y="1460182"/>
            <a:ext cx="228594" cy="2228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877078" y="1428750"/>
            <a:ext cx="99057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Aggregate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968" y="1952624"/>
            <a:ext cx="307649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Cluster of related objects treated as a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single unit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57968" y="2628900"/>
            <a:ext cx="3076498" cy="714375"/>
          </a:xfrm>
          <a:prstGeom prst="roundRect">
            <a:avLst>
              <a:gd name="adj" fmla="val 16000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968" y="2628900"/>
            <a:ext cx="3076498" cy="7143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07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Automotive Example:</a:t>
            </a:r>
            <a:r>
              <a:rPr sz="107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Vehicle with Components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733" y="3724274"/>
            <a:ext cx="3495587" cy="2390774"/>
          </a:xfrm>
          <a:prstGeom prst="roundRect">
            <a:avLst>
              <a:gd name="adj" fmla="val 637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-462614" y="4853621"/>
            <a:ext cx="23907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5327" y="39147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19149" y="4055745"/>
            <a:ext cx="228594" cy="19430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14437" y="4000500"/>
            <a:ext cx="71435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5327" y="4533900"/>
            <a:ext cx="307649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Stateless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operations that don't naturally fit entities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5327" y="5210174"/>
            <a:ext cx="3076498" cy="714375"/>
          </a:xfrm>
          <a:prstGeom prst="roundRect">
            <a:avLst>
              <a:gd name="adj" fmla="val 16000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5327" y="5210174"/>
            <a:ext cx="3076498" cy="7143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07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Automotive Example:</a:t>
            </a:r>
            <a:r>
              <a:rPr sz="107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PaymentProcessor, DiagnosticService 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52816" y="3724274"/>
            <a:ext cx="3495587" cy="2390774"/>
          </a:xfrm>
          <a:prstGeom prst="roundRect">
            <a:avLst>
              <a:gd name="adj" fmla="val 637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3223469" y="4853621"/>
            <a:ext cx="23907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81410" y="39147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705232" y="4055745"/>
            <a:ext cx="228594" cy="19430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200519" y="4000500"/>
            <a:ext cx="1066773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Repository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81410" y="4533900"/>
            <a:ext cx="307649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Mediates between domain and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data mapping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layers 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81410" y="5210174"/>
            <a:ext cx="3076498" cy="714375"/>
          </a:xfrm>
          <a:prstGeom prst="roundRect">
            <a:avLst>
              <a:gd name="adj" fmla="val 16000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81410" y="5210174"/>
            <a:ext cx="3076498" cy="7143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07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Automotive Example:</a:t>
            </a:r>
            <a:r>
              <a:rPr sz="107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VehicleRepository, CustomerRepository 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29374" y="3724274"/>
            <a:ext cx="3495587" cy="2390774"/>
          </a:xfrm>
          <a:prstGeom prst="roundRect">
            <a:avLst>
              <a:gd name="adj" fmla="val 637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6900027" y="4853621"/>
            <a:ext cx="23907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57968" y="39147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381790" y="4060031"/>
            <a:ext cx="228594" cy="18573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877078" y="4000500"/>
            <a:ext cx="733406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Factory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57968" y="4533900"/>
            <a:ext cx="307649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Encapsulates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complex object creation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logic 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57968" y="5210174"/>
            <a:ext cx="3076498" cy="714375"/>
          </a:xfrm>
          <a:prstGeom prst="roundRect">
            <a:avLst>
              <a:gd name="adj" fmla="val 16000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57968" y="5210174"/>
            <a:ext cx="3076498" cy="7143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07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Automotive Example:</a:t>
            </a:r>
            <a:r>
              <a:rPr sz="107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VehicleFactory, OrderFactory 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6733" y="65436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7098" y="65436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LG 1-4: Connections between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04812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Key Relationships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66446"/>
            <a:ext cx="304792" cy="29600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1884045"/>
            <a:ext cx="228594" cy="1943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8199" y="1676400"/>
            <a:ext cx="46766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Aggregates Contain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199" y="2019299"/>
            <a:ext cx="46766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Aggregates contain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Entities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and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Value Objects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90735" y="2009774"/>
            <a:ext cx="74293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05132" y="2009774"/>
            <a:ext cx="121916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2731770"/>
            <a:ext cx="228594" cy="1943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38199" y="2524125"/>
            <a:ext cx="46766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Repositories Manage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199" y="2867025"/>
            <a:ext cx="46766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Repositories manage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Aggregates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131" y="2857500"/>
            <a:ext cx="101914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6733" y="3583781"/>
            <a:ext cx="228594" cy="18573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38199" y="3371850"/>
            <a:ext cx="46766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Factories Create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199" y="3714750"/>
            <a:ext cx="46766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Factories create complex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Entities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and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Aggregates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38399" y="3705224"/>
            <a:ext cx="74293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62320" y="3705224"/>
            <a:ext cx="101914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409664" y="4410074"/>
            <a:ext cx="1523961" cy="485775"/>
          </a:xfrm>
          <a:prstGeom prst="roundRect">
            <a:avLst>
              <a:gd name="adj" fmla="val 31372"/>
            </a:avLst>
          </a:prstGeom>
          <a:solidFill>
            <a:srgbClr val="F5F7FA"/>
          </a:solidFill>
          <a:ln w="1651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664" y="4410074"/>
            <a:ext cx="1523961" cy="4857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Factory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076498" y="4565332"/>
            <a:ext cx="228594" cy="165734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447963" y="4410074"/>
            <a:ext cx="1523961" cy="485775"/>
          </a:xfrm>
          <a:prstGeom prst="roundRect">
            <a:avLst>
              <a:gd name="adj" fmla="val 31372"/>
            </a:avLst>
          </a:prstGeom>
          <a:solidFill>
            <a:srgbClr val="F5F7FA"/>
          </a:solidFill>
          <a:ln w="1651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47963" y="4410074"/>
            <a:ext cx="1523961" cy="4857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Aggregate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09664" y="5038724"/>
            <a:ext cx="1523961" cy="485775"/>
          </a:xfrm>
          <a:prstGeom prst="roundRect">
            <a:avLst>
              <a:gd name="adj" fmla="val 31372"/>
            </a:avLst>
          </a:prstGeom>
          <a:solidFill>
            <a:srgbClr val="F5F7FA"/>
          </a:solidFill>
          <a:ln w="1651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09664" y="5038724"/>
            <a:ext cx="1523961" cy="4857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Repository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076498" y="5193982"/>
            <a:ext cx="228594" cy="165734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3447963" y="5038724"/>
            <a:ext cx="1523961" cy="485775"/>
          </a:xfrm>
          <a:prstGeom prst="roundRect">
            <a:avLst>
              <a:gd name="adj" fmla="val 31372"/>
            </a:avLst>
          </a:prstGeom>
          <a:solidFill>
            <a:srgbClr val="F5F7FA"/>
          </a:solidFill>
          <a:ln w="1651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47963" y="5038724"/>
            <a:ext cx="1523961" cy="4857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Aggregate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5887" y="1143000"/>
            <a:ext cx="502907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Automotive Example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95887" y="1208942"/>
            <a:ext cx="304792" cy="211015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6495887" y="1676400"/>
            <a:ext cx="5029074" cy="2238375"/>
          </a:xfrm>
          <a:prstGeom prst="roundRect">
            <a:avLst>
              <a:gd name="adj" fmla="val 6808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86382" y="1866899"/>
            <a:ext cx="46480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Vehicle Aggregate 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686382" y="1891664"/>
            <a:ext cx="228594" cy="21717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686382" y="2312670"/>
            <a:ext cx="228594" cy="19430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057848" y="2276474"/>
            <a:ext cx="25907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Entity: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Vehicle (with unique VIN)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686382" y="2733674"/>
            <a:ext cx="228594" cy="1714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057848" y="2686050"/>
            <a:ext cx="36765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Value Objects: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Speed, Temperature, FuelLevel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686382" y="3131820"/>
            <a:ext cx="228594" cy="19430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057848" y="3095625"/>
            <a:ext cx="297172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Service: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DiagnosticService (stateless) 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5887" y="4095749"/>
            <a:ext cx="5029074" cy="1828800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86382" y="4286250"/>
            <a:ext cx="46480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Vehicle Factory 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86382" y="4326731"/>
            <a:ext cx="228594" cy="185737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686382" y="4775835"/>
            <a:ext cx="228594" cy="12572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057848" y="4705350"/>
            <a:ext cx="30002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Creates Vehicle with proper validation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86382" y="5141594"/>
            <a:ext cx="228594" cy="19430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057848" y="5105400"/>
            <a:ext cx="31526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VehicleRepository persists and retrieves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6733" y="65436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77098" y="65436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Key Concepts with Automotive Examples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3495587" cy="4972050"/>
          </a:xfrm>
          <a:prstGeom prst="roundRect">
            <a:avLst>
              <a:gd name="adj" fmla="val 4359"/>
            </a:avLst>
          </a:prstGeom>
          <a:solidFill>
            <a:srgbClr val="F5F7FA"/>
          </a:solidFill>
          <a:ln w="3302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4852" y="141922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38199" y="1599467"/>
            <a:ext cx="304792" cy="2110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19209" y="1533525"/>
            <a:ext cx="177160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Vehicle Domain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04852" y="2198370"/>
            <a:ext cx="228594" cy="1943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47743" y="2181225"/>
            <a:ext cx="249548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Entity: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Vehicle with unique VIN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04852" y="2619374"/>
            <a:ext cx="228594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47743" y="2590799"/>
            <a:ext cx="267645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Value Object: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LicensePlate, Color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4852" y="3269932"/>
            <a:ext cx="228594" cy="2228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47743" y="3267075"/>
            <a:ext cx="267645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Aggregate: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Vehicle with Components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04852" y="3960495"/>
            <a:ext cx="228594" cy="1943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47743" y="3943350"/>
            <a:ext cx="24573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Repository: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VehicleRepository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816" y="1143000"/>
            <a:ext cx="3495587" cy="4972050"/>
          </a:xfrm>
          <a:prstGeom prst="roundRect">
            <a:avLst>
              <a:gd name="adj" fmla="val 4359"/>
            </a:avLst>
          </a:prstGeom>
          <a:solidFill>
            <a:srgbClr val="F5F7FA"/>
          </a:solidFill>
          <a:ln w="3302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90935" y="1476375"/>
            <a:ext cx="552436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714757" y="1618517"/>
            <a:ext cx="304792" cy="28721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86242" y="1419225"/>
            <a:ext cx="2324041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Infotainment System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590935" y="2312670"/>
            <a:ext cx="228594" cy="19430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933826" y="2295525"/>
            <a:ext cx="267645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Entity: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MediaSession, NavigationRoute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590935" y="3000375"/>
            <a:ext cx="228594" cy="1714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933826" y="2971800"/>
            <a:ext cx="267645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Value Object: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MediaSource, Coordinates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590935" y="3665219"/>
            <a:ext cx="228594" cy="19430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933826" y="3648074"/>
            <a:ext cx="26193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Service: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MediaStreamingService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590935" y="4074795"/>
            <a:ext cx="228594" cy="1943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933826" y="4057650"/>
            <a:ext cx="267645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Ubiquitous Language: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Playlist, Route, VoiceCommand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9374" y="1143000"/>
            <a:ext cx="3495587" cy="4972050"/>
          </a:xfrm>
          <a:prstGeom prst="roundRect">
            <a:avLst>
              <a:gd name="adj" fmla="val 4359"/>
            </a:avLst>
          </a:prstGeom>
          <a:solidFill>
            <a:srgbClr val="F5F7FA"/>
          </a:solidFill>
          <a:ln w="3302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67493" y="141922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400839" y="1576021"/>
            <a:ext cx="304792" cy="25790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981850" y="1533525"/>
            <a:ext cx="221926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Powertrain Domain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267493" y="2198370"/>
            <a:ext cx="228594" cy="19430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610384" y="2181225"/>
            <a:ext cx="23145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Entity: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Engine, Transmission 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267493" y="2619374"/>
            <a:ext cx="228594" cy="1714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610384" y="2590799"/>
            <a:ext cx="267645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Value Object: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TorqueCurve, GearRatio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267493" y="3288506"/>
            <a:ext cx="228594" cy="18573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610384" y="3267075"/>
            <a:ext cx="221926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Factory: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PowertrainFactory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267493" y="3693794"/>
            <a:ext cx="228594" cy="1943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610384" y="3676649"/>
            <a:ext cx="2676458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Ubiquitous Language: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ThrottlePosition, FuelInjection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6733" y="65436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7098" y="65436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Activities &amp; Exercises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10858228" cy="1304925"/>
          </a:xfrm>
          <a:prstGeom prst="roundRect">
            <a:avLst>
              <a:gd name="adj" fmla="val 11678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80311" y="1729422"/>
            <a:ext cx="13049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832" y="1143000"/>
            <a:ext cx="733406" cy="1304925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645854"/>
            <a:ext cx="342891" cy="2896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76358" y="1333500"/>
            <a:ext cx="9620009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Define Automotive Domain Boundaries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76358" y="1724024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6358" y="17240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348" y="1724024"/>
            <a:ext cx="2733606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Identify </a:t>
            </a:r>
            <a:r>
              <a:rPr sz="119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key domains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in vehicle systems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05032" y="1714500"/>
            <a:ext cx="115249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24301" y="1724024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24301" y="17240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5292" y="1724024"/>
            <a:ext cx="24288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Define </a:t>
            </a:r>
            <a:r>
              <a:rPr sz="119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scope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and boundaries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7728" y="1714500"/>
            <a:ext cx="59053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72245" y="1724024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2245" y="17240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3236" y="1724024"/>
            <a:ext cx="2733606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Map </a:t>
            </a:r>
            <a:r>
              <a:rPr sz="119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interactions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between domains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34226" y="1714500"/>
            <a:ext cx="1095347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6733" y="2686050"/>
            <a:ext cx="10858228" cy="1304925"/>
          </a:xfrm>
          <a:prstGeom prst="roundRect">
            <a:avLst>
              <a:gd name="adj" fmla="val 11678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80311" y="3272472"/>
            <a:ext cx="13049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832" y="2686050"/>
            <a:ext cx="761980" cy="1304925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14377" y="3188904"/>
            <a:ext cx="342891" cy="28969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04932" y="2876549"/>
            <a:ext cx="9581910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Create Ubiquitous Language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04932" y="3267075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04932" y="326707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85922" y="3267075"/>
            <a:ext cx="23621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Gather </a:t>
            </a:r>
            <a:r>
              <a:rPr sz="119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domain terminology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66933" y="3257550"/>
            <a:ext cx="179065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943351" y="3267075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43351" y="326707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24341" y="3267075"/>
            <a:ext cx="21811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Create </a:t>
            </a:r>
            <a:r>
              <a:rPr sz="119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shared vocabulary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76778" y="3257550"/>
            <a:ext cx="162873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91295" y="3267075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91295" y="326707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72285" y="3267075"/>
            <a:ext cx="2714557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Define </a:t>
            </a:r>
            <a:r>
              <a:rPr sz="119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glossary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for vehicle systems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24721" y="3257550"/>
            <a:ext cx="80007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66733" y="4229100"/>
            <a:ext cx="10858228" cy="1304925"/>
          </a:xfrm>
          <a:prstGeom prst="roundRect">
            <a:avLst>
              <a:gd name="adj" fmla="val 11678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80311" y="4815522"/>
            <a:ext cx="13049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4832" y="4229100"/>
            <a:ext cx="761980" cy="1304925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4377" y="4717174"/>
            <a:ext cx="342891" cy="319251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704932" y="4419600"/>
            <a:ext cx="9581910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Model Domain Concepts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04932" y="4810124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04932" y="48101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85922" y="4810124"/>
            <a:ext cx="2714557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Identify </a:t>
            </a:r>
            <a:r>
              <a:rPr sz="119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entities</a:t>
            </a: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and </a:t>
            </a:r>
            <a:r>
              <a:rPr sz="119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value objects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33606" y="4800600"/>
            <a:ext cx="73340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2085922" y="4800600"/>
            <a:ext cx="2266893" cy="542925"/>
          </a:xfrm>
          <a:prstGeom prst="roundRect">
            <a:avLst>
              <a:gd name="adj" fmla="val 14035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943351" y="4810124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43351" y="48101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24341" y="4810124"/>
            <a:ext cx="18954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Group into </a:t>
            </a:r>
            <a:r>
              <a:rPr sz="119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aggregates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0144" y="4800600"/>
            <a:ext cx="100962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191295" y="4810124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91295" y="48101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72285" y="4810124"/>
            <a:ext cx="18668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Create </a:t>
            </a:r>
            <a:r>
              <a:rPr sz="119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class diagrams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24721" y="4800600"/>
            <a:ext cx="1314417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6733" y="65436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77098" y="65436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Mini-Project: Automotive Domain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04812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Project Steps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84030"/>
            <a:ext cx="304792" cy="2608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676400"/>
            <a:ext cx="5048123" cy="1257300"/>
          </a:xfrm>
          <a:prstGeom prst="roundRect">
            <a:avLst>
              <a:gd name="adj" fmla="val 12121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104123" y="2239010"/>
            <a:ext cx="12573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5327" y="1866899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5327" y="1866899"/>
            <a:ext cx="342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1090" y="1866899"/>
            <a:ext cx="41432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Define 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1090" y="2209800"/>
            <a:ext cx="414327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Choose an automotive domain (e.g.,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infotainment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powertrain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safety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6142" y="2200275"/>
            <a:ext cx="1181070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81090" y="2466975"/>
            <a:ext cx="102867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85962" y="2466975"/>
            <a:ext cx="60958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6733" y="3124200"/>
            <a:ext cx="5048123" cy="990599"/>
          </a:xfrm>
          <a:prstGeom prst="roundRect">
            <a:avLst>
              <a:gd name="adj" fmla="val 1538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237474" y="3553459"/>
            <a:ext cx="9905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5327" y="3314700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5327" y="3314700"/>
            <a:ext cx="342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1090" y="3314700"/>
            <a:ext cx="41432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Identify Building Blocks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1090" y="3657600"/>
            <a:ext cx="41432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List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entities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value objects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and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aggregates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95407" y="3648074"/>
            <a:ext cx="73340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14537" y="3648074"/>
            <a:ext cx="119059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33746" y="3648074"/>
            <a:ext cx="100962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6733" y="4305300"/>
            <a:ext cx="5048123" cy="990599"/>
          </a:xfrm>
          <a:prstGeom prst="roundRect">
            <a:avLst>
              <a:gd name="adj" fmla="val 1538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237474" y="4734559"/>
            <a:ext cx="9905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5327" y="4495799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5327" y="4495799"/>
            <a:ext cx="342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1090" y="4495799"/>
            <a:ext cx="41432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Create Ubiquitous Language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1090" y="4838699"/>
            <a:ext cx="41432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Define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shared terminology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for domain concepts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33526" y="4829175"/>
            <a:ext cx="1714457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6733" y="5486400"/>
            <a:ext cx="5048123" cy="990599"/>
          </a:xfrm>
          <a:prstGeom prst="roundRect">
            <a:avLst>
              <a:gd name="adj" fmla="val 1538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237474" y="5915659"/>
            <a:ext cx="9905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95327" y="5676900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5327" y="5676900"/>
            <a:ext cx="342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1090" y="5676900"/>
            <a:ext cx="41432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Model Relationships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1090" y="6019800"/>
            <a:ext cx="414327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Show connections between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building blocks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00359" y="6010274"/>
            <a:ext cx="1362040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5887" y="1143000"/>
            <a:ext cx="502907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Example: Infotainment System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95887" y="1185496"/>
            <a:ext cx="304792" cy="257907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495887" y="1676400"/>
            <a:ext cx="5029074" cy="1609724"/>
          </a:xfrm>
          <a:prstGeom prst="roundRect">
            <a:avLst>
              <a:gd name="adj" fmla="val 946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86382" y="1866899"/>
            <a:ext cx="46480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Entities 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86382" y="1903094"/>
            <a:ext cx="228594" cy="194309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86382" y="2312670"/>
            <a:ext cx="228594" cy="19430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057848" y="2276474"/>
            <a:ext cx="200972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MediaSession (unique ID)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686382" y="2730817"/>
            <a:ext cx="228594" cy="17716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057848" y="2686050"/>
            <a:ext cx="22478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NavigationRoute (unique ID)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95887" y="3476624"/>
            <a:ext cx="5029074" cy="1609724"/>
          </a:xfrm>
          <a:prstGeom prst="roundRect">
            <a:avLst>
              <a:gd name="adj" fmla="val 946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86382" y="3667124"/>
            <a:ext cx="46480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Value Objects 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86382" y="3714750"/>
            <a:ext cx="228594" cy="17145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686382" y="4121467"/>
            <a:ext cx="228594" cy="17716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057848" y="4076699"/>
            <a:ext cx="23430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MediaSource (attributes only)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686382" y="4522470"/>
            <a:ext cx="228594" cy="19430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057848" y="4486275"/>
            <a:ext cx="22764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Coordinates (attributes only)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95887" y="5276850"/>
            <a:ext cx="5029074" cy="1200150"/>
          </a:xfrm>
          <a:prstGeom prst="roundRect">
            <a:avLst>
              <a:gd name="adj" fmla="val 12698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86382" y="5467349"/>
            <a:ext cx="46480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Ubiquitous Language 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686382" y="5503544"/>
            <a:ext cx="228594" cy="194309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686382" y="5938837"/>
            <a:ext cx="228594" cy="142875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057848" y="5876925"/>
            <a:ext cx="36384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Playlist, Route, VoiceCommand, MediaControl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953249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6733" y="7096124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77098" y="7096124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Resources &amp;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3495587" cy="4972050"/>
          </a:xfrm>
          <a:prstGeom prst="roundRect">
            <a:avLst>
              <a:gd name="adj" fmla="val 4359"/>
            </a:avLst>
          </a:prstGeom>
          <a:solidFill>
            <a:srgbClr val="F5F7FA"/>
          </a:solidFill>
          <a:ln w="3302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4852" y="141922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09624" y="1552989"/>
            <a:ext cx="266693" cy="2087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23961" y="1504950"/>
            <a:ext cx="1876378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Learning Platforms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04852" y="2103120"/>
            <a:ext cx="228594" cy="1943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47743" y="2085975"/>
            <a:ext cx="267645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DDD-Crew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7743" y="2362199"/>
            <a:ext cx="2676458" cy="4476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Free resources, patterns, and examples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04852" y="2969895"/>
            <a:ext cx="228594" cy="1943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47743" y="2952750"/>
            <a:ext cx="267645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Domain-Driven Design Weekly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7743" y="3228975"/>
            <a:ext cx="267645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Weekly video series on DDD concepts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4852" y="3608070"/>
            <a:ext cx="228594" cy="19430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47743" y="3590924"/>
            <a:ext cx="267645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DDD Community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7743" y="3867149"/>
            <a:ext cx="267645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Discussions, Q&amp;A, and case studies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2816" y="1143000"/>
            <a:ext cx="3495587" cy="4972050"/>
          </a:xfrm>
          <a:prstGeom prst="roundRect">
            <a:avLst>
              <a:gd name="adj" fmla="val 4359"/>
            </a:avLst>
          </a:prstGeom>
          <a:solidFill>
            <a:srgbClr val="F5F7FA"/>
          </a:solidFill>
          <a:ln w="3302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90935" y="141922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695707" y="1529797"/>
            <a:ext cx="266693" cy="2551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210044" y="1504950"/>
            <a:ext cx="1476338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Modeling Tools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590935" y="2111692"/>
            <a:ext cx="228594" cy="1771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933826" y="2085975"/>
            <a:ext cx="267645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PlantUML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3826" y="2362199"/>
            <a:ext cx="2676458" cy="4476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Text-based UML diagrams for domain models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590935" y="2978467"/>
            <a:ext cx="228594" cy="17716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933826" y="2952750"/>
            <a:ext cx="267645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Miro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3826" y="3228975"/>
            <a:ext cx="2676458" cy="4476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Collaborative whiteboard for modeling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590935" y="3850957"/>
            <a:ext cx="228594" cy="16573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933826" y="3819524"/>
            <a:ext cx="267645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EventStorming.com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3826" y="4095749"/>
            <a:ext cx="2676458" cy="4476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Tools and techniques for event storming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29374" y="1143000"/>
            <a:ext cx="3495587" cy="4972050"/>
          </a:xfrm>
          <a:prstGeom prst="roundRect">
            <a:avLst>
              <a:gd name="adj" fmla="val 4359"/>
            </a:avLst>
          </a:prstGeom>
          <a:solidFill>
            <a:srgbClr val="F5F7FA"/>
          </a:solidFill>
          <a:ln w="3302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67493" y="141922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372265" y="1557337"/>
            <a:ext cx="266693" cy="2000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886602" y="1504950"/>
            <a:ext cx="1381090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Books &amp; Blogs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267493" y="2098833"/>
            <a:ext cx="228594" cy="20288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610384" y="2085975"/>
            <a:ext cx="267645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Domain-Driven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10384" y="2362199"/>
            <a:ext cx="2676458" cy="4476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Eric Evans - The foundational DDD book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267493" y="2978467"/>
            <a:ext cx="228594" cy="17716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610384" y="2952750"/>
            <a:ext cx="267645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Vaughn Vernon's Blog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10384" y="3228975"/>
            <a:ext cx="2676458" cy="4476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Practical DDD implementation strategies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267493" y="3853815"/>
            <a:ext cx="228594" cy="1600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610384" y="3819524"/>
            <a:ext cx="267645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DDD in Practice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10384" y="4095749"/>
            <a:ext cx="267645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Real-world case studies and patterns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6733" y="65436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77098" y="65436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Connecting to Day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10858228" cy="523874"/>
          </a:xfrm>
          <a:prstGeom prst="roundRect">
            <a:avLst>
              <a:gd name="adj" fmla="val 2909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33" y="1143000"/>
            <a:ext cx="10858228" cy="5238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Day 2: 05 January 2026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790955" y="1295192"/>
            <a:ext cx="266693" cy="2290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33" y="1857375"/>
            <a:ext cx="63434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Day 2 Topics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1905732"/>
            <a:ext cx="304792" cy="2461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6733" y="2581275"/>
            <a:ext cx="6343491" cy="1133475"/>
          </a:xfrm>
          <a:prstGeom prst="roundRect">
            <a:avLst>
              <a:gd name="adj" fmla="val 13445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166036" y="3081972"/>
            <a:ext cx="11334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2832652"/>
            <a:ext cx="266693" cy="14494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04892" y="2771775"/>
            <a:ext cx="55148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Knowledge Crunching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4892" y="3114675"/>
            <a:ext cx="55148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Working with domain experts to extract knowledge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3952874"/>
            <a:ext cx="6343491" cy="1133475"/>
          </a:xfrm>
          <a:prstGeom prst="roundRect">
            <a:avLst>
              <a:gd name="adj" fmla="val 13445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166036" y="4453571"/>
            <a:ext cx="11334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5327" y="4192656"/>
            <a:ext cx="266693" cy="1681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04892" y="4143375"/>
            <a:ext cx="55148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Collaborative Modeling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4892" y="4486275"/>
            <a:ext cx="55148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EventStorming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Domain Storytelling, User Story Mapping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04892" y="4476750"/>
            <a:ext cx="133346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6733" y="5324474"/>
            <a:ext cx="6343491" cy="1133475"/>
          </a:xfrm>
          <a:prstGeom prst="roundRect">
            <a:avLst>
              <a:gd name="adj" fmla="val 13445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166036" y="5825171"/>
            <a:ext cx="11334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5327" y="5543964"/>
            <a:ext cx="266693" cy="20872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04892" y="5514975"/>
            <a:ext cx="55148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Knowledge Elicitation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4892" y="5857875"/>
            <a:ext cx="55148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Interviewing, observation, field observation, apprenticing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5967" y="1857375"/>
            <a:ext cx="422899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Review Before Day 2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295967" y="1898405"/>
            <a:ext cx="304792" cy="260838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7295967" y="2581275"/>
            <a:ext cx="4228994" cy="1819275"/>
          </a:xfrm>
          <a:prstGeom prst="roundRect">
            <a:avLst>
              <a:gd name="adj" fmla="val 8376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6452370" y="3424872"/>
            <a:ext cx="18192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24561" y="2771775"/>
            <a:ext cx="38099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Key Concepts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524561" y="2822257"/>
            <a:ext cx="228594" cy="165734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524561" y="3195357"/>
            <a:ext cx="190495" cy="1624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29354" y="3181350"/>
            <a:ext cx="25145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Ubiquitous Language principles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524561" y="3576357"/>
            <a:ext cx="190495" cy="16248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829354" y="3562349"/>
            <a:ext cx="229546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Building Blocks relationships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524561" y="3957357"/>
            <a:ext cx="190495" cy="16248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829354" y="3943350"/>
            <a:ext cx="23716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Automotive domain examples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95967" y="4638674"/>
            <a:ext cx="4228994" cy="1819275"/>
          </a:xfrm>
          <a:prstGeom prst="roundRect">
            <a:avLst>
              <a:gd name="adj" fmla="val 8376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6452370" y="5482271"/>
            <a:ext cx="18192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4561" y="4829175"/>
            <a:ext cx="38099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Self-Study Materials 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524561" y="4876800"/>
            <a:ext cx="228594" cy="1714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524561" y="5258360"/>
            <a:ext cx="190495" cy="15127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829354" y="5238749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EventStorming guide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524561" y="5633757"/>
            <a:ext cx="190495" cy="16248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829354" y="5619750"/>
            <a:ext cx="24192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Collaborative modeling videos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7524561" y="6014757"/>
            <a:ext cx="190495" cy="16248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829354" y="6000750"/>
            <a:ext cx="22573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DDD community discussions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437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6733" y="68865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77098" y="68865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Summary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63434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Day 1 Key Points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97219"/>
            <a:ext cx="304792" cy="23446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676400"/>
            <a:ext cx="6343491" cy="914400"/>
          </a:xfrm>
          <a:prstGeom prst="roundRect">
            <a:avLst>
              <a:gd name="adj" fmla="val 16666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275573" y="2067560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1884045"/>
            <a:ext cx="228594" cy="1943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66793" y="1866899"/>
            <a:ext cx="5552936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Domain-Driven Design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creates precise, transparent representations of business domains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66793" y="1857375"/>
            <a:ext cx="194305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6733" y="2733674"/>
            <a:ext cx="6343491" cy="914400"/>
          </a:xfrm>
          <a:prstGeom prst="roundRect">
            <a:avLst>
              <a:gd name="adj" fmla="val 16666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275573" y="3124834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2941320"/>
            <a:ext cx="228594" cy="194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66793" y="2924175"/>
            <a:ext cx="5552936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Ubiquitous Language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bridges communication between domain experts and developers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66793" y="2914650"/>
            <a:ext cx="1847803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6733" y="3790949"/>
            <a:ext cx="6343491" cy="914400"/>
          </a:xfrm>
          <a:prstGeom prst="roundRect">
            <a:avLst>
              <a:gd name="adj" fmla="val 16666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275573" y="4182109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5327" y="3998595"/>
            <a:ext cx="228594" cy="19430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66793" y="3981449"/>
            <a:ext cx="5552936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Building Blocks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(Entities, Value Objects, Aggregates) form the foundation of DDD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66793" y="3971925"/>
            <a:ext cx="137156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6733" y="4848225"/>
            <a:ext cx="6343491" cy="914400"/>
          </a:xfrm>
          <a:prstGeom prst="roundRect">
            <a:avLst>
              <a:gd name="adj" fmla="val 16666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275573" y="5239385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5327" y="5073015"/>
            <a:ext cx="228594" cy="1600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66793" y="5038724"/>
            <a:ext cx="5552936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DDD helps manage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automotive complexity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across multiple vehicle systems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09804" y="5029200"/>
            <a:ext cx="200019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95967" y="1143000"/>
            <a:ext cx="4228994" cy="4972050"/>
          </a:xfrm>
          <a:prstGeom prst="roundRect">
            <a:avLst>
              <a:gd name="adj" fmla="val 3603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24721" y="2503048"/>
            <a:ext cx="571485" cy="48030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896027" y="3219449"/>
            <a:ext cx="3019349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913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Questions &amp; Discussion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3651" y="3733799"/>
            <a:ext cx="2924101" cy="10667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Let's clarify any concepts and discuss how DDD applies to your specific automotive projects at Volkswagen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6733" y="65436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7098" y="65436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
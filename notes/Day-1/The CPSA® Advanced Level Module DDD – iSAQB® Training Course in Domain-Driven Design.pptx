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38.png"/><Relationship Id="rId6" Type="http://schemas.openxmlformats.org/officeDocument/2006/relationships/image" Target="../media/image21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1.png"/><Relationship Id="rId4" Type="http://schemas.openxmlformats.org/officeDocument/2006/relationships/image" Target="../media/image19.png"/><Relationship Id="rId5" Type="http://schemas.openxmlformats.org/officeDocument/2006/relationships/image" Target="../media/image42.png"/><Relationship Id="rId6" Type="http://schemas.openxmlformats.org/officeDocument/2006/relationships/image" Target="../media/image21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jp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15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49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57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E50">
                  <a:alpha val="85000"/>
                </a:srgbClr>
              </a:gs>
              <a:gs pos="100000">
                <a:srgbClr val="001E50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33486" y="1924049"/>
            <a:ext cx="9115197" cy="638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355"/>
              </a:lnSpc>
              <a:spcBef>
                <a:spcPts val="0"/>
              </a:spcBef>
              <a:spcAft>
                <a:spcPts val="1300"/>
              </a:spcAft>
            </a:pPr>
            <a:r>
              <a:rPr sz="3348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609" y="2752725"/>
            <a:ext cx="952476" cy="38100"/>
          </a:xfrm>
          <a:prstGeom prst="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3486" y="3076574"/>
            <a:ext cx="911519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674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iSAQB® Training Course in Domain-Driven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3486" y="3800475"/>
            <a:ext cx="911519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0">
                <a:solidFill>
                  <a:srgbClr val="A3C2FF"/>
                </a:solidFill>
                <a:latin typeface="Source Sans Pro"/>
                <a:rFonts ascii="Source Sans Pro" hAnsi="Source Sans Pro" eastAsia="Source Sans Pro" cs="Source Sans Pro"/>
              </a:rPr>
              <a:t>For </a:t>
            </a:r>
            <a:r>
              <a:rPr sz="1435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Volkswagen Group -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486" y="4286250"/>
            <a:ext cx="91151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22-Dec-2025 to 09-Jan-2026 (6 Days, 4 Hours/Day)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5752" y="5534025"/>
            <a:ext cx="1904952" cy="90487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Course Overview: Domain-Driven Design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21167"/>
            <a:ext cx="228594" cy="177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8199" y="1695449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What is DDD?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2066924"/>
            <a:ext cx="4914777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 strategic approach to software design that focuses on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complex business domains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and creates a shared understanding between technical teams and domain experts.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139440"/>
            <a:ext cx="228594" cy="160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199" y="3105149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Why for Automotive?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3476624"/>
            <a:ext cx="4914777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across multiple domains (infotainment, safety, powertrain), requiring precise modeling of complex interactions.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543425"/>
            <a:ext cx="228594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4514850"/>
            <a:ext cx="49147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Value for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99" y="4886325"/>
            <a:ext cx="4914777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Creates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precise, transparent, and transformable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representations of domains, enabling better communication, reduced complexity, and more maintainable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8719" y="2095499"/>
            <a:ext cx="5286242" cy="3429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iSAQB Certification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428750"/>
            <a:ext cx="5238619" cy="3400425"/>
          </a:xfrm>
          <a:prstGeom prst="roundRect">
            <a:avLst>
              <a:gd name="adj" fmla="val 4481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839172" y="3029902"/>
            <a:ext cx="34004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248" y="1666874"/>
            <a:ext cx="47052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Foundation Level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57248" y="1749742"/>
            <a:ext cx="228594" cy="1771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7248" y="2152650"/>
            <a:ext cx="4705232" cy="314325"/>
          </a:xfrm>
          <a:prstGeom prst="roundRect">
            <a:avLst>
              <a:gd name="adj" fmla="val 24242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248" y="2152650"/>
            <a:ext cx="47052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55724"/>
                </a:solidFill>
                <a:latin typeface="Source Sans Pro"/>
                <a:rFonts ascii="Source Sans Pro" hAnsi="Source Sans Pro" eastAsia="Source Sans Pro" cs="Source Sans Pro"/>
              </a:rPr>
              <a:t>Completed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48" y="2609850"/>
            <a:ext cx="4705232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Provides fundamental knowledge of software architecture principles, methods, and techniques.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248" y="3809999"/>
            <a:ext cx="2228794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248" y="3809999"/>
            <a:ext cx="22287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Architecture Fundamentals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3906786"/>
            <a:ext cx="171445" cy="14932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81290" y="3809999"/>
            <a:ext cx="1619209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1290" y="3809999"/>
            <a:ext cx="161920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Quality Attributes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95587" y="3906786"/>
            <a:ext cx="171445" cy="14932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57248" y="4248150"/>
            <a:ext cx="1476338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248" y="4248150"/>
            <a:ext cx="14763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Design Patterns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4344936"/>
            <a:ext cx="171445" cy="14932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91095" y="1428750"/>
            <a:ext cx="5238619" cy="3400425"/>
          </a:xfrm>
          <a:prstGeom prst="roundRect">
            <a:avLst>
              <a:gd name="adj" fmla="val 4481"/>
            </a:avLst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589943" y="3029902"/>
            <a:ext cx="34004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6362" y="1666874"/>
            <a:ext cx="47052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 Advanced Level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1749742"/>
            <a:ext cx="228594" cy="17716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86362" y="2152650"/>
            <a:ext cx="4705232" cy="314325"/>
          </a:xfrm>
          <a:prstGeom prst="roundRect">
            <a:avLst>
              <a:gd name="adj" fmla="val 24242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6362" y="2152650"/>
            <a:ext cx="47052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856404"/>
                </a:solidFill>
                <a:latin typeface="Source Sans Pro"/>
                <a:rFonts ascii="Source Sans Pro" hAnsi="Source Sans Pro" eastAsia="Source Sans Pro" cs="Source Sans Pro"/>
              </a:rPr>
              <a:t>Current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362" y="2609850"/>
            <a:ext cx="4705232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Specialized modules for in-depth knowledge in specific areas of software architecture.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6362" y="3743325"/>
            <a:ext cx="1543011" cy="409574"/>
          </a:xfrm>
          <a:prstGeom prst="roundRect">
            <a:avLst>
              <a:gd name="adj" fmla="val 18604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6362" y="3743325"/>
            <a:ext cx="1543011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DDD (Current)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29234" y="3878211"/>
            <a:ext cx="171445" cy="14932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124621" y="3743325"/>
            <a:ext cx="1676358" cy="409574"/>
          </a:xfrm>
          <a:prstGeom prst="roundRect">
            <a:avLst>
              <a:gd name="adj" fmla="val 18604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4621" y="3743325"/>
            <a:ext cx="1676358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Cloud Architecture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38919" y="3878211"/>
            <a:ext cx="171445" cy="149327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896227" y="3743325"/>
            <a:ext cx="1000099" cy="409574"/>
          </a:xfrm>
          <a:prstGeom prst="roundRect">
            <a:avLst>
              <a:gd name="adj" fmla="val 18604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6227" y="3743325"/>
            <a:ext cx="1000099" cy="409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Security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10524" y="3878211"/>
            <a:ext cx="171445" cy="14932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486362" y="4248150"/>
            <a:ext cx="1743031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6362" y="4248150"/>
            <a:ext cx="174303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Embedded Systems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00659" y="4344936"/>
            <a:ext cx="171445" cy="149327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324641" y="4248150"/>
            <a:ext cx="1219169" cy="342900"/>
          </a:xfrm>
          <a:prstGeom prst="roundRect">
            <a:avLst>
              <a:gd name="adj" fmla="val 22222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4641" y="4248150"/>
            <a:ext cx="12191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And more...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38939" y="4344936"/>
            <a:ext cx="171445" cy="149327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61980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476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Technical Competence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76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6538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67033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Methodical Competence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67033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1095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1590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Communicative Competence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1590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05652" y="5400675"/>
            <a:ext cx="2524061" cy="1076325"/>
          </a:xfrm>
          <a:prstGeom prst="roundRect">
            <a:avLst>
              <a:gd name="adj" fmla="val 14159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6147" y="5591175"/>
            <a:ext cx="21430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Total Credits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6147" y="5905500"/>
            <a:ext cx="21430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Training Schedule and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28750"/>
            <a:ext cx="10858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6-Day Training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866899"/>
            <a:ext cx="108582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4 hours per day • Building from foundations to strategic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95525"/>
            <a:ext cx="10858228" cy="819149"/>
          </a:xfrm>
          <a:prstGeom prst="roundRect">
            <a:avLst>
              <a:gd name="adj" fmla="val 18604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2576146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2438400"/>
            <a:ext cx="1002957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This training provides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24 hours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of instruction, exceeding the recommended </a:t>
            </a:r>
            <a:r>
              <a:rPr sz="119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17 hours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for deeper dives, more exercises, and comprehensive coverage.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338789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22-Dec-2025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2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Domain, Model &amp; Ubiquitous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695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86143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554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05-Jan-2026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554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5547" y="4286250"/>
            <a:ext cx="1638259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Crunching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5547" y="4857750"/>
            <a:ext cx="163825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Collaborative modeling with domain experts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717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6165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576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06-Jan-2026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576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576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576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From model to technical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739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26187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598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07-Jan-2026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598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598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598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Model in application architecture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7613" y="3305174"/>
            <a:ext cx="2057348" cy="2143125"/>
          </a:xfrm>
          <a:prstGeom prst="roundRect">
            <a:avLst>
              <a:gd name="adj" fmla="val 7407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8462091" y="43106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6207" y="34956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08-Jan-2026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6207" y="3762374"/>
            <a:ext cx="16382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6207" y="4286250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6207" y="4619625"/>
            <a:ext cx="1638259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Cutting and distinguishing models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33" y="5591175"/>
            <a:ext cx="10858228" cy="1704975"/>
          </a:xfrm>
          <a:prstGeom prst="roundRect">
            <a:avLst>
              <a:gd name="adj" fmla="val 8938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-119714" y="6377622"/>
            <a:ext cx="1704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327" y="5781674"/>
            <a:ext cx="104391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09-Jan-2026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327" y="6048375"/>
            <a:ext cx="1043913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Day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27" y="6572250"/>
            <a:ext cx="1043913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327" y="6905625"/>
            <a:ext cx="1043913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7572375"/>
            <a:ext cx="10858228" cy="114300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666833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790655" y="7915275"/>
            <a:ext cx="228594" cy="1714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7228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62280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86102" y="7912417"/>
            <a:ext cx="228594" cy="17716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952676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57728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81550" y="7938134"/>
            <a:ext cx="228594" cy="1257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48123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53176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76998" y="7912417"/>
            <a:ext cx="228594" cy="1771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143571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Architecture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48623" y="7762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91435" y="7886700"/>
            <a:ext cx="1390615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239019" y="833437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1: Foundations - Domain, Model &amp;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22-Dec-2025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Foundations: Domain, Model &amp; Ubiquitous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</a:t>
            </a: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domains, software, and models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role of domain-specific terminology in building </a:t>
            </a: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building blocks of DDD (Entities, Value Objects, Aggregates, etc.)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1-4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building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&amp; Domain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Software as representation of expert knowledge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experts and developers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1388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Building Blocks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3624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Entities, Value Objects, Aggregates, Services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700867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66724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Technical Components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492442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Factories, Repositories, Domain Events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Define a simple domain and its boundaries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Create a ubiquitous language for a given domain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Model basic domain concepts using class diagrams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4166347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4124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419600"/>
            <a:ext cx="136204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419600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DDD Foundations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0029" y="4419600"/>
            <a:ext cx="138109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0029" y="4419600"/>
            <a:ext cx="13810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800600"/>
            <a:ext cx="1276318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800600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Communication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4306" y="4800600"/>
            <a:ext cx="1619209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4306" y="4800600"/>
            <a:ext cx="161920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D94FF"/>
                </a:solidFill>
                <a:latin typeface="Source Sans Pro"/>
                <a:rFonts ascii="Source Sans Pro" hAnsi="Source Sans Pro" eastAsia="Source Sans Pro" cs="Source Sans Pro"/>
              </a:rPr>
              <a:t>Technical Translation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2: Knowledge Crunching - The Path to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05-Jan-2026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Crunching: The Path to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2-1 to 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Empower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domain experts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select suitable contacts, communicate effectively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2-4 to 2-6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modeling techniques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conduct interviews, apply observation methods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2-7 to 2-9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Overview of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select approaches, conduct workshops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2-10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</a:t>
            </a: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agility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as foundation of DDD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Agile &amp; Evolutionary 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Iterative refinement of domain models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Expert Empowerment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Leveraging expert knowledge effectively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1388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Collaborative Modeling Methods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3624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EventStorming, Domain Storytelling, User Story Mapping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Elicitation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Interviewing, observation, field observation, apprenticing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Workshop-style collaborative modeling sessions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Role-playing interviews with domain experts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Analyzing a domain through observation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219575"/>
            <a:ext cx="1276318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219575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Communication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4306" y="4219575"/>
            <a:ext cx="1123921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4306" y="4219575"/>
            <a:ext cx="112392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Collaboration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600575"/>
            <a:ext cx="1304892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600575"/>
            <a:ext cx="13048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Domain Analysis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62880" y="4600575"/>
            <a:ext cx="1657308" cy="304800"/>
          </a:xfrm>
          <a:prstGeom prst="roundRect">
            <a:avLst>
              <a:gd name="adj" fmla="val 125000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62880" y="4600575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0FF"/>
                </a:solidFill>
                <a:latin typeface="Source Sans Pro"/>
                <a:rFonts ascii="Source Sans Pro" hAnsi="Source Sans Pro" eastAsia="Source Sans Pro" cs="Source Sans Pro"/>
              </a:rPr>
              <a:t>Workshop Facilitation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3: From Model to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06-Jan-2026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From Model to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Extend domain model with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technical building blocks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(Repositories, Factories)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Model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interfaces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domain classes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309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Account for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interactions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between implementation and model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813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067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3-4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3244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Argue why DDD is worthwhile for </a:t>
            </a: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complex business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Cohesion &amp; Coupling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Principles for maintainable software design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SOLID Principles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7909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Single Responsibility, Open/Closed, Liskov Substitution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3293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Dependency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Avoiding cyclical dependencies, Law of Demeter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Technical Building Blocks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Repositories, Factories, Aggregates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Refactoring domain model into technical components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Designing interfaces and technical 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8099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Debating benefits of DDD for complex logic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4166347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4124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419600"/>
            <a:ext cx="1933526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419600"/>
            <a:ext cx="19335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Technical Implementation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216" y="4800600"/>
            <a:ext cx="1352516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3216" y="4800600"/>
            <a:ext cx="13525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Design Principles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10504" y="4800600"/>
            <a:ext cx="981050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0504" y="4800600"/>
            <a:ext cx="98105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Refactoring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53216" y="5181599"/>
            <a:ext cx="1362040" cy="304800"/>
          </a:xfrm>
          <a:prstGeom prst="roundRect">
            <a:avLst>
              <a:gd name="adj" fmla="val 125000"/>
            </a:avLst>
          </a:prstGeom>
          <a:solidFill>
            <a:srgbClr val="E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3216" y="518159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E5FF"/>
                </a:solidFill>
                <a:latin typeface="Source Sans Pro"/>
                <a:rFonts ascii="Source Sans Pro" hAnsi="Source Sans Pro" eastAsia="Source Sans Pro" cs="Source Sans Pro"/>
              </a:rPr>
              <a:t>DDD Justification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4: The Model in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07-Jan-2026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The Model in Application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4-1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Design a </a:t>
            </a: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ports &amp; adapter architecture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the domain model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4-2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Formulate correlations and distinctions between </a:t>
            </a: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DDD and BDD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518211"/>
            <a:ext cx="190495" cy="1456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Integrate domain model into larger system architecture effectively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Hexagonal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083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Ports &amp; Adapters pattern for isolation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35673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3533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CQRS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790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Command-Query Responsibility Segregation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138892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4105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Layered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43624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Traditional architectural approach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62340" y="4700867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66724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Dependency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92442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Inversion of Control for loose coupling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hexagonal architecture for domain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Compare and contrast DDD and BDD approaches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Map domain model to architectural layers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3216" y="4219575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216" y="4219575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Architectural Design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3216" y="4600575"/>
            <a:ext cx="1466813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3216" y="4600575"/>
            <a:ext cx="14668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System Integration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24801" y="4600575"/>
            <a:ext cx="1485862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4801" y="4600575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Pattern Application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53216" y="4981574"/>
            <a:ext cx="1000099" cy="304800"/>
          </a:xfrm>
          <a:prstGeom prst="roundRect">
            <a:avLst>
              <a:gd name="adj" fmla="val 125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3216" y="4981574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BCD4"/>
                </a:solidFill>
                <a:latin typeface="Source Sans Pro"/>
                <a:rFonts ascii="Source Sans Pro" hAnsi="Source Sans Pro" eastAsia="Source Sans Pro" cs="Source Sans Pro"/>
              </a:rPr>
              <a:t>DDD vs BDD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5: Strategic Design 1 - Cutting and Distinguishing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08-Jan-2026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1: Cutting and Distinguishing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5-1 to 5-2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Identify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symptoms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of large models, assess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cross-team models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Move from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problem to solution space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309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Distill the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core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of a system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88128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5-5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Describe </a:t>
            </a: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in a Context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Problem Space vs Solution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Distinguishing domain problems from technical solutions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767417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Subdomain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Core, Supporting, Generic subdomains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3293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Bounded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Explicit boundaries for domain models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Context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Visualizing relationships between contexts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Analyze large system and identify problems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Define Bounded Contexts and relationships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Create Context Map for complex system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219575"/>
            <a:ext cx="1419189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219575"/>
            <a:ext cx="14191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Strategic Thinking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216" y="4600575"/>
            <a:ext cx="1723981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3216" y="4600575"/>
            <a:ext cx="17239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System Decomposition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981574"/>
            <a:ext cx="1333466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981574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91455" y="4981574"/>
            <a:ext cx="1504912" cy="304800"/>
          </a:xfrm>
          <a:prstGeom prst="roundRect">
            <a:avLst>
              <a:gd name="adj" fmla="val 1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91455" y="4981574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9688"/>
                </a:solidFill>
                <a:latin typeface="Source Sans Pro"/>
                <a:rFonts ascii="Source Sans Pro" hAnsi="Source Sans Pro" eastAsia="Source Sans Pro" cs="Source Sans Pro"/>
              </a:rPr>
              <a:t>Architectural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6: Strategic Design 2 - Context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47800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070" y="1428750"/>
            <a:ext cx="10343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09-Jan-2026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743075"/>
            <a:ext cx="10343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2: Context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4260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238125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762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6-1 to 6-2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interfaces for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customer/supplier teams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design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Open Host Service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7478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6-3 to 6-4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90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Isolate model with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Anticorruption Layer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reuse elements in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Shared Kernel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509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4495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752974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Understand when to divide models with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Separate Ways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2813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52673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LG 6-6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52449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Use </a:t>
            </a: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for communication between contexts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340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4174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628" y="238125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Concepts Covered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299589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8083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Customer/Supplier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2194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Relationships between upstream and downstream contexts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3767417"/>
            <a:ext cx="190495" cy="1232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8083" y="37337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Open Host Service (OHS)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083" y="39909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Public API for multiple client contexts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329392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48083" y="42957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Anticorruption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5529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Translation layer between contexts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362340" y="4900892"/>
            <a:ext cx="190495" cy="123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48083" y="4867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083" y="5124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Asynchronous communication between contexts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7473" y="2324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43671" y="2404586"/>
            <a:ext cx="228594" cy="2200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2760" y="23812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Activities &amp; Skills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29748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53216" y="29622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216" y="321944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inter-context communication strategies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216" y="3419474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Map system integrations using context patterns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216" y="3619499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• Design Anticorruption Layer for external systems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67473" y="3966322"/>
            <a:ext cx="190495" cy="1064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53216" y="39242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Skills Being Built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53216" y="4219575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3216" y="4219575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Inter-context Design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216" y="4600575"/>
            <a:ext cx="1638259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3216" y="4600575"/>
            <a:ext cx="16382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Integration Strategies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53216" y="4981574"/>
            <a:ext cx="1857328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3216" y="4981574"/>
            <a:ext cx="18573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Communication Patterns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53216" y="5362575"/>
            <a:ext cx="1485862" cy="304800"/>
          </a:xfrm>
          <a:prstGeom prst="roundRect">
            <a:avLst>
              <a:gd name="adj" fmla="val 12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3216" y="5362575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4CAF50"/>
                </a:solidFill>
                <a:latin typeface="Source Sans Pro"/>
                <a:rFonts ascii="Source Sans Pro" hAnsi="Source Sans Pro" eastAsia="Source Sans Pro" cs="Source Sans Pro"/>
              </a:rPr>
              <a:t>System Boundaries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1925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952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Connecting DDD to the Automotive Domain and Volkswagen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904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2015490"/>
            <a:ext cx="228594" cy="160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962149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Automotive Software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2543175"/>
            <a:ext cx="3457488" cy="190499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7473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476" y="47053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Growing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49625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 across multiple domains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549088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476" y="54768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Multiple 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57340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Infotainment, powertrain, safety, connectivity, autonomous driving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6280897"/>
            <a:ext cx="190495" cy="106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476" y="623887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6496049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Different teams work on different vehicle subsystems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340" y="1904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38539" y="20069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628" y="1962149"/>
            <a:ext cx="28574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DDD Applications in Automotive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562785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48083" y="25431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083" y="28003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Separate contexts for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62340" y="333991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48083" y="331470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083" y="357187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Customer/Supplier relationships between safety and powertrain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62340" y="4089306"/>
            <a:ext cx="190495" cy="16528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8083" y="4076699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8083" y="433387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Event-driven communication between vehicle subsystems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362340" y="48622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48083" y="48482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8083" y="51054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Common terminology for engineers, developers, and domain experts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7473" y="1904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143671" y="1996916"/>
            <a:ext cx="228594" cy="19716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62760" y="1962149"/>
            <a:ext cx="29145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Applying to Volkswagen Projects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067473" y="2572590"/>
            <a:ext cx="190495" cy="1316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53216" y="25431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Project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3216" y="2800350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Apply DDD to your specific Volkswagen projects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067473" y="312868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53216" y="31146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Applications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3216" y="3409950"/>
            <a:ext cx="1657308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3216" y="3409950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Infotainment Systems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3216" y="3790949"/>
            <a:ext cx="1790655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3216" y="3790949"/>
            <a:ext cx="179065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 Battery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3216" y="4171950"/>
            <a:ext cx="1571585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216" y="4171950"/>
            <a:ext cx="157158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Autonomous Driving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3216" y="4552949"/>
            <a:ext cx="1504912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3216" y="4552949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Connected Services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2900" y="4552949"/>
            <a:ext cx="1438239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2900" y="4552949"/>
            <a:ext cx="14382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Fleet Management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7473" y="5143500"/>
            <a:ext cx="3457488" cy="10477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7609639" y="5601334"/>
            <a:ext cx="1047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7473" y="5143500"/>
            <a:ext cx="3457488" cy="1047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65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"DDD helps Volkswagen teams create clear boundaries between vehicle subsystems while ensuring effective communication between them."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067473" y="6420410"/>
            <a:ext cx="190495" cy="15127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53216" y="640080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Benefits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3216" y="665797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Reduced complexity, better maintainability, improved collaboration between teams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End Outcomes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42931" y="15306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2020" y="148590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Skills Acquired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086535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476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Decompose complex systems into manageable contexts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880472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Tactical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095625"/>
            <a:ext cx="31717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Translate domain models into technical solutions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442447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476" y="340042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6576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Bridge communication between domain experts and developers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138109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3" y="4267199"/>
            <a:ext cx="13810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Domain Modeling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2596" y="4267199"/>
            <a:ext cx="1333466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2596" y="426719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Context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648200"/>
            <a:ext cx="1552536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3" y="4648200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Event-Driven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29200"/>
            <a:ext cx="1762080" cy="304800"/>
          </a:xfrm>
          <a:prstGeom prst="roundRect">
            <a:avLst>
              <a:gd name="adj" fmla="val 125000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33" y="5029200"/>
            <a:ext cx="176208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Hexagonal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340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38539" y="1556385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57628" y="1485900"/>
            <a:ext cx="26859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Value for Volkswagen Projects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362340" y="2093538"/>
            <a:ext cx="190495" cy="137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48083" y="2066924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Automotive Software Excellence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083" y="232410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Design complex vehicle systems with clear boundaries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865063"/>
            <a:ext cx="190495" cy="1372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8083" y="2838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Faster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3095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Reduce integration complexity between vehicle subsystems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62340" y="362006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48083" y="3600450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Better Decision Making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083" y="3857625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Strategic approach to system architecture decisions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62340" y="4384581"/>
            <a:ext cx="190495" cy="16528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48083" y="43719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8083" y="4629150"/>
            <a:ext cx="317174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Effective communication between specialized teams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7473" y="1428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43671" y="152209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62760" y="1485900"/>
            <a:ext cx="9524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Next Steps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7473" y="2162174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7666789" y="25628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48443" y="2530316"/>
            <a:ext cx="228594" cy="19716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19909" y="2305049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Apply Knowledge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9909" y="2571750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Implement DDD concepts in your current Volkswagen projects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7473" y="3400425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7666789" y="3801109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48443" y="3804285"/>
            <a:ext cx="228594" cy="1257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19909" y="3543300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Share Learnings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9909" y="3809999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Mentor colleagues and establish DDD practices in teams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7473" y="4638674"/>
            <a:ext cx="3457488" cy="93344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666789" y="50393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48443" y="5019675"/>
            <a:ext cx="228594" cy="1714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19909" y="4781549"/>
            <a:ext cx="27621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Continue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9909" y="5048250"/>
            <a:ext cx="276218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Explore advanced DDD patterns and automotive case studies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7473" y="5924549"/>
            <a:ext cx="3457488" cy="666750"/>
          </a:xfrm>
          <a:prstGeom prst="roundRect">
            <a:avLst>
              <a:gd name="adj" fmla="val 22857"/>
            </a:avLst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96067" y="6088260"/>
            <a:ext cx="380990" cy="3393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819929" y="6153149"/>
            <a:ext cx="246691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1E50"/>
                </a:solidFill>
                <a:latin typeface="Source Sans Pro"/>
                <a:rFonts ascii="Source Sans Pro" hAnsi="Source Sans Pro" eastAsia="Source Sans Pro" cs="Source Sans Pro"/>
              </a:rPr>
              <a:t>Pursue CPSA-A Certification Exam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
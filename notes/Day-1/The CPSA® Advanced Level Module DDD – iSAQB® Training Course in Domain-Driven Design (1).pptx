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37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0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Relationship Id="rId4" Type="http://schemas.openxmlformats.org/officeDocument/2006/relationships/image" Target="../media/image3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40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37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40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58.png"/><Relationship Id="rId4" Type="http://schemas.openxmlformats.org/officeDocument/2006/relationships/image" Target="../media/image37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4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63.png"/><Relationship Id="rId4" Type="http://schemas.openxmlformats.org/officeDocument/2006/relationships/image" Target="../media/image37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40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jp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25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Relationship Id="rId13" Type="http://schemas.openxmlformats.org/officeDocument/2006/relationships/image" Target="../media/image77.png"/><Relationship Id="rId14" Type="http://schemas.openxmlformats.org/officeDocument/2006/relationships/image" Target="../media/image78.png"/><Relationship Id="rId15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71.png"/><Relationship Id="rId6" Type="http://schemas.openxmlformats.org/officeDocument/2006/relationships/image" Target="../media/image40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17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89.png"/><Relationship Id="rId5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91.png"/><Relationship Id="rId7" Type="http://schemas.openxmlformats.org/officeDocument/2006/relationships/image" Target="../media/image39.png"/><Relationship Id="rId8" Type="http://schemas.openxmlformats.org/officeDocument/2006/relationships/image" Target="../media/image9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37.png"/><Relationship Id="rId5" Type="http://schemas.openxmlformats.org/officeDocument/2006/relationships/image" Target="../media/image43.png"/><Relationship Id="rId6" Type="http://schemas.openxmlformats.org/officeDocument/2006/relationships/image" Target="../media/image91.png"/><Relationship Id="rId7" Type="http://schemas.openxmlformats.org/officeDocument/2006/relationships/image" Target="../media/image44.png"/><Relationship Id="rId8" Type="http://schemas.openxmlformats.org/officeDocument/2006/relationships/image" Target="../media/image9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Relationship Id="rId4" Type="http://schemas.openxmlformats.org/officeDocument/2006/relationships/image" Target="../media/image37.png"/><Relationship Id="rId5" Type="http://schemas.openxmlformats.org/officeDocument/2006/relationships/image" Target="../media/image48.png"/><Relationship Id="rId6" Type="http://schemas.openxmlformats.org/officeDocument/2006/relationships/image" Target="../media/image91.png"/><Relationship Id="rId7" Type="http://schemas.openxmlformats.org/officeDocument/2006/relationships/image" Target="../media/image49.png"/><Relationship Id="rId8" Type="http://schemas.openxmlformats.org/officeDocument/2006/relationships/image" Target="../media/image9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37.png"/><Relationship Id="rId6" Type="http://schemas.openxmlformats.org/officeDocument/2006/relationships/image" Target="../media/image54.png"/><Relationship Id="rId7" Type="http://schemas.openxmlformats.org/officeDocument/2006/relationships/image" Target="../media/image91.png"/><Relationship Id="rId8" Type="http://schemas.openxmlformats.org/officeDocument/2006/relationships/image" Target="../media/image55.png"/><Relationship Id="rId9" Type="http://schemas.openxmlformats.org/officeDocument/2006/relationships/image" Target="../media/image9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58.png"/><Relationship Id="rId4" Type="http://schemas.openxmlformats.org/officeDocument/2006/relationships/image" Target="../media/image37.png"/><Relationship Id="rId5" Type="http://schemas.openxmlformats.org/officeDocument/2006/relationships/image" Target="../media/image59.png"/><Relationship Id="rId6" Type="http://schemas.openxmlformats.org/officeDocument/2006/relationships/image" Target="../media/image91.png"/><Relationship Id="rId7" Type="http://schemas.openxmlformats.org/officeDocument/2006/relationships/image" Target="../media/image60.png"/><Relationship Id="rId8" Type="http://schemas.openxmlformats.org/officeDocument/2006/relationships/image" Target="../media/image9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63.png"/><Relationship Id="rId4" Type="http://schemas.openxmlformats.org/officeDocument/2006/relationships/image" Target="../media/image37.png"/><Relationship Id="rId5" Type="http://schemas.openxmlformats.org/officeDocument/2006/relationships/image" Target="../media/image64.png"/><Relationship Id="rId6" Type="http://schemas.openxmlformats.org/officeDocument/2006/relationships/image" Target="../media/image91.png"/><Relationship Id="rId7" Type="http://schemas.openxmlformats.org/officeDocument/2006/relationships/image" Target="../media/image65.png"/><Relationship Id="rId8" Type="http://schemas.openxmlformats.org/officeDocument/2006/relationships/image" Target="../media/image9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jp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25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Relationship Id="rId13" Type="http://schemas.openxmlformats.org/officeDocument/2006/relationships/image" Target="../media/image77.png"/><Relationship Id="rId14" Type="http://schemas.openxmlformats.org/officeDocument/2006/relationships/image" Target="../media/image78.png"/><Relationship Id="rId15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71.png"/><Relationship Id="rId6" Type="http://schemas.openxmlformats.org/officeDocument/2006/relationships/image" Target="../media/image40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17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1E50">
                  <a:alpha val="75000"/>
                </a:srgbClr>
              </a:gs>
              <a:gs pos="100000">
                <a:srgbClr val="001E50">
                  <a:alpha val="85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86042" y="1200150"/>
            <a:ext cx="5629134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sz="3588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Domain-Driven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24361" y="2266950"/>
            <a:ext cx="1142971" cy="38100"/>
          </a:xfrm>
          <a:prstGeom prst="rect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05012" y="2590799"/>
            <a:ext cx="719119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674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6658" y="3314700"/>
            <a:ext cx="284790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0">
                <a:solidFill>
                  <a:srgbClr val="A3C2FF"/>
                </a:solidFill>
                <a:latin typeface="Source Sans Pro"/>
                <a:rFonts ascii="Source Sans Pro" hAnsi="Source Sans Pro" eastAsia="Source Sans Pro" cs="Source Sans Pro"/>
              </a:rPr>
              <a:t>For </a:t>
            </a:r>
            <a:r>
              <a:rPr sz="1435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Volkswagen Group -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3726" y="3809999"/>
            <a:ext cx="43242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22-Dec-2025 to 09-Jan-2026 (6 Days, 4 Hours/Day)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62280" y="4743450"/>
            <a:ext cx="1428714" cy="9144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305192" y="4915228"/>
            <a:ext cx="342891" cy="2660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62300" y="5314950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Strategic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81490" y="4743450"/>
            <a:ext cx="1428714" cy="9144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924401" y="4915228"/>
            <a:ext cx="342891" cy="2660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3886" y="5314950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Domain Modeling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0699" y="4743450"/>
            <a:ext cx="1428714" cy="9144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543611" y="4928530"/>
            <a:ext cx="342891" cy="2394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43571" y="5314950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Automotive Focus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5752" y="5572125"/>
            <a:ext cx="1904952" cy="90487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What is Domain-Driven Design?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454467"/>
            <a:ext cx="228594" cy="177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8199" y="1428750"/>
            <a:ext cx="491477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Strategic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199" y="1800225"/>
            <a:ext cx="491477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Design software as a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precise, transparent, and transformable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representation of a business domain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597467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8199" y="2571750"/>
            <a:ext cx="491477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Shared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99" y="2943225"/>
            <a:ext cx="491477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Creates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common language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between domain experts and developers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3749039"/>
            <a:ext cx="228594" cy="1600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8199" y="3714750"/>
            <a:ext cx="491477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Why for Automotive?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199" y="4086225"/>
            <a:ext cx="491477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Modern vehicles contain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100+ million lines of code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across multiple domains (infotainment, safety, powertrain)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33" y="5048250"/>
            <a:ext cx="5286242" cy="7239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370823" y="5344160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733" y="5048250"/>
            <a:ext cx="5286242" cy="723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"Domain-Driven Design tackles complexity at the heart of software, focusing on the core domain and its logic."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8719" y="2143125"/>
            <a:ext cx="5286242" cy="361949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iSAQB Certification Pathway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1980" y="1428750"/>
            <a:ext cx="4971925" cy="3400425"/>
          </a:xfrm>
          <a:prstGeom prst="roundRect">
            <a:avLst>
              <a:gd name="adj" fmla="val 4481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839172" y="3029902"/>
            <a:ext cx="3400425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7248" y="1666874"/>
            <a:ext cx="443853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Foundation Level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57248" y="1749742"/>
            <a:ext cx="228594" cy="1771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57248" y="2152650"/>
            <a:ext cx="4438539" cy="314325"/>
          </a:xfrm>
          <a:prstGeom prst="roundRect">
            <a:avLst>
              <a:gd name="adj" fmla="val 24242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7248" y="2152650"/>
            <a:ext cx="44385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155724"/>
                </a:solidFill>
                <a:latin typeface="Source Sans Pro"/>
                <a:rFonts ascii="Source Sans Pro" hAnsi="Source Sans Pro" eastAsia="Source Sans Pro" cs="Source Sans Pro"/>
              </a:rPr>
              <a:t>Completed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48" y="2609850"/>
            <a:ext cx="4438539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Fundamental knowledge of software architecture principles, methods, and techniques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7248" y="3809999"/>
            <a:ext cx="2228794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248" y="3809999"/>
            <a:ext cx="222879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Architecture Fundamentals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71545" y="3906786"/>
            <a:ext cx="171445" cy="14932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381290" y="3809999"/>
            <a:ext cx="1619209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1290" y="3809999"/>
            <a:ext cx="161920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Quality Attributes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495587" y="3906786"/>
            <a:ext cx="171445" cy="14932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057248" y="4248150"/>
            <a:ext cx="1476338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248" y="4248150"/>
            <a:ext cx="147633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Design Patterns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71545" y="4344936"/>
            <a:ext cx="171445" cy="149327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924401" y="3003002"/>
            <a:ext cx="342891" cy="24239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457788" y="1428750"/>
            <a:ext cx="4971925" cy="3400425"/>
          </a:xfrm>
          <a:prstGeom prst="roundRect">
            <a:avLst>
              <a:gd name="adj" fmla="val 4481"/>
            </a:avLst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856636" y="3029902"/>
            <a:ext cx="3400425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3056" y="1666874"/>
            <a:ext cx="443853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Advanced Level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53056" y="1749742"/>
            <a:ext cx="228594" cy="17716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753056" y="2152650"/>
            <a:ext cx="4438539" cy="314325"/>
          </a:xfrm>
          <a:prstGeom prst="roundRect">
            <a:avLst>
              <a:gd name="adj" fmla="val 24242"/>
            </a:avLst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3056" y="2152650"/>
            <a:ext cx="44385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856404"/>
                </a:solidFill>
                <a:latin typeface="Source Sans Pro"/>
                <a:rFonts ascii="Source Sans Pro" hAnsi="Source Sans Pro" eastAsia="Source Sans Pro" cs="Source Sans Pro"/>
              </a:rPr>
              <a:t>Current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3056" y="2609850"/>
            <a:ext cx="4438539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Specialized modules for in-depth knowledge in specific areas of software architecture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53056" y="3743325"/>
            <a:ext cx="1543011" cy="409574"/>
          </a:xfrm>
          <a:prstGeom prst="roundRect">
            <a:avLst>
              <a:gd name="adj" fmla="val 18604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3056" y="3743325"/>
            <a:ext cx="1543011" cy="4095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DDD (Current)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95927" y="3878211"/>
            <a:ext cx="171445" cy="149327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391315" y="3743325"/>
            <a:ext cx="1676358" cy="409574"/>
          </a:xfrm>
          <a:prstGeom prst="roundRect">
            <a:avLst>
              <a:gd name="adj" fmla="val 18604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1315" y="3743325"/>
            <a:ext cx="1676358" cy="4095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Cloud Architecture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05612" y="3878211"/>
            <a:ext cx="171445" cy="149327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0162920" y="3743325"/>
            <a:ext cx="1000099" cy="409574"/>
          </a:xfrm>
          <a:prstGeom prst="roundRect">
            <a:avLst>
              <a:gd name="adj" fmla="val 18604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62920" y="3743325"/>
            <a:ext cx="1000099" cy="4095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Security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277218" y="3878211"/>
            <a:ext cx="171445" cy="149327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753056" y="4248150"/>
            <a:ext cx="1743031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53056" y="4248150"/>
            <a:ext cx="174303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Embedded Systems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867353" y="4344936"/>
            <a:ext cx="171445" cy="149327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761980" y="5400675"/>
            <a:ext cx="2524061" cy="1076325"/>
          </a:xfrm>
          <a:prstGeom prst="roundRect">
            <a:avLst>
              <a:gd name="adj" fmla="val 1415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2476" y="5591175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Technical Competence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476" y="5905500"/>
            <a:ext cx="21430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6538" y="5400675"/>
            <a:ext cx="2524061" cy="1076325"/>
          </a:xfrm>
          <a:prstGeom prst="roundRect">
            <a:avLst>
              <a:gd name="adj" fmla="val 1415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67033" y="5591175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Methodical Competence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67033" y="5905500"/>
            <a:ext cx="21430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20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1095" y="5400675"/>
            <a:ext cx="2524061" cy="1076325"/>
          </a:xfrm>
          <a:prstGeom prst="roundRect">
            <a:avLst>
              <a:gd name="adj" fmla="val 1415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1590" y="5591175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Communicative Competence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1590" y="5905500"/>
            <a:ext cx="21430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10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05652" y="5400675"/>
            <a:ext cx="2524061" cy="1076325"/>
          </a:xfrm>
          <a:prstGeom prst="roundRect">
            <a:avLst>
              <a:gd name="adj" fmla="val 1415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96147" y="5591175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Total Credits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6147" y="5905500"/>
            <a:ext cx="21430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Training Journey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66849"/>
            <a:ext cx="36860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6-Day Progressive Learning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53196" y="1428750"/>
            <a:ext cx="3371765" cy="419100"/>
          </a:xfrm>
          <a:prstGeom prst="roundRect">
            <a:avLst>
              <a:gd name="adj" fmla="val 36363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43691" y="1541145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533" y="1523999"/>
            <a:ext cx="266693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24 hours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of instruction (4 hours/day)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33" y="2085975"/>
            <a:ext cx="1695407" cy="952499"/>
          </a:xfrm>
          <a:prstGeom prst="rect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9189" y="2228850"/>
            <a:ext cx="18097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705099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22-Dec-2025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33" y="3038475"/>
            <a:ext cx="1695407" cy="229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604" y="3181350"/>
            <a:ext cx="14096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Foundations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3222811"/>
            <a:ext cx="190495" cy="1456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604" y="3495675"/>
            <a:ext cx="1409664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Domain, Model &amp; Ubiquitous Language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604" y="4238624"/>
            <a:ext cx="628634" cy="266699"/>
          </a:xfrm>
          <a:prstGeom prst="roundRect">
            <a:avLst>
              <a:gd name="adj" fmla="val 142857"/>
            </a:avLst>
          </a:prstGeom>
          <a:solidFill>
            <a:srgbClr val="4D94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604" y="4238624"/>
            <a:ext cx="6286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Entities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604" y="4581524"/>
            <a:ext cx="962000" cy="266699"/>
          </a:xfrm>
          <a:prstGeom prst="roundRect">
            <a:avLst>
              <a:gd name="adj" fmla="val 142857"/>
            </a:avLst>
          </a:prstGeom>
          <a:solidFill>
            <a:srgbClr val="4D94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604" y="4581524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Value Objects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604" y="4924424"/>
            <a:ext cx="819129" cy="266699"/>
          </a:xfrm>
          <a:prstGeom prst="roundRect">
            <a:avLst>
              <a:gd name="adj" fmla="val 142857"/>
            </a:avLst>
          </a:prstGeom>
          <a:solidFill>
            <a:srgbClr val="4D94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04" y="4924424"/>
            <a:ext cx="8191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5487" y="2085975"/>
            <a:ext cx="1695407" cy="952499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7468" y="2228850"/>
            <a:ext cx="18097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2676" y="2705099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05-Jan-2026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95487" y="3038475"/>
            <a:ext cx="1695407" cy="229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47883" y="3181350"/>
            <a:ext cx="14096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Knowledge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647883" y="3220010"/>
            <a:ext cx="190495" cy="15127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647883" y="3495675"/>
            <a:ext cx="1409664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Knowledge Crunching &amp; Collaborative Modeling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47883" y="4238624"/>
            <a:ext cx="1047723" cy="266699"/>
          </a:xfrm>
          <a:prstGeom prst="roundRect">
            <a:avLst>
              <a:gd name="adj" fmla="val 142857"/>
            </a:avLst>
          </a:prstGeom>
          <a:solidFill>
            <a:srgbClr val="00B0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47883" y="4238624"/>
            <a:ext cx="10477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EventStorming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47883" y="4581524"/>
            <a:ext cx="790555" cy="266699"/>
          </a:xfrm>
          <a:prstGeom prst="roundRect">
            <a:avLst>
              <a:gd name="adj" fmla="val 142857"/>
            </a:avLst>
          </a:prstGeom>
          <a:solidFill>
            <a:srgbClr val="00B0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47883" y="4581524"/>
            <a:ext cx="7905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Interviews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47883" y="4924424"/>
            <a:ext cx="895327" cy="266699"/>
          </a:xfrm>
          <a:prstGeom prst="roundRect">
            <a:avLst>
              <a:gd name="adj" fmla="val 142857"/>
            </a:avLst>
          </a:prstGeom>
          <a:solidFill>
            <a:srgbClr val="00B0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47883" y="4924424"/>
            <a:ext cx="8953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Observation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33766" y="2085975"/>
            <a:ext cx="1695407" cy="952499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6222" y="2228850"/>
            <a:ext cx="18097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0955" y="2705099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06-Jan-2026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3766" y="3038475"/>
            <a:ext cx="1695407" cy="229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76638" y="3181350"/>
            <a:ext cx="14096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Implementation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476638" y="3242422"/>
            <a:ext cx="190495" cy="10645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476638" y="3495675"/>
            <a:ext cx="1409664" cy="9429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From Model to Technical Implementation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76638" y="4581524"/>
            <a:ext cx="542911" cy="266699"/>
          </a:xfrm>
          <a:prstGeom prst="roundRect">
            <a:avLst>
              <a:gd name="adj" fmla="val 142857"/>
            </a:avLst>
          </a:prstGeom>
          <a:solidFill>
            <a:srgbClr val="00E5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76638" y="4581524"/>
            <a:ext cx="5429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SOLID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95747" y="4581524"/>
            <a:ext cx="714357" cy="266699"/>
          </a:xfrm>
          <a:prstGeom prst="roundRect">
            <a:avLst>
              <a:gd name="adj" fmla="val 142857"/>
            </a:avLst>
          </a:prstGeom>
          <a:solidFill>
            <a:srgbClr val="00E5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95747" y="4581524"/>
            <a:ext cx="7143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Factories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76638" y="4924424"/>
            <a:ext cx="904852" cy="266699"/>
          </a:xfrm>
          <a:prstGeom prst="roundRect">
            <a:avLst>
              <a:gd name="adj" fmla="val 142857"/>
            </a:avLst>
          </a:prstGeom>
          <a:solidFill>
            <a:srgbClr val="00E5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76638" y="4924424"/>
            <a:ext cx="9048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Repositories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045" y="2085975"/>
            <a:ext cx="1695407" cy="952499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24501" y="2228850"/>
            <a:ext cx="18097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9709" y="2705099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07-Jan-2026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045" y="3038475"/>
            <a:ext cx="1695407" cy="229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5392" y="3181350"/>
            <a:ext cx="14096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Architecture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05392" y="3220010"/>
            <a:ext cx="190495" cy="15127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305392" y="3495675"/>
            <a:ext cx="1409664" cy="9429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Model in Application Architecture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5392" y="4581524"/>
            <a:ext cx="800079" cy="266699"/>
          </a:xfrm>
          <a:prstGeom prst="roundRect">
            <a:avLst>
              <a:gd name="adj" fmla="val 142857"/>
            </a:avLst>
          </a:prstGeom>
          <a:solidFill>
            <a:srgbClr val="00BC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5392" y="4581524"/>
            <a:ext cx="8000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Hexagonal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81670" y="4581524"/>
            <a:ext cx="504812" cy="266699"/>
          </a:xfrm>
          <a:prstGeom prst="roundRect">
            <a:avLst>
              <a:gd name="adj" fmla="val 142857"/>
            </a:avLst>
          </a:prstGeom>
          <a:solidFill>
            <a:srgbClr val="00BC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81670" y="4581524"/>
            <a:ext cx="5048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CQRS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05392" y="4924424"/>
            <a:ext cx="438139" cy="266699"/>
          </a:xfrm>
          <a:prstGeom prst="roundRect">
            <a:avLst>
              <a:gd name="adj" fmla="val 142857"/>
            </a:avLst>
          </a:prstGeom>
          <a:solidFill>
            <a:srgbClr val="00BC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5392" y="4924424"/>
            <a:ext cx="438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BDD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00799" y="2085975"/>
            <a:ext cx="1695407" cy="952499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53256" y="2228850"/>
            <a:ext cx="18097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7988" y="2705099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08-Jan-2026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00799" y="3038475"/>
            <a:ext cx="1695407" cy="229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43671" y="3181350"/>
            <a:ext cx="1409664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Strategic 1 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24641" y="3305174"/>
            <a:ext cx="1162020" cy="19049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143671" y="3714750"/>
            <a:ext cx="140966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Cutting and Distinguishing Models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43671" y="4238624"/>
            <a:ext cx="1238219" cy="266699"/>
          </a:xfrm>
          <a:prstGeom prst="roundRect">
            <a:avLst>
              <a:gd name="adj" fmla="val 142857"/>
            </a:avLst>
          </a:prstGeom>
          <a:solidFill>
            <a:srgbClr val="0096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43671" y="4238624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43671" y="4581524"/>
            <a:ext cx="904852" cy="266699"/>
          </a:xfrm>
          <a:prstGeom prst="roundRect">
            <a:avLst>
              <a:gd name="adj" fmla="val 142857"/>
            </a:avLst>
          </a:prstGeom>
          <a:solidFill>
            <a:srgbClr val="0096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43671" y="4581524"/>
            <a:ext cx="9048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Subdomains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43671" y="4924424"/>
            <a:ext cx="457188" cy="266699"/>
          </a:xfrm>
          <a:prstGeom prst="roundRect">
            <a:avLst>
              <a:gd name="adj" fmla="val 142857"/>
            </a:avLst>
          </a:prstGeom>
          <a:solidFill>
            <a:srgbClr val="0096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43671" y="4924424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Core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29554" y="2085975"/>
            <a:ext cx="1695407" cy="9524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91535" y="2228850"/>
            <a:ext cx="18097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86742" y="2705099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09-Jan-2026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29554" y="3038475"/>
            <a:ext cx="1695407" cy="229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81950" y="3181350"/>
            <a:ext cx="14096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Strategic 2 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981950" y="3203201"/>
            <a:ext cx="190495" cy="184897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981950" y="3495675"/>
            <a:ext cx="1409664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Context Mapping &amp; Integration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81950" y="4238624"/>
            <a:ext cx="1276318" cy="266699"/>
          </a:xfrm>
          <a:prstGeom prst="roundRect">
            <a:avLst>
              <a:gd name="adj" fmla="val 142857"/>
            </a:avLst>
          </a:prstGeom>
          <a:solidFill>
            <a:srgbClr val="4CAF5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81950" y="4238624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Customer/Supplier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981950" y="4581524"/>
            <a:ext cx="409564" cy="266699"/>
          </a:xfrm>
          <a:prstGeom prst="roundRect">
            <a:avLst>
              <a:gd name="adj" fmla="val 142857"/>
            </a:avLst>
          </a:prstGeom>
          <a:solidFill>
            <a:srgbClr val="4CAF5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81950" y="4581524"/>
            <a:ext cx="4095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ACL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81950" y="4924424"/>
            <a:ext cx="1047723" cy="266699"/>
          </a:xfrm>
          <a:prstGeom prst="roundRect">
            <a:avLst>
              <a:gd name="adj" fmla="val 142857"/>
            </a:avLst>
          </a:prstGeom>
          <a:solidFill>
            <a:srgbClr val="4CAF5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81950" y="4924424"/>
            <a:ext cx="10477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Domain Events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66733" y="5572125"/>
            <a:ext cx="10858228" cy="114300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666833" y="57626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790655" y="5915025"/>
            <a:ext cx="228594" cy="17145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57228" y="6334125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Foundations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762280" y="57626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3886102" y="5912167"/>
            <a:ext cx="228594" cy="177164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2952676" y="6334125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Knowledge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857728" y="57626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981550" y="5937884"/>
            <a:ext cx="228594" cy="125729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5048123" y="6334125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Implementation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953176" y="57626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076998" y="5912167"/>
            <a:ext cx="228594" cy="177164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7143571" y="6334125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Architecture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48623" y="57626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591435" y="5886450"/>
            <a:ext cx="1390615" cy="22860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239019" y="6334125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DDD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28750"/>
            <a:ext cx="10858228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625"/>
              </a:spcAft>
            </a:pPr>
            <a:r>
              <a:rPr sz="1315" b="0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Core components that form the foundation of </a:t>
            </a:r>
            <a:r>
              <a:rPr sz="1315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Domain-Driven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962149"/>
            <a:ext cx="3495587" cy="1914525"/>
          </a:xfrm>
          <a:prstGeom prst="roundRect">
            <a:avLst>
              <a:gd name="adj" fmla="val 796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7228" y="21526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2284095"/>
            <a:ext cx="228594" cy="194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57288" y="2228850"/>
            <a:ext cx="59053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8" y="2752725"/>
            <a:ext cx="3114597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Objects with distinct identity that track state over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28" y="3371850"/>
            <a:ext cx="311459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975"/>
              </a:spcBef>
              <a:spcAft>
                <a:spcPts val="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Example: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Vehicle, Customer,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816" y="1962149"/>
            <a:ext cx="3495587" cy="1914525"/>
          </a:xfrm>
          <a:prstGeom prst="roundRect">
            <a:avLst>
              <a:gd name="adj" fmla="val 796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3311" y="21526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57608" y="2295525"/>
            <a:ext cx="228594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43371" y="2228850"/>
            <a:ext cx="122869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Value Object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3311" y="2752725"/>
            <a:ext cx="3114597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Immutable objects defined by attributes, not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3311" y="3371850"/>
            <a:ext cx="311459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975"/>
              </a:spcBef>
              <a:spcAft>
                <a:spcPts val="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Example: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VIN, Speed, Temperature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9374" y="1962149"/>
            <a:ext cx="3495587" cy="1914525"/>
          </a:xfrm>
          <a:prstGeom prst="roundRect">
            <a:avLst>
              <a:gd name="adj" fmla="val 796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19869" y="21526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34166" y="2284095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19929" y="2228850"/>
            <a:ext cx="99057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Aggregate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9869" y="2752725"/>
            <a:ext cx="3114597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Cluster of related objects treated as a single 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9869" y="3371850"/>
            <a:ext cx="311459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975"/>
              </a:spcBef>
              <a:spcAft>
                <a:spcPts val="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Example: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Vehicle with Components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4067174"/>
            <a:ext cx="3495587" cy="2105024"/>
          </a:xfrm>
          <a:prstGeom prst="roundRect">
            <a:avLst>
              <a:gd name="adj" fmla="val 7239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7228" y="425767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71525" y="4389120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57288" y="4343400"/>
            <a:ext cx="71435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28" y="4857750"/>
            <a:ext cx="3114597" cy="6667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Stateless operations that don't naturally fit entities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28" y="5676900"/>
            <a:ext cx="311459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975"/>
              </a:spcBef>
              <a:spcAft>
                <a:spcPts val="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Example: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PaymentProcessor, DiagnosticService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2816" y="4067174"/>
            <a:ext cx="3495587" cy="2105024"/>
          </a:xfrm>
          <a:prstGeom prst="roundRect">
            <a:avLst>
              <a:gd name="adj" fmla="val 7239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43311" y="425767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57608" y="4389120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143371" y="4343400"/>
            <a:ext cx="106677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Repository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3311" y="4857750"/>
            <a:ext cx="3114597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Mediates between domain and data mapping layers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3311" y="5486400"/>
            <a:ext cx="3114597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975"/>
              </a:spcBef>
              <a:spcAft>
                <a:spcPts val="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Example: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VehicleRepository, CustomerRepository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9374" y="4067174"/>
            <a:ext cx="3495587" cy="2105024"/>
          </a:xfrm>
          <a:prstGeom prst="roundRect">
            <a:avLst>
              <a:gd name="adj" fmla="val 7239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19869" y="425767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34166" y="4389120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819929" y="4343400"/>
            <a:ext cx="73340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Factory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9869" y="4857750"/>
            <a:ext cx="3114597" cy="666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Encapsulates complex object creation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9869" y="5676900"/>
            <a:ext cx="311459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975"/>
              </a:spcBef>
              <a:spcAft>
                <a:spcPts val="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Example: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VehicleFactory, OrderFactory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733" y="6419850"/>
            <a:ext cx="10858228" cy="1238249"/>
          </a:xfrm>
          <a:prstGeom prst="roundRect">
            <a:avLst>
              <a:gd name="adj" fmla="val 12307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7228" y="6610349"/>
            <a:ext cx="104772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Key Relationships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7228" y="6686550"/>
            <a:ext cx="228594" cy="1143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57228" y="7075954"/>
            <a:ext cx="190495" cy="7844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42971" y="7019925"/>
            <a:ext cx="3076498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Aggregates contain Entities and Value Objects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409964" y="7075954"/>
            <a:ext cx="190495" cy="7844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695707" y="7019925"/>
            <a:ext cx="232404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Repositories manage Aggregates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972225" y="7075954"/>
            <a:ext cx="190495" cy="7844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257968" y="7019925"/>
            <a:ext cx="234309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Factories create complex Entities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1: Foundations - Domain, Model &amp; Ubiquitous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22-Dec-2025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Foundations: Domain, Model &amp; Ubiquitous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1-1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Explain connections between </a:t>
            </a: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domains, software, and models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1-2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Understand role of </a:t>
            </a: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in domain modeling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5098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495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1-3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752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Explain DDD building blocks (Entities, Value Objects, Aggregates)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2813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52673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1-4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524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Explain connections between building blocks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628" y="2381250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&amp; Activities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Domain &amp; Domain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Software as representation of expert knowledge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567392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3533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3790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Common terminology for experts and developers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4117881"/>
            <a:ext cx="190495" cy="16528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105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362450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Define automotive domain boundaries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083" y="4552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Create ubiquitous language for vehicle systems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8083" y="4752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Model domain concepts using class diagrams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43671" y="2451734"/>
            <a:ext cx="228594" cy="12572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62760" y="2381250"/>
            <a:ext cx="28193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Skills &amp; Automotive Application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2981885"/>
            <a:ext cx="190495" cy="15127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3216" y="3257550"/>
            <a:ext cx="1362040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53216" y="3257550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DDD Foundations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20029" y="3257550"/>
            <a:ext cx="1381090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0029" y="3257550"/>
            <a:ext cx="13810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Domain Modeling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53216" y="3638550"/>
            <a:ext cx="1276318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53216" y="3638550"/>
            <a:ext cx="12763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Communication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34306" y="3638550"/>
            <a:ext cx="1619209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4306" y="3638550"/>
            <a:ext cx="161920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Technical Translation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67473" y="4276725"/>
            <a:ext cx="3457488" cy="1914525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7176251" y="5167947"/>
            <a:ext cx="19145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48443" y="4419600"/>
            <a:ext cx="31336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Automotive Applications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48443" y="4453890"/>
            <a:ext cx="228594" cy="16002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8248443" y="4743450"/>
            <a:ext cx="952476" cy="13049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43691" y="4838699"/>
            <a:ext cx="7619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Powertrain Domain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43691" y="5267324"/>
            <a:ext cx="761980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Common terminology for engine components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86642" y="4743450"/>
            <a:ext cx="1047723" cy="130492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81890" y="4838699"/>
            <a:ext cx="857228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Infotainment System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81890" y="5267324"/>
            <a:ext cx="857228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Shared language for media interfaces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429614" y="4743450"/>
            <a:ext cx="952476" cy="13049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24861" y="4838699"/>
            <a:ext cx="7619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Safety Systems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24861" y="5267324"/>
            <a:ext cx="761980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Consistent terms for safety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2: Knowledge Crunching - The Path to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05-Jan-2026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Knowledge Crunching: The Path to the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431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2-1 to 2-3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43171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Empower </a:t>
            </a: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domain experts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select suitable contacts, communicate effectively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431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2-4 to 2-6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43171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Use </a:t>
            </a: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modeling techniques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conduct interviews, apply observation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5098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495799"/>
            <a:ext cx="31431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2-7 to 2-9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752974"/>
            <a:ext cx="3143171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Overview of </a:t>
            </a: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Collaborative Modeling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conduct workshops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2813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5267324"/>
            <a:ext cx="31431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2-10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524499"/>
            <a:ext cx="314317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Understand </a:t>
            </a: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agility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as foundation of DDD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3766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09964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29054" y="2381250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&amp; Activities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33766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19509" y="2962274"/>
            <a:ext cx="31431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Domain Expert Empowerment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9509" y="3219449"/>
            <a:ext cx="314317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Leveraging expert knowledge effectively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33766" y="3567392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19509" y="3533774"/>
            <a:ext cx="31431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Collaborative Modeling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9509" y="3790949"/>
            <a:ext cx="3143171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EventStorming, Domain Storytelling, User Story Mapping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33766" y="4308381"/>
            <a:ext cx="190495" cy="16528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9509" y="4295774"/>
            <a:ext cx="31431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9509" y="4552949"/>
            <a:ext cx="314317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Workshop-style collaborative modeling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9509" y="4752974"/>
            <a:ext cx="314317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Role-playing interviews with experts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9509" y="4952999"/>
            <a:ext cx="3143171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Analyzing automotive domain through observation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0799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76998" y="2451734"/>
            <a:ext cx="228594" cy="12572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96087" y="2381250"/>
            <a:ext cx="28193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Skills &amp; Automotive Application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00799" y="2981885"/>
            <a:ext cx="190495" cy="15127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86542" y="2962274"/>
            <a:ext cx="32384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86542" y="3257550"/>
            <a:ext cx="1276318" cy="304800"/>
          </a:xfrm>
          <a:prstGeom prst="roundRect">
            <a:avLst>
              <a:gd name="adj" fmla="val 125000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6542" y="3257550"/>
            <a:ext cx="12763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Communication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158" y="3257550"/>
            <a:ext cx="1123921" cy="304800"/>
          </a:xfrm>
          <a:prstGeom prst="roundRect">
            <a:avLst>
              <a:gd name="adj" fmla="val 125000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158" y="3257550"/>
            <a:ext cx="112392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Collaboration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86542" y="3638550"/>
            <a:ext cx="1304892" cy="304800"/>
          </a:xfrm>
          <a:prstGeom prst="roundRect">
            <a:avLst>
              <a:gd name="adj" fmla="val 125000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86542" y="3638550"/>
            <a:ext cx="13048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Domain Analysis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05732" y="3638550"/>
            <a:ext cx="1657308" cy="304800"/>
          </a:xfrm>
          <a:prstGeom prst="roundRect">
            <a:avLst>
              <a:gd name="adj" fmla="val 125000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05732" y="3638550"/>
            <a:ext cx="165730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Workshop Facilitation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0799" y="4276725"/>
            <a:ext cx="3524161" cy="1914525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7109577" y="5167947"/>
            <a:ext cx="19145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1770" y="4419600"/>
            <a:ext cx="32003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Automotive Collaborative Modeling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81770" y="4453890"/>
            <a:ext cx="228594" cy="16002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8181770" y="4743450"/>
            <a:ext cx="1171545" cy="13049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7018" y="4838699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EventStorming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7018" y="5076825"/>
            <a:ext cx="98105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Map vehicle manufacturing events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48563" y="4743450"/>
            <a:ext cx="962000" cy="13049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43811" y="4838699"/>
            <a:ext cx="771505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Domain Storytelling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43811" y="5267324"/>
            <a:ext cx="771505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Visualize customer ordering process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05812" y="4743450"/>
            <a:ext cx="876278" cy="130492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01059" y="4838699"/>
            <a:ext cx="68578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Expert Interviews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1059" y="5267324"/>
            <a:ext cx="685782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Extract powertrain domain knowledge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3: From Model to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06-Jan-2026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From Model to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3-1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Extend domain model with </a:t>
            </a: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technical building blocks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3-2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Model </a:t>
            </a: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interfaces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for domain classes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309782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3-3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5529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Account for </a:t>
            </a: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interactions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between implementation and model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8130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50672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3-4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3244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Argue why DDD is worthwhile for </a:t>
            </a: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complex business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628" y="2381250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&amp; Activities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SOLID Principles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Single Responsibility, Open/Closed, Liskov Substitution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767417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Technical Building Blocks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Repositories, Factories, Aggregates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4308381"/>
            <a:ext cx="190495" cy="16528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5529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Refactor domain model into technical components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083" y="49529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Design interfaces and technical layers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8083" y="515302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Debate benefits of DDD for complex logic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43671" y="2451734"/>
            <a:ext cx="228594" cy="12572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62760" y="2381250"/>
            <a:ext cx="28193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Skills &amp; Automotive Application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2981885"/>
            <a:ext cx="190495" cy="15127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3216" y="3257550"/>
            <a:ext cx="1933526" cy="304800"/>
          </a:xfrm>
          <a:prstGeom prst="roundRect">
            <a:avLst>
              <a:gd name="adj" fmla="val 125000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53216" y="3257550"/>
            <a:ext cx="193352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Technical Implementation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53216" y="3638550"/>
            <a:ext cx="1352516" cy="304800"/>
          </a:xfrm>
          <a:prstGeom prst="roundRect">
            <a:avLst>
              <a:gd name="adj" fmla="val 125000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53216" y="3638550"/>
            <a:ext cx="135251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Design Principles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10504" y="3638550"/>
            <a:ext cx="981050" cy="304800"/>
          </a:xfrm>
          <a:prstGeom prst="roundRect">
            <a:avLst>
              <a:gd name="adj" fmla="val 125000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10504" y="3638550"/>
            <a:ext cx="98105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Refactoring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53216" y="4019549"/>
            <a:ext cx="1362040" cy="304800"/>
          </a:xfrm>
          <a:prstGeom prst="roundRect">
            <a:avLst>
              <a:gd name="adj" fmla="val 125000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3216" y="4019549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DDD Justification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67473" y="4657725"/>
            <a:ext cx="3457488" cy="2085975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7090526" y="5634672"/>
            <a:ext cx="2085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48443" y="4800600"/>
            <a:ext cx="31336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Automotive Implementation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48443" y="4834890"/>
            <a:ext cx="228594" cy="16002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8248443" y="5124449"/>
            <a:ext cx="981050" cy="14763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43691" y="5219700"/>
            <a:ext cx="790555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Vehicle Aggregate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43691" y="5648325"/>
            <a:ext cx="790555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Implement with components and invariants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4741" y="5124449"/>
            <a:ext cx="981050" cy="14763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19989" y="5219700"/>
            <a:ext cx="790555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Repository Pattern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9989" y="5648325"/>
            <a:ext cx="790555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Vehicle and component data management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401039" y="5124449"/>
            <a:ext cx="981050" cy="14763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96287" y="5219700"/>
            <a:ext cx="790555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Factory Pattern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96287" y="5648325"/>
            <a:ext cx="790555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Complex vehicle configuration creation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4: The Model in 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07-Jan-2026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The Model in Application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4-1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Design a </a:t>
            </a: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ports &amp; adapter architecture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for domain model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4-2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Formulate correlations between </a:t>
            </a: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DDD and BDD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318186"/>
            <a:ext cx="190495" cy="1456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Key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5529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Integrate domain model into larger system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57628" y="2381250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&amp; Activities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Hexagonal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8083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Ports &amp; Adapters pattern for isolation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35673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3533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CQRS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790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Command-Query Responsibility Segregation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362340" y="4117881"/>
            <a:ext cx="190495" cy="16528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4105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4362450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Design hexagonal architecture for domain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8083" y="4552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Compare DDD and BDD approaches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8083" y="4752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Map domain model to architectural layers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143671" y="2451734"/>
            <a:ext cx="228594" cy="12572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62760" y="2381250"/>
            <a:ext cx="28193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Skills &amp; Automotive Application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067473" y="2981885"/>
            <a:ext cx="190495" cy="15127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53216" y="3257550"/>
            <a:ext cx="1552536" cy="304800"/>
          </a:xfrm>
          <a:prstGeom prst="roundRect">
            <a:avLst>
              <a:gd name="adj" fmla="val 12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3216" y="3257550"/>
            <a:ext cx="15525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Architectural Design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53216" y="3638550"/>
            <a:ext cx="1466813" cy="304800"/>
          </a:xfrm>
          <a:prstGeom prst="roundRect">
            <a:avLst>
              <a:gd name="adj" fmla="val 12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3216" y="3638550"/>
            <a:ext cx="14668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System Integration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24801" y="3638550"/>
            <a:ext cx="1485862" cy="304800"/>
          </a:xfrm>
          <a:prstGeom prst="roundRect">
            <a:avLst>
              <a:gd name="adj" fmla="val 12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4801" y="3638550"/>
            <a:ext cx="14858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Pattern Application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53216" y="4019549"/>
            <a:ext cx="1000099" cy="304800"/>
          </a:xfrm>
          <a:prstGeom prst="roundRect">
            <a:avLst>
              <a:gd name="adj" fmla="val 12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3216" y="40195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DDD vs BDD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67473" y="4657725"/>
            <a:ext cx="3457488" cy="1914525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7176251" y="5548947"/>
            <a:ext cx="19145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48443" y="4800600"/>
            <a:ext cx="31336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Automotive Architecture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48443" y="4834890"/>
            <a:ext cx="228594" cy="16002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8248443" y="5124449"/>
            <a:ext cx="952476" cy="13049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43691" y="5219700"/>
            <a:ext cx="7619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Telematics 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3691" y="5648325"/>
            <a:ext cx="761980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Hexagonal architecture for data isolation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86642" y="5124449"/>
            <a:ext cx="1047723" cy="130492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81890" y="5219700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81890" y="5457825"/>
            <a:ext cx="857228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CQRS for media playback vs. settings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29614" y="5124449"/>
            <a:ext cx="952476" cy="13049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24861" y="5219700"/>
            <a:ext cx="7619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BDD Integration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24861" y="5648325"/>
            <a:ext cx="761980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Behavior specs for safety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5: Strategic Design 1 - Cutting and Distinguishing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08-Jan-2026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 1: Cutting and Distinguishing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5-1 to 5-2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Identify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symptoms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of large models, assess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cross-team models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5-3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Move from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problem to solution space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309782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5-4 to 5-5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5529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Distill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core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describe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in Context 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57628" y="2381250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&amp; Activities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Problem vs Solution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8083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Distinguishing domain problems from technical solutions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767417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Subdomain Classification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Core, Supporting, Generic subdomains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4308381"/>
            <a:ext cx="190495" cy="16528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4552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Analyze large system and identify problems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8083" y="4752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Define Bounded Contexts and relationships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8083" y="49529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Create Context Map for complex system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43671" y="2451734"/>
            <a:ext cx="228594" cy="12572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62760" y="2381250"/>
            <a:ext cx="28193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Skills &amp; Automotive Application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2981885"/>
            <a:ext cx="190495" cy="15127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53216" y="3257550"/>
            <a:ext cx="1419189" cy="304800"/>
          </a:xfrm>
          <a:prstGeom prst="roundRect">
            <a:avLst>
              <a:gd name="adj" fmla="val 1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3216" y="3257550"/>
            <a:ext cx="14191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Strategic Thinking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53216" y="3638550"/>
            <a:ext cx="1723981" cy="304800"/>
          </a:xfrm>
          <a:prstGeom prst="roundRect">
            <a:avLst>
              <a:gd name="adj" fmla="val 1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3216" y="3638550"/>
            <a:ext cx="172398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System Decomposition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53216" y="4019549"/>
            <a:ext cx="1333466" cy="304800"/>
          </a:xfrm>
          <a:prstGeom prst="roundRect">
            <a:avLst>
              <a:gd name="adj" fmla="val 1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3216" y="40195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Context Mapping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91455" y="4019549"/>
            <a:ext cx="1504912" cy="304800"/>
          </a:xfrm>
          <a:prstGeom prst="roundRect">
            <a:avLst>
              <a:gd name="adj" fmla="val 1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91455" y="4019549"/>
            <a:ext cx="15049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Architectural Vision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67473" y="4657725"/>
            <a:ext cx="3457488" cy="2085975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7090526" y="5634672"/>
            <a:ext cx="2085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48443" y="4800600"/>
            <a:ext cx="31336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Automotive Strategic Design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48443" y="4834890"/>
            <a:ext cx="228594" cy="16002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8248443" y="5124449"/>
            <a:ext cx="981050" cy="14763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43691" y="5219700"/>
            <a:ext cx="790555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Vehicle Platform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3691" y="5648325"/>
            <a:ext cx="790555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Bounded contexts for powertrain, infotainment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24741" y="5124449"/>
            <a:ext cx="981050" cy="14763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9989" y="5219700"/>
            <a:ext cx="790555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Core Domain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9989" y="5648325"/>
            <a:ext cx="790555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Identify differentiating features for VW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01039" y="5124449"/>
            <a:ext cx="981050" cy="14763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96287" y="5219700"/>
            <a:ext cx="790555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Context Map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96287" y="5648325"/>
            <a:ext cx="790555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Visualize relationships between vehicle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6: Strategic Design 2 - Context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09-Jan-2026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 2: Context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298125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6-1 to 6-2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2981250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Use interfaces for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customer/supplier teams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design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Open Host Service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298125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6-3 to 6-4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2981250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Isolate model with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Anticorruption Layer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reuse elements in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Shared Kernel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5098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495799"/>
            <a:ext cx="298125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6-5 to 6-6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752974"/>
            <a:ext cx="2981250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Understand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Separate Ways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use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Domain Events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for communication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1845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248043" y="2417445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67133" y="2381250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&amp; Activities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171845" y="2995892"/>
            <a:ext cx="190495" cy="1232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57588" y="2962274"/>
            <a:ext cx="298125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Customer/Supplier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7588" y="3219449"/>
            <a:ext cx="2981250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Relationships between upstream and downstream contexts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171845" y="3767417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57588" y="3733799"/>
            <a:ext cx="298125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Integration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7588" y="3990974"/>
            <a:ext cx="298125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OHS, ACL, Shared Kernel, Separate Ways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171845" y="4308381"/>
            <a:ext cx="190495" cy="16528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57588" y="4295774"/>
            <a:ext cx="298125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7588" y="4552949"/>
            <a:ext cx="2981250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Design inter-context communication strategies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7588" y="4952999"/>
            <a:ext cx="2981250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Map system integrations using context patterns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7588" y="5353049"/>
            <a:ext cx="2981250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Design Anticorruption Layer for external systems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76958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753156" y="2451734"/>
            <a:ext cx="228594" cy="12572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172245" y="2381250"/>
            <a:ext cx="28193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Skills &amp; Automotive Application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676958" y="2981885"/>
            <a:ext cx="190495" cy="15127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962700" y="2962274"/>
            <a:ext cx="356226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62700" y="3257550"/>
            <a:ext cx="1552536" cy="304800"/>
          </a:xfrm>
          <a:prstGeom prst="roundRect">
            <a:avLst>
              <a:gd name="adj" fmla="val 12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62700" y="3257550"/>
            <a:ext cx="15525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Inter-context Design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20009" y="3257550"/>
            <a:ext cx="1638259" cy="304800"/>
          </a:xfrm>
          <a:prstGeom prst="roundRect">
            <a:avLst>
              <a:gd name="adj" fmla="val 12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20009" y="3257550"/>
            <a:ext cx="163825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Integration Strategies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62700" y="3638550"/>
            <a:ext cx="1857328" cy="304800"/>
          </a:xfrm>
          <a:prstGeom prst="roundRect">
            <a:avLst>
              <a:gd name="adj" fmla="val 12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62700" y="3638550"/>
            <a:ext cx="185732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Communication Patterns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24801" y="3638550"/>
            <a:ext cx="1485862" cy="304800"/>
          </a:xfrm>
          <a:prstGeom prst="roundRect">
            <a:avLst>
              <a:gd name="adj" fmla="val 12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24801" y="3638550"/>
            <a:ext cx="14858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System Boundaries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76958" y="4276725"/>
            <a:ext cx="3848003" cy="1914525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6785736" y="5167947"/>
            <a:ext cx="19145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57928" y="4419600"/>
            <a:ext cx="35241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Automotive Integration Patterns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857928" y="4453890"/>
            <a:ext cx="228594" cy="16002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7857928" y="4743450"/>
            <a:ext cx="1238219" cy="1304925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3176" y="4838699"/>
            <a:ext cx="1047723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Powertrain → Vehicle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3176" y="5267324"/>
            <a:ext cx="1047723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Customer/Supplier relationship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91395" y="4743450"/>
            <a:ext cx="942951" cy="130492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86642" y="4838699"/>
            <a:ext cx="752456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Diagnostics 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6642" y="5267324"/>
            <a:ext cx="752456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Open Host Service for multiple clients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39119" y="4743450"/>
            <a:ext cx="1142971" cy="13049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34366" y="4838699"/>
            <a:ext cx="952476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Manufacturing Events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4366" y="5267324"/>
            <a:ext cx="952476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Domain Events across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Connecting DDD to Automotive Domain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428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1539239"/>
            <a:ext cx="228594" cy="160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2020" y="1485900"/>
            <a:ext cx="29622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Automotive Software Complexity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33" y="2066924"/>
            <a:ext cx="3457488" cy="1714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08062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2476" y="40385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Growing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42957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Modern vehicles contain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100+ million lines of code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across multiple domains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482413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476" y="48101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Multiple Domains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506729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Infotainment, powertrain, safety, connectivity, autonomous driving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6733" y="5614147"/>
            <a:ext cx="190495" cy="1064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476" y="557212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Cross-team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76" y="58293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Different teams work on different vehicle subsystems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340" y="1428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438539" y="153066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628" y="1485900"/>
            <a:ext cx="28574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DDD Applications in Automotive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62340" y="2086535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48083" y="20669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8083" y="23241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Separate contexts for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safety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connectivity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362340" y="286366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48083" y="28384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Context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8083" y="309562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Customer/Supplier relationships between safety and powertrain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362340" y="3613056"/>
            <a:ext cx="190495" cy="16528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8083" y="36004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Domain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8083" y="385762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Event-driven communication between vehicle subsystems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362340" y="438598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648083" y="43719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8083" y="462915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Common terminology for engineers, developers, and domain experts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7473" y="1428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143671" y="1520666"/>
            <a:ext cx="228594" cy="19716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62760" y="1485900"/>
            <a:ext cx="29145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Applying to Volkswagen Projects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067473" y="2096340"/>
            <a:ext cx="190495" cy="13166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53216" y="20669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Project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3216" y="2324100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Apply DDD to your specific Volkswagen projects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067473" y="2652432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53216" y="263842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Key Applications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53216" y="2933699"/>
            <a:ext cx="1657308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3216" y="2933699"/>
            <a:ext cx="165730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Infotainment Systems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53216" y="3314700"/>
            <a:ext cx="1790655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3216" y="3314700"/>
            <a:ext cx="179065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EV Battery Management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53216" y="3695699"/>
            <a:ext cx="1571585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3216" y="3695699"/>
            <a:ext cx="157158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Autonomous Driving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53216" y="4076699"/>
            <a:ext cx="1504912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3216" y="4076699"/>
            <a:ext cx="15049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Connected Services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62900" y="4076699"/>
            <a:ext cx="1438239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2900" y="4076699"/>
            <a:ext cx="143823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Fleet Management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67473" y="4667249"/>
            <a:ext cx="3457488" cy="116205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7552488" y="5182234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7473" y="4667249"/>
            <a:ext cx="3457488" cy="1162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65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"DDD helps Volkswagen teams create clear boundaries between vehicle subsystems while ensuring effective communication between them."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067473" y="6058460"/>
            <a:ext cx="190495" cy="15127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53216" y="603884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Benefits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3216" y="629602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Reduced complexity, better maintainability, improved collaboration between teams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End Outcomes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428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1530667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2020" y="1485900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Skills Acquired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086535"/>
            <a:ext cx="190495" cy="1512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476" y="20669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3241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Decompose complex systems into manageable contexts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2880472"/>
            <a:ext cx="190495" cy="1064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8384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Tactical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095625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Translate domain models into technical solutions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3442447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40042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6576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Bridge communication between domain experts and developers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1381090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33" y="4267199"/>
            <a:ext cx="13810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Domain Modeling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52596" y="4267199"/>
            <a:ext cx="1333466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2596" y="426719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Context Mapping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4648200"/>
            <a:ext cx="1552536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33" y="4648200"/>
            <a:ext cx="15525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Event-Driven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5029200"/>
            <a:ext cx="1762080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33" y="5029200"/>
            <a:ext cx="176208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Hexagonal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2340" y="1428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438539" y="1556385"/>
            <a:ext cx="228594" cy="12572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57628" y="1485900"/>
            <a:ext cx="26859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Value for Volkswagen Projects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362340" y="2093538"/>
            <a:ext cx="190495" cy="1372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48083" y="20669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Automotive Software Excellence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8083" y="23241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Design complex vehicle systems with clear boundaries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62340" y="2865063"/>
            <a:ext cx="190495" cy="1372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48083" y="28384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Faster Development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8083" y="309562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Reduce integration complexity between vehicle subsystems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362340" y="3620060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648083" y="36004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Better Decision Making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8083" y="385762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Strategic approach to system architecture decisions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362340" y="4384581"/>
            <a:ext cx="190495" cy="16528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648083" y="43719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Cross-Team Collaboration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8083" y="462915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Effective communication between specialized teams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7473" y="1428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143671" y="1522095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62760" y="1485900"/>
            <a:ext cx="9524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Next Steps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67473" y="2162174"/>
            <a:ext cx="3457488" cy="93344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7666789" y="2562858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48443" y="2530316"/>
            <a:ext cx="228594" cy="19716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19909" y="2305049"/>
            <a:ext cx="27621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Apply Knowledge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9909" y="2571750"/>
            <a:ext cx="27621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Implement DDD concepts in your current Volkswagen projects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67473" y="3400425"/>
            <a:ext cx="3457488" cy="93344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7666789" y="3801109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248443" y="3804285"/>
            <a:ext cx="228594" cy="12572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19909" y="3543300"/>
            <a:ext cx="27621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Share Learnings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19909" y="3809999"/>
            <a:ext cx="27621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Mentor colleagues and establish DDD practices in teams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67473" y="4638674"/>
            <a:ext cx="3457488" cy="93344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7666789" y="5039358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248443" y="5019675"/>
            <a:ext cx="228594" cy="17145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619909" y="4781549"/>
            <a:ext cx="27621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Continue Learning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9909" y="5048250"/>
            <a:ext cx="27621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Explore advanced DDD patterns and automotive case studies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67473" y="5924549"/>
            <a:ext cx="3457488" cy="666750"/>
          </a:xfrm>
          <a:prstGeom prst="roundRect">
            <a:avLst>
              <a:gd name="adj" fmla="val 22857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296067" y="6088260"/>
            <a:ext cx="380990" cy="3393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819929" y="6153149"/>
            <a:ext cx="246691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Pursue CPSA-A Certification Exam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1E50">
                  <a:alpha val="85000"/>
                </a:srgbClr>
              </a:gs>
              <a:gs pos="100000">
                <a:srgbClr val="001E50">
                  <a:alpha val="85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33486" y="1924049"/>
            <a:ext cx="9115197" cy="638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355"/>
              </a:lnSpc>
              <a:spcBef>
                <a:spcPts val="0"/>
              </a:spcBef>
              <a:spcAft>
                <a:spcPts val="1300"/>
              </a:spcAft>
            </a:pPr>
            <a:r>
              <a:rPr sz="3348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609" y="2752725"/>
            <a:ext cx="952476" cy="38100"/>
          </a:xfrm>
          <a:prstGeom prst="rect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33486" y="3076574"/>
            <a:ext cx="911519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674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iSAQB® Training Course in Domain-Driven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3486" y="3800475"/>
            <a:ext cx="911519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0">
                <a:solidFill>
                  <a:srgbClr val="A3C2FF"/>
                </a:solidFill>
                <a:latin typeface="Source Sans Pro"/>
                <a:rFonts ascii="Source Sans Pro" hAnsi="Source Sans Pro" eastAsia="Source Sans Pro" cs="Source Sans Pro"/>
              </a:rPr>
              <a:t>For </a:t>
            </a:r>
            <a:r>
              <a:rPr sz="1435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Volkswagen Group -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3486" y="4286250"/>
            <a:ext cx="91151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22-Dec-2025 to 09-Jan-2026 (6 Days, 4 Hours/Day)</a:t>
            </a:r>
          </a:p>
        </p:txBody>
      </p:sp>
      <p:sp>
        <p:nvSpPr>
          <p:cNvPr id="8" name="Rectangle 7"/>
          <p:cNvSpPr/>
          <p:nvPr/>
        </p:nvSpPr>
        <p:spPr>
          <a:xfrm>
            <a:off x="9905752" y="5534025"/>
            <a:ext cx="1904952" cy="90487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Course Overview: Domain-Driven Design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721167"/>
            <a:ext cx="228594" cy="177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8199" y="1695449"/>
            <a:ext cx="491477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What is DDD?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199" y="2066924"/>
            <a:ext cx="4914777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 strategic approach to software design that focuses on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complex business domains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and creates a shared understanding between technical teams and domain experts.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139440"/>
            <a:ext cx="228594" cy="1600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8199" y="3105149"/>
            <a:ext cx="491477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Why for Automotive?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99" y="3476624"/>
            <a:ext cx="4914777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Modern vehicles contain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100+ million lines of code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across multiple domains (infotainment, safety, powertrain), requiring precise modeling of complex interactions.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543425"/>
            <a:ext cx="228594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8199" y="4514850"/>
            <a:ext cx="491477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Value for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199" y="4886325"/>
            <a:ext cx="4914777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Creates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precise, transparent, and transformable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representations of domains, enabling better communication, reduced complexity, and more maintainable 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8719" y="2095499"/>
            <a:ext cx="5286242" cy="34290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iSAQB Certification Pathway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1980" y="1428750"/>
            <a:ext cx="5238619" cy="3400425"/>
          </a:xfrm>
          <a:prstGeom prst="roundRect">
            <a:avLst>
              <a:gd name="adj" fmla="val 4481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839172" y="3029902"/>
            <a:ext cx="3400425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7248" y="1666874"/>
            <a:ext cx="470523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Foundation Level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57248" y="1749742"/>
            <a:ext cx="228594" cy="1771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57248" y="2152650"/>
            <a:ext cx="4705232" cy="314325"/>
          </a:xfrm>
          <a:prstGeom prst="roundRect">
            <a:avLst>
              <a:gd name="adj" fmla="val 24242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7248" y="2152650"/>
            <a:ext cx="470523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155724"/>
                </a:solidFill>
                <a:latin typeface="Source Sans Pro"/>
                <a:rFonts ascii="Source Sans Pro" hAnsi="Source Sans Pro" eastAsia="Source Sans Pro" cs="Source Sans Pro"/>
              </a:rPr>
              <a:t>Completed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48" y="2609850"/>
            <a:ext cx="4705232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Provides fundamental knowledge of software architecture principles, methods, and techniques.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7248" y="3809999"/>
            <a:ext cx="2228794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248" y="3809999"/>
            <a:ext cx="222879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Architecture Fundamentals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71545" y="3906786"/>
            <a:ext cx="171445" cy="14932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381290" y="3809999"/>
            <a:ext cx="1619209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1290" y="3809999"/>
            <a:ext cx="161920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Quality Attributes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495587" y="3906786"/>
            <a:ext cx="171445" cy="14932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057248" y="4248150"/>
            <a:ext cx="1476338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248" y="4248150"/>
            <a:ext cx="147633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Design Patterns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71545" y="4344936"/>
            <a:ext cx="171445" cy="14932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191095" y="1428750"/>
            <a:ext cx="5238619" cy="3400425"/>
          </a:xfrm>
          <a:prstGeom prst="roundRect">
            <a:avLst>
              <a:gd name="adj" fmla="val 4481"/>
            </a:avLst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4589943" y="3029902"/>
            <a:ext cx="3400425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6362" y="1666874"/>
            <a:ext cx="470523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Advanced Level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86362" y="1749742"/>
            <a:ext cx="228594" cy="17716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86362" y="2152650"/>
            <a:ext cx="4705232" cy="314325"/>
          </a:xfrm>
          <a:prstGeom prst="roundRect">
            <a:avLst>
              <a:gd name="adj" fmla="val 24242"/>
            </a:avLst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6362" y="2152650"/>
            <a:ext cx="470523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856404"/>
                </a:solidFill>
                <a:latin typeface="Source Sans Pro"/>
                <a:rFonts ascii="Source Sans Pro" hAnsi="Source Sans Pro" eastAsia="Source Sans Pro" cs="Source Sans Pro"/>
              </a:rPr>
              <a:t>Current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6362" y="2609850"/>
            <a:ext cx="4705232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Specialized modules for in-depth knowledge in specific areas of software architecture.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86362" y="3743325"/>
            <a:ext cx="1543011" cy="409574"/>
          </a:xfrm>
          <a:prstGeom prst="roundRect">
            <a:avLst>
              <a:gd name="adj" fmla="val 18604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6362" y="3743325"/>
            <a:ext cx="1543011" cy="4095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DDD (Current)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29234" y="3878211"/>
            <a:ext cx="171445" cy="149327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124621" y="3743325"/>
            <a:ext cx="1676358" cy="409574"/>
          </a:xfrm>
          <a:prstGeom prst="roundRect">
            <a:avLst>
              <a:gd name="adj" fmla="val 18604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4621" y="3743325"/>
            <a:ext cx="1676358" cy="4095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Cloud Architecture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38919" y="3878211"/>
            <a:ext cx="171445" cy="149327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896227" y="3743325"/>
            <a:ext cx="1000099" cy="409574"/>
          </a:xfrm>
          <a:prstGeom prst="roundRect">
            <a:avLst>
              <a:gd name="adj" fmla="val 18604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96227" y="3743325"/>
            <a:ext cx="1000099" cy="4095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Security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10524" y="3878211"/>
            <a:ext cx="171445" cy="14932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486362" y="4248150"/>
            <a:ext cx="1743031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6362" y="4248150"/>
            <a:ext cx="174303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Embedded Systems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00659" y="4344936"/>
            <a:ext cx="171445" cy="149327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324641" y="4248150"/>
            <a:ext cx="1219169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4641" y="4248150"/>
            <a:ext cx="121916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And more...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438939" y="4344936"/>
            <a:ext cx="171445" cy="149327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761980" y="5400675"/>
            <a:ext cx="2524061" cy="1076325"/>
          </a:xfrm>
          <a:prstGeom prst="roundRect">
            <a:avLst>
              <a:gd name="adj" fmla="val 1415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2476" y="5591175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Technical Competence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476" y="5905500"/>
            <a:ext cx="21430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6538" y="5400675"/>
            <a:ext cx="2524061" cy="1076325"/>
          </a:xfrm>
          <a:prstGeom prst="roundRect">
            <a:avLst>
              <a:gd name="adj" fmla="val 1415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67033" y="5591175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Methodical Competence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67033" y="5905500"/>
            <a:ext cx="21430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20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1095" y="5400675"/>
            <a:ext cx="2524061" cy="1076325"/>
          </a:xfrm>
          <a:prstGeom prst="roundRect">
            <a:avLst>
              <a:gd name="adj" fmla="val 1415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1590" y="5591175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Communicative Competence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1590" y="5905500"/>
            <a:ext cx="21430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10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05652" y="5400675"/>
            <a:ext cx="2524061" cy="1076325"/>
          </a:xfrm>
          <a:prstGeom prst="roundRect">
            <a:avLst>
              <a:gd name="adj" fmla="val 1415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6147" y="5591175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Total Credits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6147" y="5905500"/>
            <a:ext cx="21430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Training Schedule and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28750"/>
            <a:ext cx="108582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6-Day Training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866899"/>
            <a:ext cx="1085822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4 hours per day • Building from foundations to strategic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295525"/>
            <a:ext cx="10858228" cy="819149"/>
          </a:xfrm>
          <a:prstGeom prst="roundRect">
            <a:avLst>
              <a:gd name="adj" fmla="val 18604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2576146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4892" y="2438400"/>
            <a:ext cx="1002957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This training provides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24 hours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of instruction, exceeding the recommended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17 hours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for deeper dives, more exercises, and comprehensive coverage.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305174"/>
            <a:ext cx="2057348" cy="2143125"/>
          </a:xfrm>
          <a:prstGeom prst="roundRect">
            <a:avLst>
              <a:gd name="adj" fmla="val 7407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-338789" y="4310696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27" y="3495675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22-Dec-2025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27" y="3762374"/>
            <a:ext cx="163825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27" y="4286250"/>
            <a:ext cx="1638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27" y="4619625"/>
            <a:ext cx="1638259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Domain, Model &amp; Ubiquitous Language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66953" y="3305174"/>
            <a:ext cx="2057348" cy="2143125"/>
          </a:xfrm>
          <a:prstGeom prst="roundRect">
            <a:avLst>
              <a:gd name="adj" fmla="val 7407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1861431" y="4310696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5547" y="3495675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05-Jan-2026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5547" y="3762374"/>
            <a:ext cx="163825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5547" y="4286250"/>
            <a:ext cx="1638259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Knowledge Crunching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5547" y="4857750"/>
            <a:ext cx="1638259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Collaborative modeling with domain experts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7173" y="3305174"/>
            <a:ext cx="2057348" cy="2143125"/>
          </a:xfrm>
          <a:prstGeom prst="roundRect">
            <a:avLst>
              <a:gd name="adj" fmla="val 7407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61651" y="4310696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95767" y="3495675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06-Jan-2026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5767" y="3762374"/>
            <a:ext cx="163825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Day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5767" y="4286250"/>
            <a:ext cx="1638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5767" y="4619625"/>
            <a:ext cx="1638259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From model to technical implementation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7393" y="3305174"/>
            <a:ext cx="2057348" cy="2143125"/>
          </a:xfrm>
          <a:prstGeom prst="roundRect">
            <a:avLst>
              <a:gd name="adj" fmla="val 7407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6261871" y="4310696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5987" y="3495675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07-Jan-2026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5987" y="3762374"/>
            <a:ext cx="163825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Day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5987" y="4286250"/>
            <a:ext cx="1638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5987" y="4619625"/>
            <a:ext cx="1638259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Model in application architecture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7613" y="3305174"/>
            <a:ext cx="2057348" cy="2143125"/>
          </a:xfrm>
          <a:prstGeom prst="roundRect">
            <a:avLst>
              <a:gd name="adj" fmla="val 7407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8462091" y="4310696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6207" y="3495675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08-Jan-2026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6207" y="3762374"/>
            <a:ext cx="163825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Day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6207" y="4286250"/>
            <a:ext cx="1638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6207" y="4619625"/>
            <a:ext cx="1638259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Cutting and distinguishing models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6733" y="5591175"/>
            <a:ext cx="10858228" cy="1704975"/>
          </a:xfrm>
          <a:prstGeom prst="roundRect">
            <a:avLst>
              <a:gd name="adj" fmla="val 8938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-119714" y="6377622"/>
            <a:ext cx="1704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327" y="5781674"/>
            <a:ext cx="104391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09-Jan-2026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327" y="6048375"/>
            <a:ext cx="1043913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Day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327" y="6572250"/>
            <a:ext cx="1043913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327" y="6905625"/>
            <a:ext cx="1043913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Context Mapping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33" y="7572375"/>
            <a:ext cx="10858228" cy="114300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666833" y="7762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790655" y="7915275"/>
            <a:ext cx="228594" cy="17145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57228" y="8334374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Foundations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62280" y="7762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86102" y="7912417"/>
            <a:ext cx="228594" cy="17716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952676" y="8334374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Knowledge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57728" y="7762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981550" y="7938134"/>
            <a:ext cx="228594" cy="12572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048123" y="8334374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Implementation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53176" y="7762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76998" y="7912417"/>
            <a:ext cx="228594" cy="17716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143571" y="8334374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Architecture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48623" y="7762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591435" y="7886700"/>
            <a:ext cx="1390615" cy="2286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239019" y="8334374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1: Foundations - Domain, Model &amp; Ubiquitous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22-Dec-2025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Foundations: Domain, Model &amp; Ubiquitous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1-1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Explain connections between </a:t>
            </a: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domains, software, and models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1-2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Understand role of domain-specific terminology in building </a:t>
            </a: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5098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495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1-3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752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Explain building blocks of DDD (Entities, Value Objects, Aggregates, etc.)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2813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52673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1-4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524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Explain connections between building blocks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628" y="238125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Covered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Domain &amp; Domain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Software as representation of expert knowledge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567392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3533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3790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Common terminology for experts and developers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138892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105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Building Blocks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362450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Entities, Value Objects, Aggregates, Services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700867"/>
            <a:ext cx="190495" cy="123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48083" y="466724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Technical Components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8083" y="492442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Factories, Repositories, Domain Events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43671" y="2404586"/>
            <a:ext cx="228594" cy="2200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62760" y="2381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Activities &amp; Skills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67473" y="2974881"/>
            <a:ext cx="190495" cy="16528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3216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Define a simple domain and its boundaries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216" y="34194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Create a ubiquitous language for a given domain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3216" y="361949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Model basic domain concepts using class diagrams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4166347"/>
            <a:ext cx="190495" cy="1064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53216" y="41243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53216" y="4419600"/>
            <a:ext cx="1362040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3216" y="4419600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DDD Foundations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20029" y="4419600"/>
            <a:ext cx="1381090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20029" y="4419600"/>
            <a:ext cx="13810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Domain Modeling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53216" y="4800600"/>
            <a:ext cx="1276318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3216" y="4800600"/>
            <a:ext cx="12763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Communication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34306" y="4800600"/>
            <a:ext cx="1619209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34306" y="4800600"/>
            <a:ext cx="161920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Technical Translation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2: Knowledge Crunching - The Path to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05-Jan-2026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Knowledge Crunching: The Path to the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2-1 to 2-3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Empower </a:t>
            </a: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domain experts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select suitable contacts, communicate effectively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2-4 to 2-6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Use </a:t>
            </a: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modeling techniques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conduct interviews, apply observation methods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5098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495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2-7 to 2-9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752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Overview of </a:t>
            </a: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Collaborative Modeling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select approaches, conduct workshops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2813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52673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2-10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524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Understand </a:t>
            </a: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agility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as foundation of DDD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628" y="238125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Covered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Agile &amp; Evolutionary Modeling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Iterative refinement of domain models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567392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3533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Domain Expert Empowerment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3790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Leveraging expert knowledge effectively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138892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105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Collaborative Modeling Methods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36245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EventStorming, Domain Storytelling, User Story Mapping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900892"/>
            <a:ext cx="190495" cy="123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48083" y="4867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Knowledge Elicitation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8083" y="5124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Interviewing, observation, field observation, apprenticing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43671" y="2404586"/>
            <a:ext cx="228594" cy="2200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62760" y="2381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Activities &amp; Skills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67473" y="2974881"/>
            <a:ext cx="190495" cy="16528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3216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Workshop-style collaborative modeling sessions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216" y="34194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Role-playing interviews with domain experts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3216" y="3619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Analyzing a domain through observation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3966322"/>
            <a:ext cx="190495" cy="1064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53216" y="39242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53216" y="4219575"/>
            <a:ext cx="1276318" cy="304800"/>
          </a:xfrm>
          <a:prstGeom prst="roundRect">
            <a:avLst>
              <a:gd name="adj" fmla="val 125000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3216" y="4219575"/>
            <a:ext cx="12763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Communication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34306" y="4219575"/>
            <a:ext cx="1123921" cy="304800"/>
          </a:xfrm>
          <a:prstGeom prst="roundRect">
            <a:avLst>
              <a:gd name="adj" fmla="val 125000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4306" y="4219575"/>
            <a:ext cx="112392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Collaboration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53216" y="4600575"/>
            <a:ext cx="1304892" cy="304800"/>
          </a:xfrm>
          <a:prstGeom prst="roundRect">
            <a:avLst>
              <a:gd name="adj" fmla="val 125000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3216" y="4600575"/>
            <a:ext cx="13048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Domain Analysis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62880" y="4600575"/>
            <a:ext cx="1657308" cy="304800"/>
          </a:xfrm>
          <a:prstGeom prst="roundRect">
            <a:avLst>
              <a:gd name="adj" fmla="val 125000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62880" y="4600575"/>
            <a:ext cx="165730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Workshop Facilitation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3: From Model to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06-Jan-2026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From Model to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3-1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Extend domain model with </a:t>
            </a: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technical building blocks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(Repositories, Factories)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3-2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Model </a:t>
            </a: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interfaces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for domain classes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309782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3-3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5529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Account for </a:t>
            </a: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interactions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between implementation and model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8130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50672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3-4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3244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Argue why DDD is worthwhile for </a:t>
            </a: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complex business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628" y="238125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Covered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Cohesion &amp; Coupling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Principles for maintainable software design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567392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3533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SOLID Principles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37909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Single Responsibility, Open/Closed, Liskov Substitution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329392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Dependency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552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Avoiding cyclical dependencies, Law of Demeter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900892"/>
            <a:ext cx="190495" cy="123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48083" y="4867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Technical Building Blocks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8083" y="5124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Repositories, Factories, Aggregates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43671" y="2404586"/>
            <a:ext cx="228594" cy="2200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62760" y="2381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Activities &amp; Skills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67473" y="2974881"/>
            <a:ext cx="190495" cy="16528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321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Refactoring domain model into technical components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216" y="3619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Designing interfaces and technical layers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3216" y="38099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Debating benefits of DDD for complex logic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4166347"/>
            <a:ext cx="190495" cy="1064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53216" y="41243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53216" y="4419600"/>
            <a:ext cx="1933526" cy="304800"/>
          </a:xfrm>
          <a:prstGeom prst="roundRect">
            <a:avLst>
              <a:gd name="adj" fmla="val 125000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3216" y="4419600"/>
            <a:ext cx="193352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Technical Implementation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53216" y="4800600"/>
            <a:ext cx="1352516" cy="304800"/>
          </a:xfrm>
          <a:prstGeom prst="roundRect">
            <a:avLst>
              <a:gd name="adj" fmla="val 125000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3216" y="4800600"/>
            <a:ext cx="135251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Design Principles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10504" y="4800600"/>
            <a:ext cx="981050" cy="304800"/>
          </a:xfrm>
          <a:prstGeom prst="roundRect">
            <a:avLst>
              <a:gd name="adj" fmla="val 125000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10504" y="4800600"/>
            <a:ext cx="98105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Refactoring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53216" y="5181599"/>
            <a:ext cx="1362040" cy="304800"/>
          </a:xfrm>
          <a:prstGeom prst="roundRect">
            <a:avLst>
              <a:gd name="adj" fmla="val 125000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53216" y="5181599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DDD Justification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4: The Model in 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07-Jan-2026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The Model in Application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4-1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Design a </a:t>
            </a: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ports &amp; adapter architecture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for the domain model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4-2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Formulate correlations and distinctions between </a:t>
            </a: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DDD and BDD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518211"/>
            <a:ext cx="190495" cy="1456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495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Key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752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Integrate domain model into larger system architecture effectively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57628" y="238125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Covered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Hexagonal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8083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Ports &amp; Adapters pattern for isolation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35673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3533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CQRS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790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Command-Query Responsibility Segregation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4138892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4105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Layered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4362450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Traditional architectural approach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4700867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66724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Dependency Injection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92442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Inversion of Control for loose coupling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43671" y="2404586"/>
            <a:ext cx="228594" cy="2200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62760" y="2381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Activities &amp; Skills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2974881"/>
            <a:ext cx="190495" cy="16528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3216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Design hexagonal architecture for domain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3216" y="34194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Compare and contrast DDD and BDD approaches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3216" y="3619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Map domain model to architectural layers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067473" y="3966322"/>
            <a:ext cx="190495" cy="10645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353216" y="39242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53216" y="4219575"/>
            <a:ext cx="1552536" cy="304800"/>
          </a:xfrm>
          <a:prstGeom prst="roundRect">
            <a:avLst>
              <a:gd name="adj" fmla="val 12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3216" y="4219575"/>
            <a:ext cx="15525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Architectural Design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53216" y="4600575"/>
            <a:ext cx="1466813" cy="304800"/>
          </a:xfrm>
          <a:prstGeom prst="roundRect">
            <a:avLst>
              <a:gd name="adj" fmla="val 12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3216" y="4600575"/>
            <a:ext cx="14668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System Integration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24801" y="4600575"/>
            <a:ext cx="1485862" cy="304800"/>
          </a:xfrm>
          <a:prstGeom prst="roundRect">
            <a:avLst>
              <a:gd name="adj" fmla="val 12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24801" y="4600575"/>
            <a:ext cx="14858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Pattern Application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53216" y="4981574"/>
            <a:ext cx="1000099" cy="304800"/>
          </a:xfrm>
          <a:prstGeom prst="roundRect">
            <a:avLst>
              <a:gd name="adj" fmla="val 12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53216" y="4981574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DDD vs BDD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5: Strategic Design 1 - Cutting and Distinguishing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08-Jan-2026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 1: Cutting and Distinguishing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5-1 to 5-2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Identify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symptoms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of large models, assess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cross-team models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5-3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Move from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problem to solution space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309782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5-4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552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Distill the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core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of a system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88128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4867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5-5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124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Describe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in a Context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628" y="238125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Covered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Problem Space vs Solution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Distinguishing domain problems from technical solutions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767417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Subdomain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Core, Supporting, Generic subdomains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329392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Bounded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552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Explicit boundaries for domain models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900892"/>
            <a:ext cx="190495" cy="123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48083" y="4867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Context 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8083" y="5124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Visualizing relationships between contexts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43671" y="2404586"/>
            <a:ext cx="228594" cy="2200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62760" y="2381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Activities &amp; Skills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67473" y="2974881"/>
            <a:ext cx="190495" cy="16528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3216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Analyze large system and identify problems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216" y="34194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Define Bounded Contexts and relationships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3216" y="3619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Create Context Map for complex system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3966322"/>
            <a:ext cx="190495" cy="1064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53216" y="39242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53216" y="4219575"/>
            <a:ext cx="1419189" cy="304800"/>
          </a:xfrm>
          <a:prstGeom prst="roundRect">
            <a:avLst>
              <a:gd name="adj" fmla="val 1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3216" y="4219575"/>
            <a:ext cx="14191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Strategic Thinking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53216" y="4600575"/>
            <a:ext cx="1723981" cy="304800"/>
          </a:xfrm>
          <a:prstGeom prst="roundRect">
            <a:avLst>
              <a:gd name="adj" fmla="val 1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3216" y="4600575"/>
            <a:ext cx="172398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System Decomposition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53216" y="4981574"/>
            <a:ext cx="1333466" cy="304800"/>
          </a:xfrm>
          <a:prstGeom prst="roundRect">
            <a:avLst>
              <a:gd name="adj" fmla="val 1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3216" y="4981574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Context Mapping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91455" y="4981574"/>
            <a:ext cx="1504912" cy="304800"/>
          </a:xfrm>
          <a:prstGeom prst="roundRect">
            <a:avLst>
              <a:gd name="adj" fmla="val 1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91455" y="4981574"/>
            <a:ext cx="15049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Architectural Vision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6: Strategic Design 2 - Context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09-Jan-2026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 2: Context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6-1 to 6-2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Use interfaces for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customer/supplier teams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design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Open Host Service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6-3 to 6-4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Isolate model with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Anticorruption Layer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reuse elements in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Shared Kernel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5098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495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6-5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752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Understand when to divide models with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Separate Ways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2813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52673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6-6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52449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Use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Domain Events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for communication between contexts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628" y="238125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Covered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Customer/Supplier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Relationships between upstream and downstream contexts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767417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Open Host Service (OHS)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Public API for multiple client contexts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329392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Anticorruption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552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Translation layer between contexts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900892"/>
            <a:ext cx="190495" cy="123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48083" y="4867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Domain Events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8083" y="5124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Asynchronous communication between contexts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43671" y="2404586"/>
            <a:ext cx="228594" cy="2200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62760" y="2381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Activities &amp; Skills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67473" y="2974881"/>
            <a:ext cx="190495" cy="16528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3216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Design inter-context communication strategies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216" y="34194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Map system integrations using context patterns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3216" y="3619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Design Anticorruption Layer for external systems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3966322"/>
            <a:ext cx="190495" cy="1064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53216" y="39242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53216" y="4219575"/>
            <a:ext cx="1552536" cy="304800"/>
          </a:xfrm>
          <a:prstGeom prst="roundRect">
            <a:avLst>
              <a:gd name="adj" fmla="val 12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3216" y="4219575"/>
            <a:ext cx="15525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Inter-context Design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53216" y="4600575"/>
            <a:ext cx="1638259" cy="304800"/>
          </a:xfrm>
          <a:prstGeom prst="roundRect">
            <a:avLst>
              <a:gd name="adj" fmla="val 12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3216" y="4600575"/>
            <a:ext cx="163825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Integration Strategies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53216" y="4981574"/>
            <a:ext cx="1857328" cy="304800"/>
          </a:xfrm>
          <a:prstGeom prst="roundRect">
            <a:avLst>
              <a:gd name="adj" fmla="val 12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3216" y="4981574"/>
            <a:ext cx="185732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Communication Patterns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53216" y="5362575"/>
            <a:ext cx="1485862" cy="304800"/>
          </a:xfrm>
          <a:prstGeom prst="roundRect">
            <a:avLst>
              <a:gd name="adj" fmla="val 12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53216" y="5362575"/>
            <a:ext cx="14858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System Boundaries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1925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952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Connecting DDD to the Automotive Domain and Volkswagen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9049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015490"/>
            <a:ext cx="228594" cy="160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2020" y="1962149"/>
            <a:ext cx="29622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Automotive Software Complexity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33" y="2543175"/>
            <a:ext cx="3457488" cy="190499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7473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2476" y="47053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Growing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496252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Modern vehicles contain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100+ million lines of code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across multiple domains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549088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476" y="54768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Multiple Domains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573405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Infotainment, powertrain, safety, connectivity, autonomous driving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6733" y="6280897"/>
            <a:ext cx="190495" cy="1064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476" y="62388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Cross-team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76" y="64960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Different teams work on different vehicle subsystems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340" y="19049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438539" y="200691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628" y="1962149"/>
            <a:ext cx="28574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DDD Applications in Automotive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62340" y="2562785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48083" y="25431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8083" y="280035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Separate contexts for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safety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connectivity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362340" y="333991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48083" y="331470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Context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8083" y="357187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Customer/Supplier relationships between safety and powertrain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362340" y="4089306"/>
            <a:ext cx="190495" cy="16528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8083" y="40766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Domain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8083" y="433387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Event-driven communication between vehicle subsystems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362340" y="486223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648083" y="484822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8083" y="51054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Common terminology for engineers, developers, and domain experts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7473" y="19049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143671" y="1996916"/>
            <a:ext cx="228594" cy="19716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62760" y="1962149"/>
            <a:ext cx="29145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Applying to Volkswagen Projects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067473" y="2572590"/>
            <a:ext cx="190495" cy="13166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53216" y="25431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Project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3216" y="2800350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Apply DDD to your specific Volkswagen projects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067473" y="3128682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53216" y="31146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Key Applications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53216" y="3409950"/>
            <a:ext cx="1657308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3216" y="3409950"/>
            <a:ext cx="165730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Infotainment Systems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53216" y="3790949"/>
            <a:ext cx="1790655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3216" y="3790949"/>
            <a:ext cx="179065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EV Battery Management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53216" y="4171950"/>
            <a:ext cx="1571585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3216" y="4171950"/>
            <a:ext cx="157158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Autonomous Driving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53216" y="4552949"/>
            <a:ext cx="1504912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3216" y="4552949"/>
            <a:ext cx="15049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Connected Services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62900" y="4552949"/>
            <a:ext cx="1438239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2900" y="4552949"/>
            <a:ext cx="143823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Fleet Management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67473" y="5143500"/>
            <a:ext cx="3457488" cy="104774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7609639" y="5601334"/>
            <a:ext cx="10477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7473" y="5143500"/>
            <a:ext cx="3457488" cy="10477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650"/>
              </a:spcAft>
            </a:pPr>
            <a:r>
              <a:rPr sz="95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"DDD helps Volkswagen teams create clear boundaries between vehicle subsystems while ensuring effective communication between them."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067473" y="6420410"/>
            <a:ext cx="190495" cy="15127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53216" y="640080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Benefits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3216" y="665797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Reduced complexity, better maintainability, improved collaboration between teams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End Outcomes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428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1530667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2020" y="1485900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Skills Acquired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086535"/>
            <a:ext cx="190495" cy="1512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476" y="20669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3241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Decompose complex systems into manageable contexts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2880472"/>
            <a:ext cx="190495" cy="1064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8384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Tactical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095625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Translate domain models into technical solutions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3442447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40042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6576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Bridge communication between domain experts and developers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1381090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33" y="4267199"/>
            <a:ext cx="13810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Domain Modeling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52596" y="4267199"/>
            <a:ext cx="1333466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2596" y="426719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Context Mapping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4648200"/>
            <a:ext cx="1552536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33" y="4648200"/>
            <a:ext cx="15525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Event-Driven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5029200"/>
            <a:ext cx="1762080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33" y="5029200"/>
            <a:ext cx="176208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Hexagonal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2340" y="1428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438539" y="1556385"/>
            <a:ext cx="228594" cy="12572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57628" y="1485900"/>
            <a:ext cx="26859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Value for Volkswagen Projects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362340" y="2093538"/>
            <a:ext cx="190495" cy="1372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48083" y="20669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Automotive Software Excellence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8083" y="23241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Design complex vehicle systems with clear boundaries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62340" y="2865063"/>
            <a:ext cx="190495" cy="1372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48083" y="28384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Faster Development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8083" y="309562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Reduce integration complexity between vehicle subsystems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362340" y="3620060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648083" y="36004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Better Decision Making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8083" y="385762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Strategic approach to system architecture decisions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362340" y="4384581"/>
            <a:ext cx="190495" cy="16528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648083" y="43719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Cross-Team Collaboration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8083" y="462915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Effective communication between specialized teams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7473" y="1428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143671" y="1522095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62760" y="1485900"/>
            <a:ext cx="9524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Next Steps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67473" y="2162174"/>
            <a:ext cx="3457488" cy="93344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7666789" y="2562858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48443" y="2530316"/>
            <a:ext cx="228594" cy="19716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19909" y="2305049"/>
            <a:ext cx="27621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Apply Knowledge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9909" y="2571750"/>
            <a:ext cx="27621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Implement DDD concepts in your current Volkswagen projects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67473" y="3400425"/>
            <a:ext cx="3457488" cy="93344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7666789" y="3801109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248443" y="3804285"/>
            <a:ext cx="228594" cy="12572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19909" y="3543300"/>
            <a:ext cx="27621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Share Learnings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19909" y="3809999"/>
            <a:ext cx="27621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Mentor colleagues and establish DDD practices in teams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67473" y="4638674"/>
            <a:ext cx="3457488" cy="93344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7666789" y="5039358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248443" y="5019675"/>
            <a:ext cx="228594" cy="17145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619909" y="4781549"/>
            <a:ext cx="27621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Continue Learning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9909" y="5048250"/>
            <a:ext cx="27621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Explore advanced DDD patterns and automotive case studies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67473" y="5924549"/>
            <a:ext cx="3457488" cy="666750"/>
          </a:xfrm>
          <a:prstGeom prst="roundRect">
            <a:avLst>
              <a:gd name="adj" fmla="val 22857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296067" y="6088260"/>
            <a:ext cx="380990" cy="3393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819929" y="6153149"/>
            <a:ext cx="246691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Pursue CPSA-A Certification Exam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
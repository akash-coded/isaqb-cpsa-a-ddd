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24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22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22.png"/><Relationship Id="rId5" Type="http://schemas.openxmlformats.org/officeDocument/2006/relationships/image" Target="../media/image15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57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15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27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51.png"/><Relationship Id="rId4" Type="http://schemas.openxmlformats.org/officeDocument/2006/relationships/image" Target="../media/image33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28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17.png"/><Relationship Id="rId4" Type="http://schemas.openxmlformats.org/officeDocument/2006/relationships/image" Target="../media/image89.png"/><Relationship Id="rId5" Type="http://schemas.openxmlformats.org/officeDocument/2006/relationships/image" Target="../media/image70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Relationship Id="rId10" Type="http://schemas.openxmlformats.org/officeDocument/2006/relationships/image" Target="../media/image94.png"/><Relationship Id="rId11" Type="http://schemas.openxmlformats.org/officeDocument/2006/relationships/image" Target="../media/image95.png"/><Relationship Id="rId12" Type="http://schemas.openxmlformats.org/officeDocument/2006/relationships/image" Target="../media/image96.png"/><Relationship Id="rId13" Type="http://schemas.openxmlformats.org/officeDocument/2006/relationships/image" Target="../media/image97.png"/><Relationship Id="rId14" Type="http://schemas.openxmlformats.org/officeDocument/2006/relationships/image" Target="../media/image8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57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png"/><Relationship Id="rId9" Type="http://schemas.openxmlformats.org/officeDocument/2006/relationships/image" Target="../media/image9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57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3399">
                  <a:alpha val="85000"/>
                </a:srgbClr>
              </a:gs>
              <a:gs pos="100000">
                <a:srgbClr val="003399">
                  <a:alpha val="85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1533525"/>
            <a:ext cx="9753356" cy="14668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300"/>
              </a:spcAft>
            </a:pPr>
            <a:r>
              <a:rPr sz="3827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19609" y="3181350"/>
            <a:ext cx="952476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3505199"/>
            <a:ext cx="975335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2600"/>
              </a:spcAft>
            </a:pPr>
            <a:r>
              <a:rPr sz="2152" b="1">
                <a:solidFill>
                  <a:srgbClr val="E0E0E0"/>
                </a:solidFill>
                <a:latin typeface="Source Sans Pro"/>
                <a:rFonts ascii="Source Sans Pro" hAnsi="Source Sans Pro" eastAsia="Source Sans Pro" cs="Source Sans Pro"/>
              </a:rPr>
              <a:t>Day 1: Foundations - Domain, Model &amp; Ubiquitous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4314825"/>
            <a:ext cx="975335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iSAQB® Training Course in Domain-Driven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169" y="4838699"/>
            <a:ext cx="9753356" cy="485775"/>
          </a:xfrm>
          <a:prstGeom prst="roundRect">
            <a:avLst>
              <a:gd name="adj" fmla="val 117647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169" y="4838699"/>
            <a:ext cx="9753356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95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22 December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1925" y="6257925"/>
            <a:ext cx="2257368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VOLKSWAGEN GROUP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Introduction to Shared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Communication Challenges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1357"/>
            <a:ext cx="304792" cy="246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4972050"/>
          </a:xfrm>
          <a:prstGeom prst="roundRect">
            <a:avLst>
              <a:gd name="adj" fmla="val 306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753252" y="4286884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Lost in Translation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86037"/>
            <a:ext cx="228594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31717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Different vocabularies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teams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92400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995612"/>
            <a:ext cx="228594" cy="1428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40194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Misinterpreted requirements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due to terminology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246691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405187"/>
            <a:ext cx="228594" cy="142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42766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Implementation gaps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misunderstood concepts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85732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814762"/>
            <a:ext cx="228594" cy="1428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3771900"/>
            <a:ext cx="22859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Endless clarification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cycles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4417" y="3762374"/>
            <a:ext cx="176208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Impact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38719" y="1208942"/>
            <a:ext cx="304792" cy="211015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38719" y="1866899"/>
            <a:ext cx="5286242" cy="2409825"/>
          </a:xfrm>
          <a:prstGeom prst="roundRect">
            <a:avLst>
              <a:gd name="adj" fmla="val 632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099847" y="3005771"/>
            <a:ext cx="24098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Real-World Consequences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120347"/>
            <a:ext cx="266693" cy="255104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2543175"/>
            <a:ext cx="40861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Feature delays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misunderstood requirements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2533649"/>
            <a:ext cx="130489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9698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86402" y="2952750"/>
            <a:ext cx="36860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Integration failures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systems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6402" y="2943225"/>
            <a:ext cx="167635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3379470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86402" y="3362324"/>
            <a:ext cx="43909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 experience issues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inconsistent terminology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6402" y="3352800"/>
            <a:ext cx="195257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3789045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86402" y="3771900"/>
            <a:ext cx="35336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 risks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ambiguous specifications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86402" y="3762374"/>
            <a:ext cx="10572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38719" y="4514850"/>
            <a:ext cx="5286242" cy="2324100"/>
          </a:xfrm>
          <a:prstGeom prst="roundRect">
            <a:avLst>
              <a:gd name="adj" fmla="val 6557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686582" y="4854178"/>
            <a:ext cx="380990" cy="17859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76838" y="5276850"/>
            <a:ext cx="4810004" cy="9620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"The most disastrous thing that can happen to a software project is to have wrong people making key decisions."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86442" y="6381749"/>
            <a:ext cx="319079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- Eric Evans, Author of Domain-Driven Design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7124699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6733" y="7267574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7098" y="7267574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Automotive Software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63434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 Complexity Metrics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7219"/>
            <a:ext cx="304792" cy="2344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3076498" cy="1247775"/>
          </a:xfrm>
          <a:prstGeom prst="roundRect">
            <a:avLst>
              <a:gd name="adj" fmla="val 12213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28" y="2057400"/>
            <a:ext cx="269550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511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100M+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2647949"/>
            <a:ext cx="269550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Lines of Code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3726" y="1866899"/>
            <a:ext cx="3076498" cy="1247775"/>
          </a:xfrm>
          <a:prstGeom prst="roundRect">
            <a:avLst>
              <a:gd name="adj" fmla="val 12213"/>
            </a:avLst>
          </a:prstGeom>
          <a:solidFill>
            <a:srgbClr val="F5F7FA"/>
          </a:solidFill>
          <a:ln w="33020"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24221" y="2057400"/>
            <a:ext cx="2695507" cy="4952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511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4221" y="2647949"/>
            <a:ext cx="269550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ECUs in Premium Vehicles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3590924"/>
            <a:ext cx="6343491" cy="4657725"/>
          </a:xfrm>
          <a:prstGeom prst="roundRect">
            <a:avLst>
              <a:gd name="adj" fmla="val 327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1596089" y="5853746"/>
            <a:ext cx="46577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2951" y="3829050"/>
            <a:ext cx="582915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Multiple Domains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868392"/>
            <a:ext cx="266693" cy="22611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4284345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4267199"/>
            <a:ext cx="45718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Engine, transmission, battery management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4257675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4682490"/>
            <a:ext cx="228594" cy="2171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4676775"/>
            <a:ext cx="37908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Media, navigation, connectivity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4417" y="4667249"/>
            <a:ext cx="119059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5092065"/>
            <a:ext cx="228594" cy="21717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314417" y="5086350"/>
            <a:ext cx="34670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ADAS, airbags, collision avoidance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4417" y="5076825"/>
            <a:ext cx="62863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5530215"/>
            <a:ext cx="228594" cy="1600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14417" y="5495924"/>
            <a:ext cx="39527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OTA updates, V2X communication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14417" y="5486400"/>
            <a:ext cx="115249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5967" y="1143000"/>
            <a:ext cx="42289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Distribution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295967" y="1197219"/>
            <a:ext cx="304792" cy="234461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7295967" y="1866899"/>
            <a:ext cx="4228994" cy="3343275"/>
          </a:xfrm>
          <a:prstGeom prst="roundRect">
            <a:avLst>
              <a:gd name="adj" fmla="val 455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690370" y="3472496"/>
            <a:ext cx="33432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72185" y="2105024"/>
            <a:ext cx="37146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Software Code Distribution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572185" y="2134842"/>
            <a:ext cx="266693" cy="22611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572185" y="2571750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48523" y="2543175"/>
            <a:ext cx="1523961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48523" y="2543175"/>
            <a:ext cx="1295367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15357" y="2571750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72185" y="2990849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8523" y="2971800"/>
            <a:ext cx="1523961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048523" y="2971800"/>
            <a:ext cx="1066773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15357" y="2990849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72185" y="3429000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Safety Systems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48523" y="3400425"/>
            <a:ext cx="1523961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048523" y="3400425"/>
            <a:ext cx="914377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15357" y="3429000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2185" y="3848099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048523" y="3829050"/>
            <a:ext cx="1523961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048523" y="3829050"/>
            <a:ext cx="761980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15357" y="3848099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2185" y="4286250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Body Control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48523" y="4257675"/>
            <a:ext cx="1523961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048523" y="4257675"/>
            <a:ext cx="609584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715357" y="4286250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12%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72185" y="4705350"/>
            <a:ext cx="133346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Other Systems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48523" y="4686300"/>
            <a:ext cx="1523961" cy="285750"/>
          </a:xfrm>
          <a:prstGeom prst="roundRect">
            <a:avLst>
              <a:gd name="adj" fmla="val 100000"/>
            </a:avLst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048523" y="4686300"/>
            <a:ext cx="533386" cy="285750"/>
          </a:xfrm>
          <a:prstGeom prst="roundRect">
            <a:avLst>
              <a:gd name="adj" fmla="val 10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15357" y="4705350"/>
            <a:ext cx="57148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10%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95967" y="5448300"/>
            <a:ext cx="4228994" cy="2800350"/>
          </a:xfrm>
          <a:prstGeom prst="roundRect">
            <a:avLst>
              <a:gd name="adj" fmla="val 544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 Same Side Corner Rectangle 58"/>
          <p:cNvSpPr/>
          <p:nvPr/>
        </p:nvSpPr>
        <p:spPr>
          <a:xfrm rot="16200000">
            <a:off x="5961832" y="6782435"/>
            <a:ext cx="2800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72185" y="5686425"/>
            <a:ext cx="37146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Cross-Team Challenges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7572185" y="5756827"/>
            <a:ext cx="266693" cy="144945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7572185" y="6156007"/>
            <a:ext cx="228594" cy="16573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7943651" y="6124574"/>
            <a:ext cx="334319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Integration complexity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domains 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943651" y="6115050"/>
            <a:ext cx="197162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572185" y="6817994"/>
            <a:ext cx="228594" cy="19430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7943651" y="6800850"/>
            <a:ext cx="334319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Communication barriers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specialized teams 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43651" y="6791325"/>
            <a:ext cx="210497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7572185" y="7502842"/>
            <a:ext cx="228594" cy="177164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7943651" y="7477124"/>
            <a:ext cx="334319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Evolving requirements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vehicle systems 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7943651" y="7467599"/>
            <a:ext cx="196210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0" y="8534399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6733" y="8677274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77098" y="8677274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Introduction to Ubiquitous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What is Ubiquitous Language?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85496"/>
            <a:ext cx="304792" cy="2579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4248150"/>
          </a:xfrm>
          <a:prstGeom prst="roundRect">
            <a:avLst>
              <a:gd name="adj" fmla="val 358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391302" y="3924934"/>
            <a:ext cx="42481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Shared Vocabulary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6032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Common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domain experts and developers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90495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2365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3219449"/>
            <a:ext cx="320984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 meanings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domain concepts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3209925"/>
            <a:ext cx="154301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646170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629025"/>
            <a:ext cx="40861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usage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code and documentation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619499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4055745"/>
            <a:ext cx="228594" cy="1943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314417" y="4038599"/>
            <a:ext cx="26764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Evolution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collaboration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4417" y="4029075"/>
            <a:ext cx="90485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Why It Matters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38719" y="1185496"/>
            <a:ext cx="304792" cy="257907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238719" y="1866899"/>
            <a:ext cx="5286242" cy="2543175"/>
          </a:xfrm>
          <a:prstGeom prst="roundRect">
            <a:avLst>
              <a:gd name="adj" fmla="val 599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033172" y="3072446"/>
            <a:ext cx="2543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Benefits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143539"/>
            <a:ext cx="266693" cy="208721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2543175"/>
            <a:ext cx="29717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Reduces ambiguity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requirements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2533649"/>
            <a:ext cx="166683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29698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86402" y="2952750"/>
            <a:ext cx="32669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Improves collaboration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teams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6402" y="2943225"/>
            <a:ext cx="20097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3379470"/>
            <a:ext cx="228594" cy="194309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86402" y="3362324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Creates alignment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business and technical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86402" y="3352800"/>
            <a:ext cx="160015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3789045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886402" y="3771900"/>
            <a:ext cx="36194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Simplifies maintenance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of complex systems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86402" y="3762374"/>
            <a:ext cx="203829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38719" y="4648200"/>
            <a:ext cx="5286242" cy="1476375"/>
          </a:xfrm>
          <a:prstGeom prst="roundRect">
            <a:avLst>
              <a:gd name="adj" fmla="val 10322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24581" y="4876800"/>
            <a:ext cx="230499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In Automotive Software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14937" y="5314950"/>
            <a:ext cx="1552536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4937" y="5314950"/>
            <a:ext cx="1552536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Powertrain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705432" y="5452782"/>
            <a:ext cx="190495" cy="162485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8219869" y="5314950"/>
            <a:ext cx="1723981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19869" y="5314950"/>
            <a:ext cx="172398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Infotainment 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10364" y="5444377"/>
            <a:ext cx="190495" cy="179294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10077198" y="5314950"/>
            <a:ext cx="1162020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77198" y="5314950"/>
            <a:ext cx="116202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Safety 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267693" y="5444377"/>
            <a:ext cx="190495" cy="17929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Learning Goals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333866" cy="1438274"/>
          </a:xfrm>
          <a:prstGeom prst="roundRect">
            <a:avLst>
              <a:gd name="adj" fmla="val 1059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13636" y="1796097"/>
            <a:ext cx="1438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5327" y="13335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327" y="13335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9189" y="1371600"/>
            <a:ext cx="203829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 Connections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87138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00119" y="1857375"/>
            <a:ext cx="46099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software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and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2260" y="1847849"/>
            <a:ext cx="82865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7113" y="1847849"/>
            <a:ext cx="82865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00119" y="2114550"/>
            <a:ext cx="71435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1095" y="1143000"/>
            <a:ext cx="5333866" cy="1438274"/>
          </a:xfrm>
          <a:prstGeom prst="roundRect">
            <a:avLst>
              <a:gd name="adj" fmla="val 1059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537998" y="1796097"/>
            <a:ext cx="1438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9689" y="13335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689" y="13335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3551" y="1371600"/>
            <a:ext cx="208592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19689" y="187138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24481" y="1857375"/>
            <a:ext cx="46099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Understand role of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domain modeling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919" y="1847849"/>
            <a:ext cx="179065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66733" y="2819399"/>
            <a:ext cx="5333866" cy="1438274"/>
          </a:xfrm>
          <a:prstGeom prst="roundRect">
            <a:avLst>
              <a:gd name="adj" fmla="val 1059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13636" y="3472496"/>
            <a:ext cx="1438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5327" y="30099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5327" y="30099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1-3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9189" y="3047999"/>
            <a:ext cx="199067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Building Blocks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547782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00119" y="3533774"/>
            <a:ext cx="46099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Explain DDD building blocks (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Entities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Value Objects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Aggregates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14637" y="3524250"/>
            <a:ext cx="74293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43291" y="3524250"/>
            <a:ext cx="121916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200119" y="3790949"/>
            <a:ext cx="101914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1095" y="2819399"/>
            <a:ext cx="5333866" cy="1438274"/>
          </a:xfrm>
          <a:prstGeom prst="roundRect">
            <a:avLst>
              <a:gd name="adj" fmla="val 1059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537998" y="3472496"/>
            <a:ext cx="1438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19689" y="30099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689" y="3009900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1-4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3551" y="3047999"/>
            <a:ext cx="181922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Block Connections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19689" y="3536576"/>
            <a:ext cx="190495" cy="18489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24481" y="3533774"/>
            <a:ext cx="35717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Explain connections between building blocks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Key Concepts of Ubiquitous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28914" cy="3809999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172226" y="2981959"/>
            <a:ext cx="3809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7723" y="1506192"/>
            <a:ext cx="266693" cy="2261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62060" y="1466849"/>
            <a:ext cx="170493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Bounded Context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014257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7743" y="2000250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Explicit boundary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where a specific domain model applies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47743" y="1990724"/>
            <a:ext cx="155253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690532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47743" y="2676524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Linguistic boundary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consistent terminology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47743" y="2667000"/>
            <a:ext cx="174303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36680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47743" y="3352800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Team alignment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domain ownership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47743" y="3343275"/>
            <a:ext cx="143823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1390" y="1143000"/>
            <a:ext cx="3428914" cy="3809999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542431" y="2981959"/>
            <a:ext cx="3809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57608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62380" y="1506192"/>
            <a:ext cx="266693" cy="2261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276718" y="1466849"/>
            <a:ext cx="184780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Shared Vocabulary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57608" y="20142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62400" y="2000250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Common terms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used by all stakeholders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62400" y="1990724"/>
            <a:ext cx="137156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57608" y="269053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62400" y="2676524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 meanings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domain concepts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62400" y="2667000"/>
            <a:ext cx="154301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57608" y="336680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962400" y="3352800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usage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code and documentation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62400" y="3343275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96047" y="1143000"/>
            <a:ext cx="3428914" cy="3809999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257088" y="2981959"/>
            <a:ext cx="3809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72265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8" y="1494596"/>
            <a:ext cx="266693" cy="24930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91375" y="1466849"/>
            <a:ext cx="1943051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Language Evolution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72265" y="2014257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677058" y="2000250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Iterative refinement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collaboration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77058" y="1990724"/>
            <a:ext cx="17525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72265" y="2690532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677058" y="2676524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Living documentation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that evolves with understanding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77058" y="2667000"/>
            <a:ext cx="190495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72265" y="3366807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677058" y="3352800"/>
            <a:ext cx="26097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Versioned glossary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terminology management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77058" y="3343275"/>
            <a:ext cx="164778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6733" y="5095874"/>
            <a:ext cx="10858228" cy="1019174"/>
          </a:xfrm>
          <a:prstGeom prst="roundRect">
            <a:avLst>
              <a:gd name="adj" fmla="val 14953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604" y="5238749"/>
            <a:ext cx="10572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Example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5292090"/>
            <a:ext cx="228594" cy="16002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809604" y="5600700"/>
            <a:ext cx="1352516" cy="371475"/>
          </a:xfrm>
          <a:prstGeom prst="roundRect">
            <a:avLst>
              <a:gd name="adj" fmla="val 1025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9604" y="5600700"/>
            <a:ext cx="1352516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52476" y="5707011"/>
            <a:ext cx="171445" cy="149327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2257368" y="5600700"/>
            <a:ext cx="1495387" cy="371475"/>
          </a:xfrm>
          <a:prstGeom prst="roundRect">
            <a:avLst>
              <a:gd name="adj" fmla="val 1025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257368" y="5600700"/>
            <a:ext cx="1495387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2400239" y="5701480"/>
            <a:ext cx="171445" cy="160388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3848003" y="5600700"/>
            <a:ext cx="1000099" cy="371475"/>
          </a:xfrm>
          <a:prstGeom prst="roundRect">
            <a:avLst>
              <a:gd name="adj" fmla="val 1025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8003" y="5600700"/>
            <a:ext cx="100009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Safety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3990875" y="5701480"/>
            <a:ext cx="171445" cy="160388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4943351" y="5600700"/>
            <a:ext cx="1466813" cy="371475"/>
          </a:xfrm>
          <a:prstGeom prst="roundRect">
            <a:avLst>
              <a:gd name="adj" fmla="val 10256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43351" y="5600700"/>
            <a:ext cx="1466813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Connectivity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086222" y="5720837"/>
            <a:ext cx="171445" cy="121674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Creating and Evolving Ubiquitous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Evolution Process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70842"/>
            <a:ext cx="304792" cy="2872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5753099"/>
          </a:xfrm>
          <a:prstGeom prst="roundRect">
            <a:avLst>
              <a:gd name="adj" fmla="val 28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2143776" y="4677408"/>
            <a:ext cx="5753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Iterative Refinement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23246"/>
            <a:ext cx="266693" cy="24930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42951" y="25431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2951" y="2543175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565" y="2543175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Gather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565" y="2886075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Interview domain experts, collect existing terminology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2951" y="329565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2951" y="3295650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565" y="3295650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Refine Meanings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565" y="3638550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Discuss with stakeholders, resolve ambiguities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2951" y="40481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951" y="4048124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565" y="4048124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565" y="4391025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Apply refined language to domain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951" y="480060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951" y="4800600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565" y="4800600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Apply Consistently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565" y="5143500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 in code, documentation, and discussions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Best Practices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38719" y="1173773"/>
            <a:ext cx="304792" cy="281353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238719" y="1866899"/>
            <a:ext cx="5286242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4814097" y="3291521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Language Development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2143539"/>
            <a:ext cx="266693" cy="208721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514937" y="254317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4937" y="2543175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3551" y="2543175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Collaborative Creation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Involve all stakeholders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3551" y="2533649"/>
            <a:ext cx="195257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514937" y="297180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4937" y="2971800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3551" y="2971800"/>
            <a:ext cx="434329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Document Glossary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Centralized terminology reference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3551" y="2962274"/>
            <a:ext cx="170493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514937" y="364807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4937" y="3648074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3551" y="3648074"/>
            <a:ext cx="434329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Usage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Enforce in code and documentation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43551" y="3638550"/>
            <a:ext cx="151443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514937" y="4324349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4937" y="4324349"/>
            <a:ext cx="2857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3551" y="4324349"/>
            <a:ext cx="43432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Regular Refinement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Schedule periodic reviews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43551" y="4314825"/>
            <a:ext cx="173350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38719" y="5086350"/>
            <a:ext cx="5286242" cy="2533649"/>
          </a:xfrm>
          <a:prstGeom prst="roundRect">
            <a:avLst>
              <a:gd name="adj" fmla="val 6015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24561" y="5324474"/>
            <a:ext cx="271455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Automotive Success Factors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10284" y="5810249"/>
            <a:ext cx="2543111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10284" y="5810249"/>
            <a:ext cx="2543111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Cross-Team Workshops 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00779" y="5966572"/>
            <a:ext cx="190495" cy="106455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7657908" y="6381749"/>
            <a:ext cx="2457388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57908" y="6381749"/>
            <a:ext cx="2457388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Living Documentation </a:t>
            </a:r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48403" y="6510057"/>
            <a:ext cx="190495" cy="162485"/>
          </a:xfrm>
          <a:prstGeom prst="rect">
            <a:avLst/>
          </a:prstGeom>
        </p:spPr>
      </p:pic>
      <p:sp>
        <p:nvSpPr>
          <p:cNvPr id="56" name="Rounded Rectangle 55"/>
          <p:cNvSpPr/>
          <p:nvPr/>
        </p:nvSpPr>
        <p:spPr>
          <a:xfrm>
            <a:off x="6505412" y="6953249"/>
            <a:ext cx="2447863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05412" y="6953249"/>
            <a:ext cx="2447863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Code-First Vocabulary </a:t>
            </a:r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95907" y="7109572"/>
            <a:ext cx="190495" cy="106455"/>
          </a:xfrm>
          <a:prstGeom prst="rect">
            <a:avLst/>
          </a:prstGeom>
        </p:spPr>
      </p:pic>
      <p:sp>
        <p:nvSpPr>
          <p:cNvPr id="59" name="Rounded Rectangle 58"/>
          <p:cNvSpPr/>
          <p:nvPr/>
        </p:nvSpPr>
        <p:spPr>
          <a:xfrm>
            <a:off x="9096147" y="6953249"/>
            <a:ext cx="2162120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6147" y="6953249"/>
            <a:ext cx="2162120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Iterative Evolution 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286642" y="7073152"/>
            <a:ext cx="190495" cy="179294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0" y="7905749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6733" y="8048624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77098" y="8048624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Analogies for Ubiquitous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57488" cy="3600450"/>
          </a:xfrm>
          <a:prstGeom prst="roundRect">
            <a:avLst>
              <a:gd name="adj" fmla="val 44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067452" y="2877185"/>
            <a:ext cx="3600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6298" y="1537921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57308" y="1495424"/>
            <a:ext cx="150491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Medical Field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60270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17" y="2143125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body parts, symptoms, treatments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14417" y="2133599"/>
            <a:ext cx="17525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8365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14417" y="2819399"/>
            <a:ext cx="2571685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Universal understanding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doctors, nurses, technicians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14417" y="2809875"/>
            <a:ext cx="212402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779519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14417" y="3762374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Reduced errors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from miscommunication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14417" y="3752849"/>
            <a:ext cx="135251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62340" y="1143000"/>
            <a:ext cx="3457488" cy="3600450"/>
          </a:xfrm>
          <a:prstGeom prst="roundRect">
            <a:avLst>
              <a:gd name="adj" fmla="val 44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2628155" y="2877185"/>
            <a:ext cx="3600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8559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71905" y="1530594"/>
            <a:ext cx="304792" cy="2725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52916" y="1495424"/>
            <a:ext cx="122869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Legal Field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38559" y="2160270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10024" y="2143125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Specific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contracts, clauses, precedents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10024" y="2133599"/>
            <a:ext cx="155253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38559" y="2836545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10024" y="2819399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Shared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legal teams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10024" y="2809875"/>
            <a:ext cx="164778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38559" y="3512820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10024" y="3495675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Clear documentation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precise terms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10024" y="3486150"/>
            <a:ext cx="183827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67473" y="1143000"/>
            <a:ext cx="3457488" cy="3600450"/>
          </a:xfrm>
          <a:prstGeom prst="roundRect">
            <a:avLst>
              <a:gd name="adj" fmla="val 44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6333288" y="2877185"/>
            <a:ext cx="36004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43691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8" y="1558436"/>
            <a:ext cx="304792" cy="2168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58048" y="1495424"/>
            <a:ext cx="216212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Scientific Research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43691" y="2160270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15157" y="2143125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Standardized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methods, results, conclusions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15157" y="2133599"/>
            <a:ext cx="224784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43691" y="2836545"/>
            <a:ext cx="228594" cy="19430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715157" y="2819399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Peer review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common language 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15157" y="2809875"/>
            <a:ext cx="107629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43691" y="3512820"/>
            <a:ext cx="228594" cy="19430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15157" y="3495675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Knowledge transfer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precise communication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15157" y="3486150"/>
            <a:ext cx="171445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66733" y="4933950"/>
            <a:ext cx="10858228" cy="1181099"/>
          </a:xfrm>
          <a:prstGeom prst="roundRect">
            <a:avLst>
              <a:gd name="adj" fmla="val 12903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604" y="5076825"/>
            <a:ext cx="105724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Connection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5113019"/>
            <a:ext cx="228594" cy="19430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09604" y="5438774"/>
            <a:ext cx="105724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Just as specialized fields develop precise terminology,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creates shared understanding between domain experts and developers in software 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33846" y="5429250"/>
            <a:ext cx="179065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Automotive Examples of Ubiquitous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3457488" cy="4972050"/>
          </a:xfrm>
          <a:prstGeom prst="roundRect">
            <a:avLst>
              <a:gd name="adj" fmla="val 44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753252" y="3562985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76298" y="1537921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57308" y="1495424"/>
            <a:ext cx="1276318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Powertrain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85987"/>
            <a:ext cx="228594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17" y="2143125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Torque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17" y="2457450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Rotational force, not "power" or "strength"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176587"/>
            <a:ext cx="228594" cy="142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14417" y="3133724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GearRatio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4417" y="3448049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 ratio, not "gear setting"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900487"/>
            <a:ext cx="228594" cy="1428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14417" y="3857625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ThrottlePosition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4417" y="4171950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Position value, not "acceleration"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2340" y="1143000"/>
            <a:ext cx="3457488" cy="4972050"/>
          </a:xfrm>
          <a:prstGeom prst="roundRect">
            <a:avLst>
              <a:gd name="adj" fmla="val 44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1942355" y="3562985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38559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71905" y="1523267"/>
            <a:ext cx="304792" cy="2872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52916" y="1495424"/>
            <a:ext cx="150491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38559" y="2185987"/>
            <a:ext cx="228594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10024" y="2143125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MediaSource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024" y="2457450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Source type, not "player" or "format"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38559" y="3176587"/>
            <a:ext cx="228594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10024" y="3133724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Playlist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024" y="3448049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Ordered collection, not "song list"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38559" y="4167187"/>
            <a:ext cx="228594" cy="142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010024" y="4124324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NavigationRoute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0024" y="4438649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Complete path, not "directions" or "map"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7473" y="1143000"/>
            <a:ext cx="3457488" cy="4972050"/>
          </a:xfrm>
          <a:prstGeom prst="roundRect">
            <a:avLst>
              <a:gd name="adj" fmla="val 440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647488" y="3562985"/>
            <a:ext cx="4972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43691" y="1381124"/>
            <a:ext cx="571485" cy="571500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8" y="1523267"/>
            <a:ext cx="304792" cy="28721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58048" y="1495424"/>
            <a:ext cx="1733506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Safety Systems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43691" y="2185987"/>
            <a:ext cx="228594" cy="14287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15157" y="2143125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SafetyZone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15157" y="2457450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Defined area, not "safe space"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43691" y="2909887"/>
            <a:ext cx="228594" cy="14287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715157" y="2867025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AlertLevel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15157" y="3181350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Severity level, not "warning" or "alarm"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43691" y="3900487"/>
            <a:ext cx="228594" cy="14287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15157" y="3857625"/>
            <a:ext cx="257168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CollisionEvent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15157" y="4171950"/>
            <a:ext cx="257168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Specific occurrence, not "crash" or "impact"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733" y="654367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77098" y="654367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Case Study: Mercedes-Benz MBUX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MBUX Approach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70842"/>
            <a:ext cx="304792" cy="2872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7067549"/>
          </a:xfrm>
          <a:prstGeom prst="roundRect">
            <a:avLst>
              <a:gd name="adj" fmla="val 28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2801001" y="5334633"/>
            <a:ext cx="70675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Consistent Language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60320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33527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Unified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all interfaces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75255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9698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32384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User-centric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all features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20573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3379470"/>
            <a:ext cx="228594" cy="19430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42480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Shared understanding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UX and engineering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93352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Implementation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238719" y="1197219"/>
            <a:ext cx="304792" cy="23446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38719" y="1866899"/>
            <a:ext cx="5286242" cy="2266950"/>
          </a:xfrm>
          <a:prstGeom prst="roundRect">
            <a:avLst>
              <a:gd name="adj" fmla="val 672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171284" y="2934334"/>
            <a:ext cx="2266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Elements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133392"/>
            <a:ext cx="266693" cy="229014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86402" y="2543175"/>
            <a:ext cx="38194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UserInterfaceSession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Tracks interaction state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86402" y="2533649"/>
            <a:ext cx="183827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2981325"/>
            <a:ext cx="228594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2952750"/>
            <a:ext cx="37527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MediaMetadata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Coordinates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Value objects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2943225"/>
            <a:ext cx="137156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43691" y="2943225"/>
            <a:ext cx="110487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3365182"/>
            <a:ext cx="228594" cy="2228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86402" y="3362324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InfotainmentAggregate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Manages connected features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86402" y="3352800"/>
            <a:ext cx="20097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38719" y="4371975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304634" y="5306060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4937" y="4610099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Integration Benefits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4647992"/>
            <a:ext cx="266693" cy="229014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5065395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86402" y="5048250"/>
            <a:ext cx="35146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Clear boundaries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systems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86402" y="5038724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5474969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86402" y="5457825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vehicle functions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86402" y="5448300"/>
            <a:ext cx="20287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5884544"/>
            <a:ext cx="228594" cy="19430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886402" y="5867399"/>
            <a:ext cx="39146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Simplified maintenance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clear concepts 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86402" y="5857875"/>
            <a:ext cx="20573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38719" y="6610349"/>
            <a:ext cx="5286242" cy="2324100"/>
          </a:xfrm>
          <a:prstGeom prst="roundRect">
            <a:avLst>
              <a:gd name="adj" fmla="val 6557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686582" y="6949678"/>
            <a:ext cx="380990" cy="178593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476838" y="7372350"/>
            <a:ext cx="4810004" cy="9620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145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"MBUX demonstrates how a consistent, user-centric language creates a unified experience across complex vehicle systems."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00799" y="8477249"/>
            <a:ext cx="177160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- Automotive UX Analysis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9220199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6733" y="9363074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7098" y="9363074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Reverse Engineering: Audi MMI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MMI System Analysis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93342" y="1162050"/>
            <a:ext cx="251574" cy="304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5591175"/>
          </a:xfrm>
          <a:prstGeom prst="roundRect">
            <a:avLst>
              <a:gd name="adj" fmla="val 28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2062814" y="4596446"/>
            <a:ext cx="55911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Language Consistency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68892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14417" y="2543175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 Control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Consistent terminology across audio sources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4417" y="2533649"/>
            <a:ext cx="125726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324516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3219449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Navigation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Standardized route and destination terms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3209925"/>
            <a:ext cx="100009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3921442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895724"/>
            <a:ext cx="42480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Connectivity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Unified phone integration vocabulary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886200"/>
            <a:ext cx="115249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Implementation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38719" y="1197219"/>
            <a:ext cx="304792" cy="23446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38719" y="1866899"/>
            <a:ext cx="5286242" cy="2266950"/>
          </a:xfrm>
          <a:prstGeom prst="roundRect">
            <a:avLst>
              <a:gd name="adj" fmla="val 672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171284" y="2934334"/>
            <a:ext cx="22669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Model Elements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2133392"/>
            <a:ext cx="266693" cy="229014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86402" y="2543175"/>
            <a:ext cx="38194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UserInterfaceSession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Tracks interaction state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86402" y="2533649"/>
            <a:ext cx="183827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2981325"/>
            <a:ext cx="228594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2952750"/>
            <a:ext cx="37527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MediaMetadata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,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Coordinates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Value objects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2943225"/>
            <a:ext cx="137156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343691" y="2943225"/>
            <a:ext cx="110487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14937" y="3365182"/>
            <a:ext cx="228594" cy="22288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86402" y="3362324"/>
            <a:ext cx="4400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InfotainmentAggregate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- Manages connected features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86402" y="3352800"/>
            <a:ext cx="200972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38719" y="4371975"/>
            <a:ext cx="5286242" cy="1590675"/>
          </a:xfrm>
          <a:prstGeom prst="roundRect">
            <a:avLst>
              <a:gd name="adj" fmla="val 958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509422" y="5101272"/>
            <a:ext cx="15906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4937" y="4610099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Integration Patterns 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514937" y="4647992"/>
            <a:ext cx="266693" cy="229014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514937" y="5091112"/>
            <a:ext cx="228594" cy="14287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886402" y="5048250"/>
            <a:ext cx="36860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different MMI modules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86402" y="5038724"/>
            <a:ext cx="160968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514937" y="5474969"/>
            <a:ext cx="228594" cy="19430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86402" y="5457825"/>
            <a:ext cx="37622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MMI interfaces 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86402" y="5448300"/>
            <a:ext cx="20287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38719" y="6200775"/>
            <a:ext cx="5286242" cy="1257300"/>
          </a:xfrm>
          <a:prstGeom prst="roundRect">
            <a:avLst>
              <a:gd name="adj" fmla="val 12121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6429214" y="6684579"/>
            <a:ext cx="342891" cy="28969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14977" y="6391275"/>
            <a:ext cx="4419489" cy="876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Audi's MMI demonstrates clear separation of concerns with consistent terminology across infotainment, navigation, and vehicle controls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774382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6733" y="788670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7098" y="788670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Brainstorming Puzzles: Creating Ubiquitous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2600325"/>
          </a:xfrm>
          <a:prstGeom prst="roundRect">
            <a:avLst>
              <a:gd name="adj" fmla="val 586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567389" y="2377122"/>
            <a:ext cx="2600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2951" y="1381124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437" y="1381124"/>
            <a:ext cx="97724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 Charging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4437" y="1819275"/>
            <a:ext cx="9772405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 system with multiple teams working on charging, payment, and battery management. Each team uses different terms for "charging session."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14437" y="2495550"/>
            <a:ext cx="9772405" cy="1009649"/>
          </a:xfrm>
          <a:prstGeom prst="roundRect">
            <a:avLst>
              <a:gd name="adj" fmla="val 1509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57308" y="2638425"/>
            <a:ext cx="94866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Create Ubiquitous Language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57308" y="2673667"/>
            <a:ext cx="228594" cy="1771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657308" y="2971800"/>
            <a:ext cx="1914477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57308" y="2971800"/>
            <a:ext cx="1914477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ChargingSession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800179" y="3081057"/>
            <a:ext cx="190495" cy="16248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67033" y="2971800"/>
            <a:ext cx="2238319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7033" y="2971800"/>
            <a:ext cx="223831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PaymentTransaction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809904" y="3092263"/>
            <a:ext cx="190495" cy="140073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010124" y="2971800"/>
            <a:ext cx="1581110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10124" y="2971800"/>
            <a:ext cx="1581110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BatteryState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152996" y="3081057"/>
            <a:ext cx="190495" cy="16248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66733" y="3981449"/>
            <a:ext cx="10858228" cy="2333624"/>
          </a:xfrm>
          <a:prstGeom prst="roundRect">
            <a:avLst>
              <a:gd name="adj" fmla="val 65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-434039" y="5082221"/>
            <a:ext cx="2333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2951" y="421957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951" y="421957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14437" y="4219575"/>
            <a:ext cx="97724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Vehicle Safety Features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4437" y="4657725"/>
            <a:ext cx="97724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Safety engineers use "brake assist" while UX designers use "emergency stop" for the same feature.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14437" y="5067299"/>
            <a:ext cx="9772405" cy="1009649"/>
          </a:xfrm>
          <a:prstGeom prst="roundRect">
            <a:avLst>
              <a:gd name="adj" fmla="val 1509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57308" y="5210174"/>
            <a:ext cx="94866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Resolve Terminology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57308" y="5245417"/>
            <a:ext cx="228594" cy="177164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1657308" y="5543550"/>
            <a:ext cx="2943151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57308" y="5543550"/>
            <a:ext cx="2943151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AutomaticEmergencyBraking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800179" y="5644402"/>
            <a:ext cx="190495" cy="179294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4695707" y="5543550"/>
            <a:ext cx="2104972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95707" y="5543550"/>
            <a:ext cx="2104972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CollisionAvoidance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838579" y="5655608"/>
            <a:ext cx="190495" cy="156882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895927" y="5543550"/>
            <a:ext cx="2143071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95927" y="5543550"/>
            <a:ext cx="2143071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ProximityDetection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038799" y="5672417"/>
            <a:ext cx="190495" cy="12326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66733" y="6553199"/>
            <a:ext cx="10858228" cy="2333624"/>
          </a:xfrm>
          <a:prstGeom prst="roundRect">
            <a:avLst>
              <a:gd name="adj" fmla="val 6530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-434039" y="7653971"/>
            <a:ext cx="23336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2951" y="6791325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2951" y="6791325"/>
            <a:ext cx="38099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14437" y="6791325"/>
            <a:ext cx="97724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Infotainment Controls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14437" y="7229475"/>
            <a:ext cx="97724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Users interact with media, navigation, and climate control through different interfaces with inconsistent terminology.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14437" y="7639049"/>
            <a:ext cx="9772405" cy="1009649"/>
          </a:xfrm>
          <a:prstGeom prst="roundRect">
            <a:avLst>
              <a:gd name="adj" fmla="val 15094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57308" y="7781924"/>
            <a:ext cx="948666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Unify Interface Language 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57308" y="7817167"/>
            <a:ext cx="228594" cy="177164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657308" y="8115300"/>
            <a:ext cx="1828754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57308" y="8115300"/>
            <a:ext cx="1828754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UserInteraction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816441" y="8210549"/>
            <a:ext cx="157971" cy="19049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3581310" y="8115300"/>
            <a:ext cx="1619209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81310" y="8115300"/>
            <a:ext cx="1619209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ControlMode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3724181" y="8224557"/>
            <a:ext cx="190495" cy="162485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5295767" y="8115300"/>
            <a:ext cx="1571585" cy="390525"/>
          </a:xfrm>
          <a:prstGeom prst="roundRect">
            <a:avLst>
              <a:gd name="adj" fmla="val 9756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95767" y="8115300"/>
            <a:ext cx="1571585" cy="3905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SystemState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438639" y="8224557"/>
            <a:ext cx="190495" cy="162485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0" y="917257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6733" y="931545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77098" y="931545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Scenarios and Solutions: When Terminology Conflicts Arise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10858228" cy="3981449"/>
          </a:xfrm>
          <a:prstGeom prst="roundRect">
            <a:avLst>
              <a:gd name="adj" fmla="val 382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1257951" y="3067684"/>
            <a:ext cx="39814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4832" y="1143000"/>
            <a:ext cx="666733" cy="3981449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66753" y="3042087"/>
            <a:ext cx="342891" cy="1832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9684" y="1333500"/>
            <a:ext cx="2647883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Cross-Team Conflicts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684" y="1724024"/>
            <a:ext cx="2647883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Different teams using inconsistent terminology for same concepts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083" y="1333500"/>
            <a:ext cx="40384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Solution Approach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48083" y="1369695"/>
            <a:ext cx="228594" cy="194309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48083" y="17094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52876" y="1695449"/>
            <a:ext cx="32384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Glossary creation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clear definitions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2876" y="1685925"/>
            <a:ext cx="153348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648083" y="19761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952876" y="1962149"/>
            <a:ext cx="36479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Regular alignment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meetings between teams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2876" y="1952624"/>
            <a:ext cx="1619209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86582" y="134750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991375" y="1333500"/>
            <a:ext cx="229546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different domains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1375" y="1323974"/>
            <a:ext cx="158111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0" y="5410199"/>
            <a:ext cx="12191695" cy="1447800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-657860" y="6068059"/>
            <a:ext cx="1447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099" y="5410199"/>
            <a:ext cx="666733" cy="144780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200019" y="6001078"/>
            <a:ext cx="342891" cy="26604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42951" y="5600700"/>
            <a:ext cx="291457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Evolving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51" y="5991225"/>
            <a:ext cx="2914577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Business terminology changing during development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48043" y="5600700"/>
            <a:ext cx="44290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Solution Approach 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248043" y="5636895"/>
            <a:ext cx="228594" cy="194309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248043" y="59766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52836" y="5962650"/>
            <a:ext cx="33431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Versioned glossary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change tracking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2836" y="5953124"/>
            <a:ext cx="164778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248043" y="624335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52836" y="6229350"/>
            <a:ext cx="40670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Living documentation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that evolves with language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52836" y="6219825"/>
            <a:ext cx="190495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667533" y="561470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72325" y="5600700"/>
            <a:ext cx="2981250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 expert workshops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for terminology refinement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2325" y="5591175"/>
            <a:ext cx="225736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0" y="6858000"/>
            <a:ext cx="12048823" cy="1809749"/>
          </a:xfrm>
          <a:prstGeom prst="roundRect">
            <a:avLst>
              <a:gd name="adj" fmla="val 842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-838834" y="7696834"/>
            <a:ext cx="1809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099" y="6858000"/>
            <a:ext cx="666733" cy="1809749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00019" y="7618029"/>
            <a:ext cx="342891" cy="28969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42951" y="7048500"/>
            <a:ext cx="2876478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Technical vs. Business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951" y="7439024"/>
            <a:ext cx="2876478" cy="8001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975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Developers using technical terms that business users don't understand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9944" y="7048500"/>
            <a:ext cx="43718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Solution Approach 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209944" y="7084694"/>
            <a:ext cx="228594" cy="194309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209944" y="7424457"/>
            <a:ext cx="190495" cy="16248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514737" y="7410449"/>
            <a:ext cx="406707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Translation layer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technical and business terms 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14737" y="7400925"/>
            <a:ext cx="148586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209944" y="7957857"/>
            <a:ext cx="190495" cy="16248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514737" y="7943850"/>
            <a:ext cx="406707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User-facing documentation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with business terminology 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14737" y="7934324"/>
            <a:ext cx="234309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72285" y="7062507"/>
            <a:ext cx="190495" cy="162485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877078" y="7048500"/>
            <a:ext cx="2933626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Code comments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mapping technical to business terms 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877078" y="7038974"/>
            <a:ext cx="142871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8667750"/>
            <a:ext cx="12048823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6733" y="881062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34226" y="881062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Self-Study Resources for Ubiquitous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6733" y="114300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-757889" y="256762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2951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7723" y="1519237"/>
            <a:ext cx="266693" cy="2000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62060" y="1466849"/>
            <a:ext cx="609584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Books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059080"/>
            <a:ext cx="190495" cy="1680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7743" y="20478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Domain-Driven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43" y="23241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Eric Evans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chapter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95447" y="2314575"/>
            <a:ext cx="1676358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716305"/>
            <a:ext cx="190495" cy="1680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47743" y="270509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Implementing DDD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47743" y="298132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Vaughn Vernon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47863" y="2971800"/>
            <a:ext cx="1457288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373530"/>
            <a:ext cx="190495" cy="1680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47743" y="3362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Distilled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7743" y="3638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Jimmy Nilsson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Strategic Design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language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9289" y="3629025"/>
            <a:ext cx="1304892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0144" y="114300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785522" y="256762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95887" y="1381124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91135" y="1514889"/>
            <a:ext cx="266693" cy="20872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05472" y="1466849"/>
            <a:ext cx="733406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Articles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2061882"/>
            <a:ext cx="190495" cy="16248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00679" y="20478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Ubiquitous Language in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679" y="23241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Alberto Brandolini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Practical examples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patterns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19869" y="2314575"/>
            <a:ext cx="1495387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271910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00679" y="270509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Strategic Domain-Driven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00679" y="298132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Eric Evans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Language patterns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context mapping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38859" y="2971800"/>
            <a:ext cx="1485862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95887" y="3376332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00679" y="3362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EventStorming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00679" y="3638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DDD-Crew -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Collaborative modeling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techniques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48383" y="3629025"/>
            <a:ext cx="1838279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66733" y="436245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-757889" y="578707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2951" y="4600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47723" y="4743035"/>
            <a:ext cx="266693" cy="19132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562060" y="4686300"/>
            <a:ext cx="169540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Online Resources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5281332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247743" y="5267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DDD Community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47743" y="5543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Forums, discussions, and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language examples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076498" y="5534025"/>
            <a:ext cx="1523961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5938557"/>
            <a:ext cx="190495" cy="1624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247743" y="5924549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Glossary Tools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47743" y="6200775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Software for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creating and managing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ubiquitous language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52596" y="6191250"/>
            <a:ext cx="1800179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42951" y="6595782"/>
            <a:ext cx="190495" cy="16248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247743" y="65817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Workshop Templates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47743" y="68580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Guides for </a:t>
            </a:r>
            <a:r>
              <a:rPr sz="107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language creation</a:t>
            </a: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workshops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009724" y="6848475"/>
            <a:ext cx="1438239" cy="257175"/>
          </a:xfrm>
          <a:prstGeom prst="roundRect">
            <a:avLst>
              <a:gd name="adj" fmla="val 29629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210144" y="4362450"/>
            <a:ext cx="5314817" cy="2981325"/>
          </a:xfrm>
          <a:prstGeom prst="roundRect">
            <a:avLst>
              <a:gd name="adj" fmla="val 5111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 Same Side Corner Rectangle 55"/>
          <p:cNvSpPr/>
          <p:nvPr/>
        </p:nvSpPr>
        <p:spPr>
          <a:xfrm rot="16200000">
            <a:off x="4785522" y="5787072"/>
            <a:ext cx="29813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495887" y="4600575"/>
            <a:ext cx="476238" cy="476249"/>
          </a:xfrm>
          <a:prstGeom prst="roundRect">
            <a:avLst>
              <a:gd name="adj" fmla="val 5000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91135" y="4719844"/>
            <a:ext cx="266693" cy="23771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105472" y="4686300"/>
            <a:ext cx="180017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Practical Exercises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95887" y="5286935"/>
            <a:ext cx="190495" cy="15127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800679" y="526732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Terminology Mapping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00679" y="554355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Map conflicting terms between teams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95887" y="6601385"/>
            <a:ext cx="190495" cy="15127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800679" y="6581774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Glossary Creation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00679" y="6858000"/>
            <a:ext cx="449568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Build shared vocabulary for a domain</a:t>
            </a:r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6733" y="7591985"/>
            <a:ext cx="190495" cy="15127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971525" y="7572375"/>
            <a:ext cx="318127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Language Evolution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1525" y="7848599"/>
            <a:ext cx="318127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Document changes to terminology over time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8372475"/>
            <a:ext cx="12048823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66733" y="851535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34226" y="851535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Connecting to Day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Day 2 Topics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1357"/>
            <a:ext cx="304792" cy="24618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4943475"/>
          </a:xfrm>
          <a:prstGeom prst="roundRect">
            <a:avLst>
              <a:gd name="adj" fmla="val 3082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738964" y="4272596"/>
            <a:ext cx="49434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Knowledge Crunching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75427"/>
            <a:ext cx="266693" cy="14494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42951" y="2564606"/>
            <a:ext cx="228594" cy="18573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314417" y="2533649"/>
            <a:ext cx="251453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4417" y="2533649"/>
            <a:ext cx="2514537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Working with domain experts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297846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14417" y="2952750"/>
            <a:ext cx="294315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Collaborative modeling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techniques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4417" y="2943225"/>
            <a:ext cx="20287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42951" y="3378041"/>
            <a:ext cx="228594" cy="19716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14417" y="3362324"/>
            <a:ext cx="33050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EventStorming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and Domain Storytelling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14417" y="3352800"/>
            <a:ext cx="133346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Self-Study Preparation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38719" y="1197219"/>
            <a:ext cx="304792" cy="23446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38719" y="1866899"/>
            <a:ext cx="5286242" cy="200025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304634" y="2800984"/>
            <a:ext cx="20002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4937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Concepts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14937" y="2147887"/>
            <a:ext cx="266693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14937" y="2560320"/>
            <a:ext cx="228594" cy="19430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6886402" y="2533649"/>
            <a:ext cx="2571685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6402" y="2533649"/>
            <a:ext cx="257168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 expert empowerment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14937" y="2969895"/>
            <a:ext cx="228594" cy="19430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86402" y="2952750"/>
            <a:ext cx="33241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Communication models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teams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86402" y="2943225"/>
            <a:ext cx="2066873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3388042"/>
            <a:ext cx="228594" cy="17716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86402" y="3362324"/>
            <a:ext cx="28098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Knowledge elicitation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techniques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86402" y="3352800"/>
            <a:ext cx="1895427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38719" y="4295774"/>
            <a:ext cx="5286242" cy="2514600"/>
          </a:xfrm>
          <a:prstGeom prst="roundRect">
            <a:avLst>
              <a:gd name="adj" fmla="val 6060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6838" y="4533900"/>
            <a:ext cx="48100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Preparation Activities 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476838" y="4568666"/>
            <a:ext cx="228594" cy="197167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476838" y="4943475"/>
            <a:ext cx="2333566" cy="962024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629234" y="5346606"/>
            <a:ext cx="190495" cy="165286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14977" y="5095874"/>
            <a:ext cx="1743031" cy="6572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Document existing terminology in your project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53276" y="4943475"/>
            <a:ext cx="2333566" cy="962024"/>
          </a:xfrm>
          <a:prstGeom prst="roundRect">
            <a:avLst>
              <a:gd name="adj" fmla="val 15841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105672" y="5376022"/>
            <a:ext cx="190495" cy="10645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391415" y="5200650"/>
            <a:ext cx="1743031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Identify conflicting terms between teams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76838" y="6048375"/>
            <a:ext cx="4810004" cy="523874"/>
          </a:xfrm>
          <a:prstGeom prst="roundRect">
            <a:avLst>
              <a:gd name="adj" fmla="val 29090"/>
            </a:avLst>
          </a:prstGeom>
          <a:solidFill>
            <a:srgbClr val="FFFFFF"/>
          </a:solidFill>
          <a:ln w="825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6629234" y="6229910"/>
            <a:ext cx="190495" cy="15127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914977" y="6200775"/>
            <a:ext cx="3171745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Practice collaborative modeling techniques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7096124"/>
            <a:ext cx="12048823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6733" y="7238999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34226" y="7238999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Summary of Ubiquitous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Takeaways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7219"/>
            <a:ext cx="304792" cy="2344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286242" cy="5133975"/>
          </a:xfrm>
          <a:prstGeom prst="roundRect">
            <a:avLst>
              <a:gd name="adj" fmla="val 2968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1834214" y="4367846"/>
            <a:ext cx="5133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771905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Shared Understanding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2951" y="2543175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418" y="2543175"/>
            <a:ext cx="3438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Common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bridges communication gaps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418" y="2533649"/>
            <a:ext cx="180970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2951" y="3219449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418" y="3219449"/>
            <a:ext cx="29717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 meanings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reduce ambiguity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76418" y="3209925"/>
            <a:ext cx="154301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951" y="3657600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418" y="3657600"/>
            <a:ext cx="3438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usage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in code and documentation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76418" y="3648074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8719" y="1143000"/>
            <a:ext cx="528624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Impact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38719" y="1197219"/>
            <a:ext cx="304792" cy="234461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38719" y="1866899"/>
            <a:ext cx="5286242" cy="2124075"/>
          </a:xfrm>
          <a:prstGeom prst="roundRect">
            <a:avLst>
              <a:gd name="adj" fmla="val 7174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5242722" y="2862896"/>
            <a:ext cx="21240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4937" y="2105024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8403" y="2105024"/>
            <a:ext cx="3438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Clear boundaries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systems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48403" y="2095499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4937" y="2781300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8403" y="2781300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interfaces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48403" y="2771775"/>
            <a:ext cx="20287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4937" y="3219449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8403" y="3219449"/>
            <a:ext cx="343843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Simplified maintenance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clear concepts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48403" y="3209925"/>
            <a:ext cx="20573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8719" y="4229100"/>
            <a:ext cx="5286242" cy="2771775"/>
          </a:xfrm>
          <a:prstGeom prst="roundRect">
            <a:avLst>
              <a:gd name="adj" fmla="val 5498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8819" y="4467224"/>
            <a:ext cx="3286042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Value for Volkswagen Projects 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238819" y="4505739"/>
            <a:ext cx="266693" cy="208721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295967" y="4905375"/>
            <a:ext cx="3162220" cy="523874"/>
          </a:xfrm>
          <a:prstGeom prst="roundRect">
            <a:avLst>
              <a:gd name="adj" fmla="val 7272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5967" y="4905375"/>
            <a:ext cx="3162220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Software Excellence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438839" y="5093913"/>
            <a:ext cx="190495" cy="137272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495887" y="5572125"/>
            <a:ext cx="2190695" cy="523874"/>
          </a:xfrm>
          <a:prstGeom prst="roundRect">
            <a:avLst>
              <a:gd name="adj" fmla="val 7272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5887" y="5572125"/>
            <a:ext cx="2190695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Faster Development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38759" y="5760663"/>
            <a:ext cx="190495" cy="137272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838979" y="5572125"/>
            <a:ext cx="2428814" cy="523874"/>
          </a:xfrm>
          <a:prstGeom prst="roundRect">
            <a:avLst>
              <a:gd name="adj" fmla="val 7272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38979" y="5572125"/>
            <a:ext cx="2428814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Better Decision Making 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981850" y="5748057"/>
            <a:ext cx="190495" cy="16248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7553136" y="6238874"/>
            <a:ext cx="2657408" cy="523874"/>
          </a:xfrm>
          <a:prstGeom prst="roundRect">
            <a:avLst>
              <a:gd name="adj" fmla="val 72727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53136" y="6238874"/>
            <a:ext cx="2657408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Cross-Team Collaboration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696007" y="6442822"/>
            <a:ext cx="190495" cy="106455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0" y="7286625"/>
            <a:ext cx="12191695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6733" y="7429500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77098" y="7429500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57250"/>
          </a:xfrm>
          <a:prstGeom prst="rect">
            <a:avLst/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6733" y="190499"/>
            <a:ext cx="1085822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Summary of Ubiquitous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6733" y="1143000"/>
            <a:ext cx="511479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Key Takeaways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197219"/>
            <a:ext cx="304792" cy="23446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6733" y="1866899"/>
            <a:ext cx="5114797" cy="2562224"/>
          </a:xfrm>
          <a:prstGeom prst="roundRect">
            <a:avLst>
              <a:gd name="adj" fmla="val 594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-548339" y="3081971"/>
            <a:ext cx="25622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2951" y="2105024"/>
            <a:ext cx="4600459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Shared Understanding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134842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42951" y="2543175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6418" y="2543175"/>
            <a:ext cx="326699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Common vocabulary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bridges communication gaps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76418" y="2533649"/>
            <a:ext cx="180970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2951" y="3219449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418" y="3219449"/>
            <a:ext cx="29717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Precise meanings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reduce ambiguity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76418" y="3209925"/>
            <a:ext cx="1543011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2951" y="3657600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418" y="3657600"/>
            <a:ext cx="3266993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usage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code and documentation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76418" y="3648074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67273" y="1143000"/>
            <a:ext cx="5457688" cy="3286125"/>
          </a:xfrm>
          <a:prstGeom prst="roundRect">
            <a:avLst>
              <a:gd name="adj" fmla="val 4637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4490251" y="2720022"/>
            <a:ext cx="3286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3491" y="1381124"/>
            <a:ext cx="4943351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Automotive Impact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43491" y="1419639"/>
            <a:ext cx="266693" cy="20872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43491" y="1819275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6958" y="1819275"/>
            <a:ext cx="35146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Clear boundaries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between vehicle systems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76958" y="1809749"/>
            <a:ext cx="1504912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3491" y="2257425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76958" y="2257425"/>
            <a:ext cx="33908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Consistent terminology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across interfaces 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76958" y="2247899"/>
            <a:ext cx="202877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3491" y="2695575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6958" y="2695575"/>
            <a:ext cx="360988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Simplified maintenance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through clear concepts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76958" y="2686050"/>
            <a:ext cx="2057348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0" y="4714875"/>
            <a:ext cx="6095847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Connection to DDD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0" y="4769094"/>
            <a:ext cx="304792" cy="234461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0" y="5438774"/>
            <a:ext cx="6095847" cy="2085975"/>
          </a:xfrm>
          <a:prstGeom prst="roundRect">
            <a:avLst>
              <a:gd name="adj" fmla="val 7305"/>
            </a:avLst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-976947" y="6415721"/>
            <a:ext cx="20859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6218" y="5676900"/>
            <a:ext cx="5581510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3399"/>
                </a:solidFill>
                <a:latin typeface="Source Sans Pro"/>
                <a:rFonts ascii="Source Sans Pro" hAnsi="Source Sans Pro" eastAsia="Source Sans Pro" cs="Source Sans Pro"/>
              </a:rPr>
              <a:t>Building Blocks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276218" y="5700298"/>
            <a:ext cx="266693" cy="25800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76218" y="6115050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9684" y="6115050"/>
            <a:ext cx="38289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Ubiquitous language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defines domain concepts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09684" y="6105525"/>
            <a:ext cx="1809704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6218" y="6553199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09684" y="6553199"/>
            <a:ext cx="40384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Bounded contexts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establish linguistic boundaries 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09684" y="6543675"/>
            <a:ext cx="1581110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6218" y="6991350"/>
            <a:ext cx="125" cy="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399"/>
                </a:solidFill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9684" y="6991350"/>
            <a:ext cx="37146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96" b="1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Domain events</a:t>
            </a:r>
            <a:r>
              <a:rPr sz="1196" b="0">
                <a:solidFill>
                  <a:srgbClr val="555555"/>
                </a:solidFill>
                <a:latin typeface="Source Sans Pro"/>
                <a:rFonts ascii="Source Sans Pro" hAnsi="Source Sans Pro" eastAsia="Source Sans Pro" cs="Source Sans Pro"/>
              </a:rPr>
              <a:t> communicate across contexts 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09684" y="6981824"/>
            <a:ext cx="1333466" cy="276225"/>
          </a:xfrm>
          <a:prstGeom prst="roundRect">
            <a:avLst>
              <a:gd name="adj" fmla="val 27586"/>
            </a:avLst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0" y="7524749"/>
            <a:ext cx="12191695" cy="1771650"/>
          </a:xfrm>
          <a:prstGeom prst="roundRect">
            <a:avLst>
              <a:gd name="adj" fmla="val 8602"/>
            </a:avLst>
          </a:prstGeom>
          <a:solidFill>
            <a:srgbClr val="00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29034" y="7762874"/>
            <a:ext cx="2924101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Value for Volkswagen Projects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67113" y="8201025"/>
            <a:ext cx="3257468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67113" y="8201025"/>
            <a:ext cx="3257468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Automotive Software Excellence 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657608" y="8351463"/>
            <a:ext cx="190495" cy="137272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4952876" y="8629650"/>
            <a:ext cx="2285942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52876" y="8629650"/>
            <a:ext cx="2285942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FFFFFF"/>
                </a:solidFill>
                <a:latin typeface="Source Sans Pro"/>
                <a:rFonts ascii="Source Sans Pro" hAnsi="Source Sans Pro" eastAsia="Source Sans Pro" cs="Source Sans Pro"/>
              </a:rPr>
              <a:t>Faster Development 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143371" y="8770563"/>
            <a:ext cx="190495" cy="137272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0" y="9296400"/>
            <a:ext cx="12191695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0" y="9296400"/>
            <a:ext cx="12191695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Better Decision Making 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90495" y="9424707"/>
            <a:ext cx="190495" cy="162485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0" y="9725025"/>
            <a:ext cx="12048823" cy="428625"/>
          </a:xfrm>
          <a:prstGeom prst="roundRect">
            <a:avLst>
              <a:gd name="adj" fmla="val 88888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0" y="9725025"/>
            <a:ext cx="12048823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333333"/>
                </a:solidFill>
                <a:latin typeface="Source Sans Pro"/>
                <a:rFonts ascii="Source Sans Pro" hAnsi="Source Sans Pro" eastAsia="Source Sans Pro" cs="Source Sans Pro"/>
              </a:rPr>
              <a:t>Cross-Team Collaboration </a:t>
            </a:r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190495" y="9890872"/>
            <a:ext cx="190495" cy="106455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0" y="10153650"/>
            <a:ext cx="12048823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6733" y="10296525"/>
            <a:ext cx="3590835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The CPSA® Advanced Level Module DDD – iSAQB® Training Course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34226" y="10296525"/>
            <a:ext cx="2447863" cy="1714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Source Sans Pro"/>
                <a:rFonts ascii="Source Sans Pro" hAnsi="Source Sans Pro" eastAsia="Source Sans Pro" cs="Source Sans Pro"/>
              </a:rPr>
              <a:t>Volkswagen Group India | 22 December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